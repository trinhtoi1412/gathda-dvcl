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86" r:id="rId2"/>
    <p:sldId id="260" r:id="rId3"/>
    <p:sldId id="261" r:id="rId4"/>
    <p:sldId id="301" r:id="rId5"/>
    <p:sldId id="302" r:id="rId6"/>
    <p:sldId id="303" r:id="rId7"/>
    <p:sldId id="283" r:id="rId8"/>
    <p:sldId id="304" r:id="rId9"/>
    <p:sldId id="305" r:id="rId10"/>
    <p:sldId id="284" r:id="rId11"/>
    <p:sldId id="306" r:id="rId12"/>
    <p:sldId id="307" r:id="rId13"/>
    <p:sldId id="308" r:id="rId14"/>
    <p:sldId id="285" r:id="rId15"/>
    <p:sldId id="309" r:id="rId16"/>
    <p:sldId id="310" r:id="rId17"/>
    <p:sldId id="311" r:id="rId18"/>
    <p:sldId id="312" r:id="rId19"/>
    <p:sldId id="313" r:id="rId20"/>
    <p:sldId id="314" r:id="rId21"/>
    <p:sldId id="315" r:id="rId22"/>
    <p:sldId id="295" r:id="rId23"/>
    <p:sldId id="316" r:id="rId24"/>
    <p:sldId id="317" r:id="rId25"/>
  </p:sldIdLst>
  <p:sldSz cx="12192000" cy="6858000"/>
  <p:notesSz cx="6858000" cy="9144000"/>
  <p:embeddedFontLst>
    <p:embeddedFont>
      <p:font typeface="等线" panose="02010600030101010101" pitchFamily="2" charset="-122"/>
      <p:regular r:id="rId27"/>
      <p:bold r:id="rId28"/>
    </p:embeddedFont>
    <p:embeddedFont>
      <p:font typeface="微软雅黑" panose="020B0503020204020204" pitchFamily="34" charset="-122"/>
      <p:regular r:id="rId29"/>
      <p:bold r:id="rId30"/>
    </p:embeddedFont>
    <p:embeddedFont>
      <p:font typeface="#9Slide03 SVNNeutraface 2" panose="02000600040000020004" pitchFamily="2" charset="0"/>
      <p:bold r:id="rId31"/>
    </p:embeddedFont>
    <p:embeddedFont>
      <p:font typeface="Anton" pitchFamily="2" charset="0"/>
      <p:regular r:id="rId32"/>
    </p:embeddedFont>
    <p:embeddedFont>
      <p:font typeface="Codec Pro" panose="020B0604020202020204" charset="0"/>
      <p:regular r:id="rId33"/>
    </p:embeddedFont>
    <p:embeddedFont>
      <p:font typeface="Codec Pro Bold" panose="020B0604020202020204" charset="0"/>
      <p:regular r:id="rId34"/>
    </p:embeddedFont>
  </p:embeddedFontLst>
  <p:custDataLst>
    <p:tags r:id="rId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1D4251"/>
    <a:srgbClr val="DEB400"/>
    <a:srgbClr val="002060"/>
    <a:srgbClr val="193769"/>
    <a:srgbClr val="F5C700"/>
    <a:srgbClr val="FF9409"/>
    <a:srgbClr val="C7020C"/>
    <a:srgbClr val="C91324"/>
    <a:srgbClr val="162F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86256" autoAdjust="0"/>
  </p:normalViewPr>
  <p:slideViewPr>
    <p:cSldViewPr snapToGrid="0">
      <p:cViewPr>
        <p:scale>
          <a:sx n="75" d="100"/>
          <a:sy n="75" d="100"/>
        </p:scale>
        <p:origin x="1950" y="564"/>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8CD44-19F2-4319-AE0B-2DCC42EEAF6F}" type="datetimeFigureOut">
              <a:rPr lang="zh-CN" altLang="en-US" smtClean="0"/>
              <a:t>2026/5/31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F3982A-5D6B-41A8-A788-697AC8EE34BB}" type="slidenum">
              <a:rPr lang="zh-CN" altLang="en-US" smtClean="0"/>
              <a:t>‹#›</a:t>
            </a:fld>
            <a:endParaRPr lang="zh-CN" altLang="en-US"/>
          </a:p>
        </p:txBody>
      </p:sp>
    </p:spTree>
    <p:extLst>
      <p:ext uri="{BB962C8B-B14F-4D97-AF65-F5344CB8AC3E}">
        <p14:creationId xmlns:p14="http://schemas.microsoft.com/office/powerpoint/2010/main" val="984503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Xin </a:t>
            </a:r>
            <a:r>
              <a:rPr lang="en-US" altLang="zh-CN" err="1"/>
              <a:t>chào</a:t>
            </a:r>
            <a:r>
              <a:rPr lang="en-US" altLang="zh-CN"/>
              <a:t> </a:t>
            </a:r>
            <a:r>
              <a:rPr lang="en-US" altLang="zh-CN" err="1"/>
              <a:t>thầy</a:t>
            </a:r>
            <a:r>
              <a:rPr lang="en-US" altLang="zh-CN"/>
              <a:t> </a:t>
            </a:r>
            <a:r>
              <a:rPr lang="en-US" altLang="zh-CN" err="1"/>
              <a:t>cô</a:t>
            </a:r>
            <a:r>
              <a:rPr lang="en-US" altLang="zh-CN"/>
              <a:t> </a:t>
            </a:r>
            <a:r>
              <a:rPr lang="en-US" altLang="zh-CN" err="1"/>
              <a:t>và</a:t>
            </a:r>
            <a:r>
              <a:rPr lang="en-US" altLang="zh-CN"/>
              <a:t> </a:t>
            </a:r>
            <a:r>
              <a:rPr lang="en-US" altLang="zh-CN" err="1"/>
              <a:t>các</a:t>
            </a:r>
            <a:r>
              <a:rPr lang="en-US" altLang="zh-CN"/>
              <a:t> </a:t>
            </a:r>
            <a:r>
              <a:rPr lang="en-US" altLang="zh-CN" err="1"/>
              <a:t>bạn</a:t>
            </a:r>
            <a:r>
              <a:rPr lang="en-US" altLang="zh-CN"/>
              <a:t>, </a:t>
            </a:r>
            <a:r>
              <a:rPr lang="en-US" altLang="zh-CN" err="1"/>
              <a:t>chào</a:t>
            </a:r>
            <a:r>
              <a:rPr lang="en-US" altLang="zh-CN"/>
              <a:t> </a:t>
            </a:r>
            <a:r>
              <a:rPr lang="en-US" altLang="zh-CN" err="1"/>
              <a:t>mừng</a:t>
            </a:r>
            <a:r>
              <a:rPr lang="en-US" altLang="zh-CN"/>
              <a:t> </a:t>
            </a:r>
            <a:r>
              <a:rPr lang="en-US" altLang="zh-CN" err="1"/>
              <a:t>thầy</a:t>
            </a:r>
            <a:r>
              <a:rPr lang="en-US" altLang="zh-CN"/>
              <a:t> </a:t>
            </a:r>
            <a:r>
              <a:rPr lang="en-US" altLang="zh-CN" err="1"/>
              <a:t>cô</a:t>
            </a:r>
            <a:r>
              <a:rPr lang="en-US" altLang="zh-CN"/>
              <a:t> </a:t>
            </a:r>
            <a:r>
              <a:rPr lang="en-US" altLang="zh-CN" err="1"/>
              <a:t>và</a:t>
            </a:r>
            <a:r>
              <a:rPr lang="en-US" altLang="zh-CN"/>
              <a:t> </a:t>
            </a:r>
            <a:r>
              <a:rPr lang="en-US" altLang="zh-CN" err="1"/>
              <a:t>các</a:t>
            </a:r>
            <a:r>
              <a:rPr lang="en-US" altLang="zh-CN"/>
              <a:t> </a:t>
            </a:r>
            <a:r>
              <a:rPr lang="en-US" altLang="zh-CN" err="1"/>
              <a:t>bạn</a:t>
            </a:r>
            <a:r>
              <a:rPr lang="en-US" altLang="zh-CN"/>
              <a:t> </a:t>
            </a:r>
            <a:r>
              <a:rPr lang="en-US" altLang="zh-CN" err="1"/>
              <a:t>đến</a:t>
            </a:r>
            <a:r>
              <a:rPr lang="en-US" altLang="zh-CN"/>
              <a:t> </a:t>
            </a:r>
            <a:r>
              <a:rPr lang="en-US" altLang="zh-CN" err="1"/>
              <a:t>với</a:t>
            </a:r>
            <a:r>
              <a:rPr lang="en-US" altLang="zh-CN"/>
              <a:t> </a:t>
            </a:r>
            <a:r>
              <a:rPr lang="en-US" altLang="zh-CN" err="1"/>
              <a:t>phần</a:t>
            </a:r>
            <a:r>
              <a:rPr lang="en-US" altLang="zh-CN"/>
              <a:t> </a:t>
            </a:r>
            <a:r>
              <a:rPr lang="en-US" altLang="zh-CN" err="1"/>
              <a:t>bảo</a:t>
            </a:r>
            <a:r>
              <a:rPr lang="en-US" altLang="zh-CN"/>
              <a:t> </a:t>
            </a:r>
            <a:r>
              <a:rPr lang="en-US" altLang="zh-CN" err="1"/>
              <a:t>vệ</a:t>
            </a:r>
            <a:r>
              <a:rPr lang="en-US" altLang="zh-CN"/>
              <a:t> </a:t>
            </a:r>
            <a:r>
              <a:rPr lang="en-US" altLang="zh-CN" err="1"/>
              <a:t>đồ</a:t>
            </a:r>
            <a:r>
              <a:rPr lang="en-US" altLang="zh-CN"/>
              <a:t> </a:t>
            </a:r>
            <a:r>
              <a:rPr lang="en-US" altLang="zh-CN" err="1"/>
              <a:t>án</a:t>
            </a:r>
            <a:r>
              <a:rPr lang="en-US" altLang="zh-CN"/>
              <a:t> </a:t>
            </a:r>
            <a:r>
              <a:rPr lang="en-US" altLang="zh-CN" err="1"/>
              <a:t>tốt</a:t>
            </a:r>
            <a:r>
              <a:rPr lang="en-US" altLang="zh-CN"/>
              <a:t> </a:t>
            </a:r>
            <a:r>
              <a:rPr lang="en-US" altLang="zh-CN" err="1"/>
              <a:t>nghiệp</a:t>
            </a:r>
            <a:r>
              <a:rPr lang="en-US" altLang="zh-CN"/>
              <a:t> </a:t>
            </a:r>
            <a:r>
              <a:rPr lang="en-US" altLang="zh-CN" err="1"/>
              <a:t>của</a:t>
            </a:r>
            <a:r>
              <a:rPr lang="en-US" altLang="zh-CN"/>
              <a:t> </a:t>
            </a:r>
            <a:r>
              <a:rPr lang="en-US" altLang="zh-CN" err="1"/>
              <a:t>em</a:t>
            </a:r>
            <a:r>
              <a:rPr lang="en-US" altLang="zh-CN"/>
              <a:t>. Em </a:t>
            </a:r>
            <a:r>
              <a:rPr lang="en-US" altLang="zh-CN" err="1"/>
              <a:t>là</a:t>
            </a:r>
            <a:r>
              <a:rPr lang="en-US" altLang="zh-CN"/>
              <a:t> Trịnh Sỹ Tới </a:t>
            </a:r>
            <a:r>
              <a:rPr lang="en-US" altLang="zh-CN" err="1"/>
              <a:t>học</a:t>
            </a:r>
            <a:r>
              <a:rPr lang="en-US" altLang="zh-CN"/>
              <a:t> </a:t>
            </a:r>
            <a:r>
              <a:rPr lang="en-US" altLang="zh-CN" err="1"/>
              <a:t>lớp</a:t>
            </a:r>
            <a:r>
              <a:rPr lang="en-US" altLang="zh-CN"/>
              <a:t> CNTT2-k15, </a:t>
            </a:r>
            <a:r>
              <a:rPr lang="en-US" altLang="zh-CN" err="1"/>
              <a:t>sau</a:t>
            </a:r>
            <a:r>
              <a:rPr lang="en-US" altLang="zh-CN"/>
              <a:t> </a:t>
            </a:r>
            <a:r>
              <a:rPr lang="en-US" altLang="zh-CN" err="1"/>
              <a:t>một</a:t>
            </a:r>
            <a:r>
              <a:rPr lang="en-US" altLang="zh-CN"/>
              <a:t> </a:t>
            </a:r>
            <a:r>
              <a:rPr lang="en-US" altLang="zh-CN" err="1"/>
              <a:t>thời</a:t>
            </a:r>
            <a:r>
              <a:rPr lang="en-US" altLang="zh-CN"/>
              <a:t> </a:t>
            </a:r>
            <a:r>
              <a:rPr lang="en-US" altLang="zh-CN" err="1"/>
              <a:t>gian</a:t>
            </a:r>
            <a:r>
              <a:rPr lang="en-US" altLang="zh-CN"/>
              <a:t> </a:t>
            </a:r>
            <a:r>
              <a:rPr lang="en-US" altLang="zh-CN" err="1"/>
              <a:t>được</a:t>
            </a:r>
            <a:r>
              <a:rPr lang="en-US" altLang="zh-CN"/>
              <a:t> </a:t>
            </a:r>
            <a:r>
              <a:rPr lang="en-US" altLang="zh-CN" err="1"/>
              <a:t>thầy</a:t>
            </a:r>
            <a:r>
              <a:rPr lang="en-US" altLang="zh-CN"/>
              <a:t> </a:t>
            </a:r>
            <a:r>
              <a:rPr lang="en-US" altLang="zh-CN" err="1"/>
              <a:t>Nguyễn</a:t>
            </a:r>
            <a:r>
              <a:rPr lang="en-US" altLang="zh-CN"/>
              <a:t> </a:t>
            </a:r>
            <a:r>
              <a:rPr lang="en-US" altLang="zh-CN" err="1"/>
              <a:t>Chiến</a:t>
            </a:r>
            <a:r>
              <a:rPr lang="en-US" altLang="zh-CN"/>
              <a:t> </a:t>
            </a:r>
            <a:r>
              <a:rPr lang="en-US" altLang="zh-CN" err="1"/>
              <a:t>Thắng</a:t>
            </a:r>
            <a:r>
              <a:rPr lang="en-US" altLang="zh-CN"/>
              <a:t> </a:t>
            </a:r>
            <a:r>
              <a:rPr lang="en-US" altLang="zh-CN" err="1"/>
              <a:t>hướng</a:t>
            </a:r>
            <a:r>
              <a:rPr lang="en-US" altLang="zh-CN"/>
              <a:t> </a:t>
            </a:r>
            <a:r>
              <a:rPr lang="en-US" altLang="zh-CN" err="1"/>
              <a:t>dẫn</a:t>
            </a:r>
            <a:r>
              <a:rPr lang="en-US" altLang="zh-CN"/>
              <a:t>, </a:t>
            </a:r>
            <a:r>
              <a:rPr lang="en-US" altLang="zh-CN" err="1"/>
              <a:t>em</a:t>
            </a:r>
            <a:r>
              <a:rPr lang="en-US" altLang="zh-CN"/>
              <a:t> </a:t>
            </a:r>
            <a:r>
              <a:rPr lang="en-US" altLang="zh-CN" err="1"/>
              <a:t>đã</a:t>
            </a:r>
            <a:r>
              <a:rPr lang="en-US" altLang="zh-CN"/>
              <a:t> </a:t>
            </a:r>
            <a:r>
              <a:rPr lang="en-US" altLang="zh-CN" err="1"/>
              <a:t>xây</a:t>
            </a:r>
            <a:r>
              <a:rPr lang="en-US" altLang="zh-CN"/>
              <a:t> </a:t>
            </a:r>
            <a:r>
              <a:rPr lang="en-US" altLang="zh-CN" err="1"/>
              <a:t>dựng</a:t>
            </a:r>
            <a:r>
              <a:rPr lang="en-US" altLang="zh-CN"/>
              <a:t> </a:t>
            </a:r>
            <a:r>
              <a:rPr lang="en-US" altLang="zh-CN" err="1"/>
              <a:t>và</a:t>
            </a:r>
            <a:r>
              <a:rPr lang="en-US" altLang="zh-CN"/>
              <a:t> </a:t>
            </a:r>
            <a:r>
              <a:rPr lang="en-US" altLang="zh-CN" err="1"/>
              <a:t>hoàn</a:t>
            </a:r>
            <a:r>
              <a:rPr lang="en-US" altLang="zh-CN"/>
              <a:t> </a:t>
            </a:r>
            <a:r>
              <a:rPr lang="en-US" altLang="zh-CN" err="1"/>
              <a:t>thiện</a:t>
            </a:r>
            <a:r>
              <a:rPr lang="en-US" altLang="zh-CN"/>
              <a:t> </a:t>
            </a:r>
            <a:r>
              <a:rPr lang="en-US" altLang="zh-CN" err="1"/>
              <a:t>đề</a:t>
            </a:r>
            <a:r>
              <a:rPr lang="en-US" altLang="zh-CN"/>
              <a:t> </a:t>
            </a:r>
            <a:r>
              <a:rPr lang="en-US" altLang="zh-CN" err="1"/>
              <a:t>tài</a:t>
            </a:r>
            <a:r>
              <a:rPr lang="en-US" altLang="zh-CN"/>
              <a:t> … Em </a:t>
            </a:r>
            <a:r>
              <a:rPr lang="en-US" altLang="zh-CN" err="1"/>
              <a:t>xin</a:t>
            </a:r>
            <a:r>
              <a:rPr lang="en-US" altLang="zh-CN"/>
              <a:t> </a:t>
            </a:r>
            <a:r>
              <a:rPr lang="en-US" altLang="zh-CN" err="1"/>
              <a:t>phép</a:t>
            </a:r>
            <a:r>
              <a:rPr lang="en-US" altLang="zh-CN"/>
              <a:t> </a:t>
            </a:r>
            <a:r>
              <a:rPr lang="en-US" altLang="zh-CN" err="1"/>
              <a:t>trình</a:t>
            </a:r>
            <a:r>
              <a:rPr lang="en-US" altLang="zh-CN"/>
              <a:t> </a:t>
            </a:r>
            <a:r>
              <a:rPr lang="en-US" altLang="zh-CN" err="1"/>
              <a:t>bày</a:t>
            </a:r>
            <a:r>
              <a:rPr lang="en-US" altLang="zh-CN"/>
              <a:t> </a:t>
            </a:r>
            <a:r>
              <a:rPr lang="en-US" altLang="zh-CN" err="1"/>
              <a:t>một</a:t>
            </a:r>
            <a:r>
              <a:rPr lang="en-US" altLang="zh-CN"/>
              <a:t> </a:t>
            </a:r>
            <a:r>
              <a:rPr lang="en-US" altLang="zh-CN" err="1"/>
              <a:t>số</a:t>
            </a:r>
            <a:r>
              <a:rPr lang="en-US" altLang="zh-CN"/>
              <a:t> ý </a:t>
            </a:r>
            <a:r>
              <a:rPr lang="en-US" altLang="zh-CN" err="1"/>
              <a:t>chính</a:t>
            </a:r>
            <a:r>
              <a:rPr lang="en-US" altLang="zh-CN"/>
              <a:t> </a:t>
            </a:r>
            <a:r>
              <a:rPr lang="en-US" altLang="zh-CN" err="1"/>
              <a:t>về</a:t>
            </a:r>
            <a:r>
              <a:rPr lang="en-US" altLang="zh-CN"/>
              <a:t> </a:t>
            </a:r>
            <a:r>
              <a:rPr lang="en-US" altLang="zh-CN" err="1"/>
              <a:t>đề</a:t>
            </a:r>
            <a:r>
              <a:rPr lang="en-US" altLang="zh-CN"/>
              <a:t> </a:t>
            </a:r>
            <a:r>
              <a:rPr lang="en-US" altLang="zh-CN" err="1"/>
              <a:t>tài</a:t>
            </a:r>
            <a:r>
              <a:rPr lang="en-US" altLang="zh-CN"/>
              <a:t> </a:t>
            </a:r>
            <a:r>
              <a:rPr lang="en-US" altLang="zh-CN" err="1"/>
              <a:t>của</a:t>
            </a:r>
            <a:r>
              <a:rPr lang="en-US" altLang="zh-CN"/>
              <a:t> </a:t>
            </a:r>
            <a:r>
              <a:rPr lang="en-US" altLang="zh-CN" err="1"/>
              <a:t>mình</a:t>
            </a:r>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1</a:t>
            </a:fld>
            <a:endParaRPr lang="zh-CN" altLang="en-US"/>
          </a:p>
        </p:txBody>
      </p:sp>
    </p:spTree>
    <p:extLst>
      <p:ext uri="{BB962C8B-B14F-4D97-AF65-F5344CB8AC3E}">
        <p14:creationId xmlns:p14="http://schemas.microsoft.com/office/powerpoint/2010/main" val="309137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2</a:t>
            </a:fld>
            <a:endParaRPr lang="zh-CN" altLang="en-US"/>
          </a:p>
        </p:txBody>
      </p:sp>
    </p:spTree>
    <p:extLst>
      <p:ext uri="{BB962C8B-B14F-4D97-AF65-F5344CB8AC3E}">
        <p14:creationId xmlns:p14="http://schemas.microsoft.com/office/powerpoint/2010/main" val="1929034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3</a:t>
            </a:fld>
            <a:endParaRPr lang="zh-CN" altLang="en-US"/>
          </a:p>
        </p:txBody>
      </p:sp>
    </p:spTree>
    <p:extLst>
      <p:ext uri="{BB962C8B-B14F-4D97-AF65-F5344CB8AC3E}">
        <p14:creationId xmlns:p14="http://schemas.microsoft.com/office/powerpoint/2010/main" val="3874949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F17A-C665-5528-6DD2-9124BDB608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4C9796-4614-504B-4885-BA14F2F46C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F9D4BD-667E-0706-B934-4E23A67F7D2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0B44627-ED45-DC8C-DE2C-4EF75DCDFA62}"/>
              </a:ext>
            </a:extLst>
          </p:cNvPr>
          <p:cNvSpPr>
            <a:spLocks noGrp="1"/>
          </p:cNvSpPr>
          <p:nvPr>
            <p:ph type="sldNum" sz="quarter" idx="5"/>
          </p:nvPr>
        </p:nvSpPr>
        <p:spPr/>
        <p:txBody>
          <a:bodyPr/>
          <a:lstStyle/>
          <a:p>
            <a:fld id="{71F3982A-5D6B-41A8-A788-697AC8EE34BB}" type="slidenum">
              <a:rPr lang="zh-CN" altLang="en-US" smtClean="0"/>
              <a:t>4</a:t>
            </a:fld>
            <a:endParaRPr lang="zh-CN" altLang="en-US"/>
          </a:p>
        </p:txBody>
      </p:sp>
    </p:spTree>
    <p:extLst>
      <p:ext uri="{BB962C8B-B14F-4D97-AF65-F5344CB8AC3E}">
        <p14:creationId xmlns:p14="http://schemas.microsoft.com/office/powerpoint/2010/main" val="164951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5BE84-D29B-88D4-272F-F7E96AE98E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89D68C-FC7C-48C3-8ED1-C14AE1730A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6FE6B5-B303-8378-27B7-E905E71DD17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CBBFF6-44C8-6300-D3AE-D10AF99481E6}"/>
              </a:ext>
            </a:extLst>
          </p:cNvPr>
          <p:cNvSpPr>
            <a:spLocks noGrp="1"/>
          </p:cNvSpPr>
          <p:nvPr>
            <p:ph type="sldNum" sz="quarter" idx="5"/>
          </p:nvPr>
        </p:nvSpPr>
        <p:spPr/>
        <p:txBody>
          <a:bodyPr/>
          <a:lstStyle/>
          <a:p>
            <a:fld id="{71F3982A-5D6B-41A8-A788-697AC8EE34BB}" type="slidenum">
              <a:rPr lang="zh-CN" altLang="en-US" smtClean="0"/>
              <a:t>5</a:t>
            </a:fld>
            <a:endParaRPr lang="zh-CN" altLang="en-US"/>
          </a:p>
        </p:txBody>
      </p:sp>
    </p:spTree>
    <p:extLst>
      <p:ext uri="{BB962C8B-B14F-4D97-AF65-F5344CB8AC3E}">
        <p14:creationId xmlns:p14="http://schemas.microsoft.com/office/powerpoint/2010/main" val="1220329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D1FE6-B0BF-5683-ED64-BE28084699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9BD5DED-4B72-82E1-7276-D4719F5AE1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45BBD8-6956-B6C6-A6BB-6CA2907A9DD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7C57553-EC55-23D4-0828-5F9405B1DA31}"/>
              </a:ext>
            </a:extLst>
          </p:cNvPr>
          <p:cNvSpPr>
            <a:spLocks noGrp="1"/>
          </p:cNvSpPr>
          <p:nvPr>
            <p:ph type="sldNum" sz="quarter" idx="5"/>
          </p:nvPr>
        </p:nvSpPr>
        <p:spPr/>
        <p:txBody>
          <a:bodyPr/>
          <a:lstStyle/>
          <a:p>
            <a:fld id="{71F3982A-5D6B-41A8-A788-697AC8EE34BB}" type="slidenum">
              <a:rPr lang="zh-CN" altLang="en-US" smtClean="0"/>
              <a:t>6</a:t>
            </a:fld>
            <a:endParaRPr lang="zh-CN" altLang="en-US"/>
          </a:p>
        </p:txBody>
      </p:sp>
    </p:spTree>
    <p:extLst>
      <p:ext uri="{BB962C8B-B14F-4D97-AF65-F5344CB8AC3E}">
        <p14:creationId xmlns:p14="http://schemas.microsoft.com/office/powerpoint/2010/main" val="1564065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7</a:t>
            </a:fld>
            <a:endParaRPr lang="zh-CN" altLang="en-US"/>
          </a:p>
        </p:txBody>
      </p:sp>
    </p:spTree>
    <p:extLst>
      <p:ext uri="{BB962C8B-B14F-4D97-AF65-F5344CB8AC3E}">
        <p14:creationId xmlns:p14="http://schemas.microsoft.com/office/powerpoint/2010/main" val="4117371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5856D-4907-5BA6-D378-B86500CD7A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CD7FFB-BCC8-A88F-5490-542F9C4D25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C97769-FA35-969D-3724-1EB4583990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2493F7C-C7A2-3664-1733-9439FDDC2877}"/>
              </a:ext>
            </a:extLst>
          </p:cNvPr>
          <p:cNvSpPr>
            <a:spLocks noGrp="1"/>
          </p:cNvSpPr>
          <p:nvPr>
            <p:ph type="sldNum" sz="quarter" idx="5"/>
          </p:nvPr>
        </p:nvSpPr>
        <p:spPr/>
        <p:txBody>
          <a:bodyPr/>
          <a:lstStyle/>
          <a:p>
            <a:fld id="{71F3982A-5D6B-41A8-A788-697AC8EE34BB}" type="slidenum">
              <a:rPr lang="zh-CN" altLang="en-US" smtClean="0"/>
              <a:t>8</a:t>
            </a:fld>
            <a:endParaRPr lang="zh-CN" altLang="en-US"/>
          </a:p>
        </p:txBody>
      </p:sp>
    </p:spTree>
    <p:extLst>
      <p:ext uri="{BB962C8B-B14F-4D97-AF65-F5344CB8AC3E}">
        <p14:creationId xmlns:p14="http://schemas.microsoft.com/office/powerpoint/2010/main" val="1724484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5629-9C74-538A-A294-5B83314CDB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2D4150B-EEE8-7EF4-E0C9-0753311A36C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02AB5C-7438-22BC-4E1B-0CF53383BB72}"/>
              </a:ext>
            </a:extLst>
          </p:cNvPr>
          <p:cNvSpPr>
            <a:spLocks noGrp="1"/>
          </p:cNvSpPr>
          <p:nvPr>
            <p:ph type="body" idx="1"/>
          </p:nvPr>
        </p:nvSpPr>
        <p:spPr/>
        <p:txBody>
          <a:bodyPr/>
          <a:lstStyle/>
          <a:p>
            <a:r>
              <a:rPr lang="vi-VN"/>
              <a:t>Các mô hình đa góc nhìn hiện tại như iCAM-Net thường xử lý các luồng thông tin cấu trúc tương tác và thông tin tương đồng ngữ nghĩa một cách độc lập thông qua các kênh song song. Việc thiếu đi một cơ chế ràng buộc trực tiếp ở cấp độ không gian ẩn khiến mô hình không thể đảm bảo rằng biểu diễn của cùng một thực thể (thảo dược hoặc bệnh) được học từ các góc nhìn khác nhau sẽ hội tụ và nhất quán về mặt ngữ nghĩa sinh học.</a:t>
            </a:r>
            <a:endParaRPr lang="en-US"/>
          </a:p>
          <a:p>
            <a:r>
              <a:rPr lang="vi-VN"/>
              <a:t>Khi tiến hành hợp nhất (fusion) các luồng biểu diễn đa góc nhìn, các kiến trúc hiện tại phần lớn vẫn dựa vào các phép toán gộp tuyến tính hoặc cơ chế chú ý tĩnh trên toàn hệ thống mạng. Cách tiếp cận này bỏ qua tính không đồng nhất của dữ liệu y sinh, nơi mỗi thực thể (nút) có cấu trúc liên kết hoàn toàn khác nhau.</a:t>
            </a:r>
            <a:endParaRPr lang="en-US"/>
          </a:p>
          <a:p>
            <a:r>
              <a:rPr lang="vi-VN"/>
              <a:t>Trong mạng lưới HDA, số lượng liên kết chưa quan sát được (mẫu âm tính giả định) lớn hơn gấp nhiều lần số lượng tương tác dương tính đã biết. Các phương pháp hiện tại chủ yếu tối ưu hóa thông qua hàm mất mát phân loại nhị phân (BCE Loss) thông thường.</a:t>
            </a:r>
            <a:endParaRPr lang="zh-CN" altLang="en-US"/>
          </a:p>
        </p:txBody>
      </p:sp>
      <p:sp>
        <p:nvSpPr>
          <p:cNvPr id="4" name="灯片编号占位符 3">
            <a:extLst>
              <a:ext uri="{FF2B5EF4-FFF2-40B4-BE49-F238E27FC236}">
                <a16:creationId xmlns:a16="http://schemas.microsoft.com/office/drawing/2014/main" id="{5604BEA8-4FFD-98B8-ECAB-AF091AA89E5E}"/>
              </a:ext>
            </a:extLst>
          </p:cNvPr>
          <p:cNvSpPr>
            <a:spLocks noGrp="1"/>
          </p:cNvSpPr>
          <p:nvPr>
            <p:ph type="sldNum" sz="quarter" idx="5"/>
          </p:nvPr>
        </p:nvSpPr>
        <p:spPr/>
        <p:txBody>
          <a:bodyPr/>
          <a:lstStyle/>
          <a:p>
            <a:fld id="{71F3982A-5D6B-41A8-A788-697AC8EE34BB}" type="slidenum">
              <a:rPr lang="zh-CN" altLang="en-US" smtClean="0"/>
              <a:t>9</a:t>
            </a:fld>
            <a:endParaRPr lang="zh-CN" altLang="en-US"/>
          </a:p>
        </p:txBody>
      </p:sp>
    </p:spTree>
    <p:extLst>
      <p:ext uri="{BB962C8B-B14F-4D97-AF65-F5344CB8AC3E}">
        <p14:creationId xmlns:p14="http://schemas.microsoft.com/office/powerpoint/2010/main" val="466045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10</a:t>
            </a:fld>
            <a:endParaRPr lang="zh-CN" altLang="en-US"/>
          </a:p>
        </p:txBody>
      </p:sp>
    </p:spTree>
    <p:extLst>
      <p:ext uri="{BB962C8B-B14F-4D97-AF65-F5344CB8AC3E}">
        <p14:creationId xmlns:p14="http://schemas.microsoft.com/office/powerpoint/2010/main" val="3895851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04B3-7055-4FA6-AFE4-E49A0C45CC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80BBCC-7B6B-9749-D687-8140255F184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C472B1-FDCC-245B-529F-C0A90B636EA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2F30EE5-EA07-96FD-895C-7AC8F5C6715B}"/>
              </a:ext>
            </a:extLst>
          </p:cNvPr>
          <p:cNvSpPr>
            <a:spLocks noGrp="1"/>
          </p:cNvSpPr>
          <p:nvPr>
            <p:ph type="sldNum" sz="quarter" idx="5"/>
          </p:nvPr>
        </p:nvSpPr>
        <p:spPr/>
        <p:txBody>
          <a:bodyPr/>
          <a:lstStyle/>
          <a:p>
            <a:fld id="{71F3982A-5D6B-41A8-A788-697AC8EE34BB}" type="slidenum">
              <a:rPr lang="zh-CN" altLang="en-US" smtClean="0"/>
              <a:t>11</a:t>
            </a:fld>
            <a:endParaRPr lang="zh-CN" altLang="en-US"/>
          </a:p>
        </p:txBody>
      </p:sp>
    </p:spTree>
    <p:extLst>
      <p:ext uri="{BB962C8B-B14F-4D97-AF65-F5344CB8AC3E}">
        <p14:creationId xmlns:p14="http://schemas.microsoft.com/office/powerpoint/2010/main" val="15177767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86EF5-934B-46B1-F871-EEBA953EC5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E4070A-F69D-FBD8-174B-DC59795F0E7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3EFCF2-D09A-AA73-D87B-977C84C46159}"/>
              </a:ext>
            </a:extLst>
          </p:cNvPr>
          <p:cNvSpPr>
            <a:spLocks noGrp="1"/>
          </p:cNvSpPr>
          <p:nvPr>
            <p:ph type="body" idx="1"/>
          </p:nvPr>
        </p:nvSpPr>
        <p:spPr/>
        <p:txBody>
          <a:bodyPr/>
          <a:lstStyle/>
          <a:p>
            <a:r>
              <a:rPr lang="en-US"/>
              <a:t>11tr phần tử</a:t>
            </a:r>
          </a:p>
          <a:p>
            <a:r>
              <a:rPr lang="vi-VN"/>
              <a:t>Bộ dữ liệu của bạn nằm ở ranh giới giữa thưa và dày, chính xác nhất nên gọi là </a:t>
            </a:r>
            <a:r>
              <a:rPr lang="vi-VN" b="1"/>
              <a:t>bán thưa (semi-sparse)</a:t>
            </a:r>
            <a:r>
              <a:rPr lang="vi-VN"/>
              <a:t>. Việc lưu nó dưới dạng </a:t>
            </a:r>
            <a:r>
              <a:rPr lang="vi-VN" sz="1200" kern="1200">
                <a:solidFill>
                  <a:schemeClr val="tx1"/>
                </a:solidFill>
                <a:latin typeface="+mn-lt"/>
                <a:ea typeface="+mn-ea"/>
                <a:cs typeface="+mn-cs"/>
              </a:rPr>
              <a:t>.npz</a:t>
            </a:r>
            <a:r>
              <a:rPr lang="vi-VN"/>
              <a:t> (ma trận thưa) chủ yếu là để tối ưu hóa việc truyền tải file hoặc do thư viện code yêu cầu đầu vào là định dạng thưa, chứ về mặt bản chất thông tin, đây là một bộ dữ liệu rất "giàu" và khăng khít.</a:t>
            </a:r>
            <a:endParaRPr lang="zh-CN" altLang="en-US"/>
          </a:p>
        </p:txBody>
      </p:sp>
      <p:sp>
        <p:nvSpPr>
          <p:cNvPr id="4" name="灯片编号占位符 3">
            <a:extLst>
              <a:ext uri="{FF2B5EF4-FFF2-40B4-BE49-F238E27FC236}">
                <a16:creationId xmlns:a16="http://schemas.microsoft.com/office/drawing/2014/main" id="{8BD9B0E5-2AA5-0989-EE8D-99D81FBEFED4}"/>
              </a:ext>
            </a:extLst>
          </p:cNvPr>
          <p:cNvSpPr>
            <a:spLocks noGrp="1"/>
          </p:cNvSpPr>
          <p:nvPr>
            <p:ph type="sldNum" sz="quarter" idx="5"/>
          </p:nvPr>
        </p:nvSpPr>
        <p:spPr/>
        <p:txBody>
          <a:bodyPr/>
          <a:lstStyle/>
          <a:p>
            <a:fld id="{71F3982A-5D6B-41A8-A788-697AC8EE34BB}" type="slidenum">
              <a:rPr lang="zh-CN" altLang="en-US" smtClean="0"/>
              <a:t>12</a:t>
            </a:fld>
            <a:endParaRPr lang="zh-CN" altLang="en-US"/>
          </a:p>
        </p:txBody>
      </p:sp>
    </p:spTree>
    <p:extLst>
      <p:ext uri="{BB962C8B-B14F-4D97-AF65-F5344CB8AC3E}">
        <p14:creationId xmlns:p14="http://schemas.microsoft.com/office/powerpoint/2010/main" val="332013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0E5CB-1D4D-514E-374D-97672EC0BA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53EDA3-7404-8BE8-EDC3-9D867AC613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1D497C-2E27-5CD5-440F-9A5B14AA5F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Giai đoạn 1: Xây dựng Đồ thị đa góc nhìn</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Đồ thị quan hệ Thảo dược – Bệnh (Topology View): Được xây dựng từ các tương tác đã biết giữa thảo dược và bệnh, phản ánh trực tiếp cấu trúc liên kết trong dữ liệu. Đồ thị này giúp mô hình nắm bắt được thông tin về topology, tức là cách các thực thể được kết nối với nhau trong mạng lưới.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Đồ thị tương tự (Semantic View): Được xây dựng dựa trên hồ sơ sinh học của các thực thể, kết hợp với độ tương đồng GIP (Gaussian Interaction Profile). Mục tiêu của đồ thị này là khai thác các mối quan hệ tiềm ẩn giữa các thảo dược hoặc giữa các bệnh, ngay cả khi chúng chưa có liên kết trực tiếp trong dữ liệu ban đầu. </a:t>
            </a:r>
            <a:endParaRPr lang="en-US" sz="1200" kern="1200">
              <a:solidFill>
                <a:schemeClr val="tx1"/>
              </a:solidFill>
              <a:effectLst/>
              <a:latin typeface="+mn-lt"/>
              <a:ea typeface="+mn-ea"/>
              <a:cs typeface="+mn-cs"/>
            </a:endParaRPr>
          </a:p>
          <a:p>
            <a:r>
              <a:rPr lang="vi-VN" sz="1200" b="1" kern="1200">
                <a:solidFill>
                  <a:schemeClr val="tx1"/>
                </a:solidFill>
                <a:effectLst/>
                <a:latin typeface="+mn-lt"/>
                <a:ea typeface="+mn-ea"/>
                <a:cs typeface="+mn-cs"/>
              </a:rPr>
              <a:t>Giai đoạn 2: Học biểu diễn đặc trưng với hai mạng chú ý đồ thị (Encoding with Dual GAT)</a:t>
            </a:r>
            <a:endParaRPr lang="en-US" sz="1200" b="1"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GAT cho Topology View: Mạng này tập trung khai thác thông tin từ cấu trúc liên kết của đồ thị tương tác, giúp học được các đặc trưng liên quan đến mối quan hệ trực tiếp giữa các thực thể.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GAT cho Semantic View: Mạng này xử lý đồ thị tương tự, nhằm trích xuất các đặc trưng phản ánh sự tương đồng về mặt sinh học hoặc chức năng giữa các thực thể. </a:t>
            </a: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kern="1200">
                <a:solidFill>
                  <a:schemeClr val="tx1"/>
                </a:solidFill>
                <a:effectLst/>
                <a:latin typeface="+mn-lt"/>
                <a:ea typeface="+mn-ea"/>
                <a:cs typeface="+mn-cs"/>
              </a:rPr>
              <a:t>Giai đoạn 3: So sánh đối lập và Hợp nhất</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Contrastive Learning: Áp dụng cơ chế học tương phản giữa hai không gian biểu diễn (Topology và Semantic) nhằm đảm bảo rằng các biểu diễn của cùng một thực thể trong hai góc nhìn sẽ gần nhau trong không gian vector, trong khi các thực thể khác biệt sẽ được tách xa. Cách tiếp cận này giúp mô hình học được các đặc trưng bền vững, đồng thời giảm ảnh hưởng của nhiễu và dữ liệu thiếu.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Feature Fusion với Fused Attention: Sau khi tối ưu hóa, hai luồng biểu diễn được hợp nhất thông qua cơ chế attention thích nghi. Thay vì sử dụng các phép toán đơn giản như cộng hoặc nối vector, cơ chế này học cách gán trọng số phù hợp cho từng góc nhìn đối với mỗi thực thể, từ đó tạo ra một vector đặc trưng hợp nhất mang tính cô đọng và giàu thông tin hơn.</a:t>
            </a: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b="1" kern="1200">
                <a:solidFill>
                  <a:schemeClr val="tx1"/>
                </a:solidFill>
                <a:effectLst/>
                <a:latin typeface="+mn-lt"/>
                <a:ea typeface="+mn-ea"/>
                <a:cs typeface="+mn-cs"/>
              </a:rPr>
              <a:t>Giai đoạn 4: Dự đoán và Tối ưu hóa (Prediction &amp; Optimization)</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Dự đoán liên kết: Xác suất tồn tại mối quan hệ giữa thảo dược và bệnh được tính toán dựa trên các vector embedding đã được hợp nhất, thường thông qua phép nhân vô hướng (dot product) kết hợp với hàm sigmoid để đưa ra xác suất.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Huấn luyện và tối ưu hóa: Mô hình được huấn luyện bằng cách tối ưu hóa một hàm mất mát tổng hợp, bao gồm: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Binary Cross-Entropy Loss (BCE) cho nhiệm vụ dự đoán liên kết </a:t>
            </a:r>
            <a:endParaRPr lang="en-US" sz="1200" kern="1200">
              <a:solidFill>
                <a:schemeClr val="tx1"/>
              </a:solidFill>
              <a:effectLst/>
              <a:latin typeface="+mn-lt"/>
              <a:ea typeface="+mn-ea"/>
              <a:cs typeface="+mn-cs"/>
            </a:endParaRPr>
          </a:p>
          <a:p>
            <a:pPr lvl="0"/>
            <a:r>
              <a:rPr lang="vi-VN" sz="1200" kern="1200">
                <a:solidFill>
                  <a:schemeClr val="tx1"/>
                </a:solidFill>
                <a:effectLst/>
                <a:latin typeface="+mn-lt"/>
                <a:ea typeface="+mn-ea"/>
                <a:cs typeface="+mn-cs"/>
              </a:rPr>
              <a:t>Contrastive Loss nhằm duy trì sự nhất quán giữa các góc nhìn và nâng cao chất lượng biểu diễn </a:t>
            </a:r>
            <a:endParaRPr lang="en-US" sz="1200" kern="1200">
              <a:solidFill>
                <a:schemeClr val="tx1"/>
              </a:solidFill>
              <a:effectLst/>
              <a:latin typeface="+mn-lt"/>
              <a:ea typeface="+mn-ea"/>
              <a:cs typeface="+mn-cs"/>
            </a:endParaRPr>
          </a:p>
          <a:p>
            <a:endParaRPr lang="zh-CN" altLang="en-US"/>
          </a:p>
        </p:txBody>
      </p:sp>
      <p:sp>
        <p:nvSpPr>
          <p:cNvPr id="4" name="灯片编号占位符 3">
            <a:extLst>
              <a:ext uri="{FF2B5EF4-FFF2-40B4-BE49-F238E27FC236}">
                <a16:creationId xmlns:a16="http://schemas.microsoft.com/office/drawing/2014/main" id="{35AE586B-0F68-D0EE-CA39-7DEAB4569C71}"/>
              </a:ext>
            </a:extLst>
          </p:cNvPr>
          <p:cNvSpPr>
            <a:spLocks noGrp="1"/>
          </p:cNvSpPr>
          <p:nvPr>
            <p:ph type="sldNum" sz="quarter" idx="5"/>
          </p:nvPr>
        </p:nvSpPr>
        <p:spPr/>
        <p:txBody>
          <a:bodyPr/>
          <a:lstStyle/>
          <a:p>
            <a:fld id="{71F3982A-5D6B-41A8-A788-697AC8EE34BB}" type="slidenum">
              <a:rPr lang="zh-CN" altLang="en-US" smtClean="0"/>
              <a:t>13</a:t>
            </a:fld>
            <a:endParaRPr lang="zh-CN" altLang="en-US"/>
          </a:p>
        </p:txBody>
      </p:sp>
    </p:spTree>
    <p:extLst>
      <p:ext uri="{BB962C8B-B14F-4D97-AF65-F5344CB8AC3E}">
        <p14:creationId xmlns:p14="http://schemas.microsoft.com/office/powerpoint/2010/main" val="1938457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14</a:t>
            </a:fld>
            <a:endParaRPr lang="zh-CN" altLang="en-US"/>
          </a:p>
        </p:txBody>
      </p:sp>
    </p:spTree>
    <p:extLst>
      <p:ext uri="{BB962C8B-B14F-4D97-AF65-F5344CB8AC3E}">
        <p14:creationId xmlns:p14="http://schemas.microsoft.com/office/powerpoint/2010/main" val="32032316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C714-AED9-2994-C3FD-588415A75C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D00A1A-1A7B-8744-7F0E-40FAC025F1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F10290-30AA-5F61-0409-924D06EF115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9BE0C3E-96DD-CD46-4D25-D16922EFED20}"/>
              </a:ext>
            </a:extLst>
          </p:cNvPr>
          <p:cNvSpPr>
            <a:spLocks noGrp="1"/>
          </p:cNvSpPr>
          <p:nvPr>
            <p:ph type="sldNum" sz="quarter" idx="5"/>
          </p:nvPr>
        </p:nvSpPr>
        <p:spPr/>
        <p:txBody>
          <a:bodyPr/>
          <a:lstStyle/>
          <a:p>
            <a:fld id="{71F3982A-5D6B-41A8-A788-697AC8EE34BB}" type="slidenum">
              <a:rPr lang="zh-CN" altLang="en-US" smtClean="0"/>
              <a:t>15</a:t>
            </a:fld>
            <a:endParaRPr lang="zh-CN" altLang="en-US"/>
          </a:p>
        </p:txBody>
      </p:sp>
    </p:spTree>
    <p:extLst>
      <p:ext uri="{BB962C8B-B14F-4D97-AF65-F5344CB8AC3E}">
        <p14:creationId xmlns:p14="http://schemas.microsoft.com/office/powerpoint/2010/main" val="329008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F75E-78B2-D9AA-6942-F9991288DD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E496F0-257D-1950-83BE-AAAC08224F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77BBD4-9F83-BC15-E04B-29A0D2AF693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32F4BB5-36AC-A174-87F3-86FDD3871817}"/>
              </a:ext>
            </a:extLst>
          </p:cNvPr>
          <p:cNvSpPr>
            <a:spLocks noGrp="1"/>
          </p:cNvSpPr>
          <p:nvPr>
            <p:ph type="sldNum" sz="quarter" idx="5"/>
          </p:nvPr>
        </p:nvSpPr>
        <p:spPr/>
        <p:txBody>
          <a:bodyPr/>
          <a:lstStyle/>
          <a:p>
            <a:fld id="{71F3982A-5D6B-41A8-A788-697AC8EE34BB}" type="slidenum">
              <a:rPr lang="zh-CN" altLang="en-US" smtClean="0"/>
              <a:t>16</a:t>
            </a:fld>
            <a:endParaRPr lang="zh-CN" altLang="en-US"/>
          </a:p>
        </p:txBody>
      </p:sp>
    </p:spTree>
    <p:extLst>
      <p:ext uri="{BB962C8B-B14F-4D97-AF65-F5344CB8AC3E}">
        <p14:creationId xmlns:p14="http://schemas.microsoft.com/office/powerpoint/2010/main" val="42839384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6B449-8DDD-531D-9DB0-7E8CCF22A2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DB74C6-C3A9-1EA4-D2DF-DA222E2197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3EDE85-1A40-25BF-9236-42704A988337}"/>
              </a:ext>
            </a:extLst>
          </p:cNvPr>
          <p:cNvSpPr>
            <a:spLocks noGrp="1"/>
          </p:cNvSpPr>
          <p:nvPr>
            <p:ph type="body" idx="1"/>
          </p:nvPr>
        </p:nvSpPr>
        <p:spPr/>
        <p:txBody>
          <a:bodyPr/>
          <a:lstStyle/>
          <a:p>
            <a:r>
              <a:rPr lang="en-US" sz="1200" kern="1200">
                <a:solidFill>
                  <a:schemeClr val="tx1"/>
                </a:solidFill>
                <a:effectLst/>
                <a:latin typeface="+mn-lt"/>
                <a:ea typeface="+mn-ea"/>
                <a:cs typeface="+mn-cs"/>
              </a:rPr>
              <a:t>Trước hết, đối với đường cong PR, giá trị diện tích dưới đường cong (AUPR = 0,9739) đạt mức rất cao, cho thấy mô hình có khả năng duy trì độ chính xác (precision) ổn định ngay cả khi mức độ bao phủ (recall) tăng lên.</a:t>
            </a:r>
          </a:p>
          <a:p>
            <a:endParaRPr lang="en-US" altLang="zh-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Bên cạnh đó, đường cong ROC với giá trị AUC = 0,9741 cũng củng cố thêm nhận định về năng lực phân biệt mạnh mẽ của mô hình giữa các cặp dương tính và âm tính. Chỉ số AUC gần 1 cho thấy mô hình có xác suất cao trong việc xếp hạng đúng các cặp tương tác thực sự so với các cặp không tồn tại tương tác, điều này phù hợp với các nghiên cứu trước đây trong học biểu diễn đồ thị và dự đoán liên kết </a:t>
            </a:r>
            <a:endParaRPr lang="zh-CN" altLang="en-US"/>
          </a:p>
        </p:txBody>
      </p:sp>
      <p:sp>
        <p:nvSpPr>
          <p:cNvPr id="4" name="灯片编号占位符 3">
            <a:extLst>
              <a:ext uri="{FF2B5EF4-FFF2-40B4-BE49-F238E27FC236}">
                <a16:creationId xmlns:a16="http://schemas.microsoft.com/office/drawing/2014/main" id="{14D5B98C-7529-D60F-597D-B2312BACBA9C}"/>
              </a:ext>
            </a:extLst>
          </p:cNvPr>
          <p:cNvSpPr>
            <a:spLocks noGrp="1"/>
          </p:cNvSpPr>
          <p:nvPr>
            <p:ph type="sldNum" sz="quarter" idx="5"/>
          </p:nvPr>
        </p:nvSpPr>
        <p:spPr/>
        <p:txBody>
          <a:bodyPr/>
          <a:lstStyle/>
          <a:p>
            <a:fld id="{71F3982A-5D6B-41A8-A788-697AC8EE34BB}" type="slidenum">
              <a:rPr lang="zh-CN" altLang="en-US" smtClean="0"/>
              <a:t>17</a:t>
            </a:fld>
            <a:endParaRPr lang="zh-CN" altLang="en-US"/>
          </a:p>
        </p:txBody>
      </p:sp>
    </p:spTree>
    <p:extLst>
      <p:ext uri="{BB962C8B-B14F-4D97-AF65-F5344CB8AC3E}">
        <p14:creationId xmlns:p14="http://schemas.microsoft.com/office/powerpoint/2010/main" val="2125270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625E4-AC29-5117-A2B2-0296D1178F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917D2B-3E23-751F-AF7B-6A989554B0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53BB45-8173-C1C6-CDE6-24445ACB5F9C}"/>
              </a:ext>
            </a:extLst>
          </p:cNvPr>
          <p:cNvSpPr>
            <a:spLocks noGrp="1"/>
          </p:cNvSpPr>
          <p:nvPr>
            <p:ph type="body" idx="1"/>
          </p:nvPr>
        </p:nvSpPr>
        <p:spPr/>
        <p:txBody>
          <a:bodyPr/>
          <a:lstStyle/>
          <a:p>
            <a:r>
              <a:rPr lang="en-US" sz="1200" kern="1200">
                <a:solidFill>
                  <a:schemeClr val="tx1"/>
                </a:solidFill>
                <a:effectLst/>
                <a:latin typeface="+mn-lt"/>
                <a:ea typeface="+mn-ea"/>
                <a:cs typeface="+mn-cs"/>
              </a:rPr>
              <a:t>Thứ nhất, việc bổ sung đồ thị tương tự GIP (Extra only) cải thiện AUPR thêm 1,69 điểm phần trăm so với Baseline, cho thấy thông tin tương đồng sinh học bổ sung đáng kể cho thông tin tương tác trực tiếp.</a:t>
            </a:r>
          </a:p>
          <a:p>
            <a:endParaRPr lang="en-US" altLang="zh-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Thứ hai, dual-view contrastive learning (Dual-view only) mang lại bước nhảy lớn nhất với AUPR đạt 0,9624, tức tăng 2,61 điểm phần trăm so với Extra only và 4,30 điểm phần trăm so với Baseline. Điều này chứng tỏ việc ép hai biểu diễn từ hai đồ thị nhất quán với nhau giúp cải thiện đáng kể chất lượng embedding</a:t>
            </a:r>
          </a:p>
          <a:p>
            <a:endParaRPr lang="en-US" altLang="zh-CN"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Thứ ba, cơ chế fused attention (Attention only) đạt AUPR = 0,9603, thấp hơn Dual-view only, nhưng khi kết hợp cả hai trong Full proposed, mô hình đạt kết quả cao nhất AUPR = 0,9739, tăng 5,45 điểm phần trăm so với Baseline. </a:t>
            </a:r>
            <a:endParaRPr lang="zh-CN" altLang="en-US"/>
          </a:p>
        </p:txBody>
      </p:sp>
      <p:sp>
        <p:nvSpPr>
          <p:cNvPr id="4" name="灯片编号占位符 3">
            <a:extLst>
              <a:ext uri="{FF2B5EF4-FFF2-40B4-BE49-F238E27FC236}">
                <a16:creationId xmlns:a16="http://schemas.microsoft.com/office/drawing/2014/main" id="{45D4B94D-1876-4CFB-227F-C7845C071AE1}"/>
              </a:ext>
            </a:extLst>
          </p:cNvPr>
          <p:cNvSpPr>
            <a:spLocks noGrp="1"/>
          </p:cNvSpPr>
          <p:nvPr>
            <p:ph type="sldNum" sz="quarter" idx="5"/>
          </p:nvPr>
        </p:nvSpPr>
        <p:spPr/>
        <p:txBody>
          <a:bodyPr/>
          <a:lstStyle/>
          <a:p>
            <a:fld id="{71F3982A-5D6B-41A8-A788-697AC8EE34BB}" type="slidenum">
              <a:rPr lang="zh-CN" altLang="en-US" smtClean="0"/>
              <a:t>18</a:t>
            </a:fld>
            <a:endParaRPr lang="zh-CN" altLang="en-US"/>
          </a:p>
        </p:txBody>
      </p:sp>
    </p:spTree>
    <p:extLst>
      <p:ext uri="{BB962C8B-B14F-4D97-AF65-F5344CB8AC3E}">
        <p14:creationId xmlns:p14="http://schemas.microsoft.com/office/powerpoint/2010/main" val="2656364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8415-A1CE-65BD-44A4-37A23E3AC0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6D49E8-AA25-9393-05B7-D38794EB38F9}"/>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3B879CC6-47A1-A8D4-CD00-F76443C9CB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Tóm lại, quá trình tuning đã xác định được cấu hình tối ưu với </a:t>
                </a:r>
                <a14:m>
                  <m:oMath xmlns:m="http://schemas.openxmlformats.org/officeDocument/2006/math">
                    <m:r>
                      <a:rPr lang="en-US" sz="1200" i="1" kern="1200">
                        <a:solidFill>
                          <a:schemeClr val="tx1"/>
                        </a:solidFill>
                        <a:effectLst/>
                        <a:latin typeface="+mn-lt"/>
                        <a:ea typeface="+mn-ea"/>
                        <a:cs typeface="+mn-cs"/>
                      </a:rPr>
                      <m:t>𝑘</m:t>
                    </m:r>
                    <m:r>
                      <a:rPr lang="en-US" sz="1200" i="1" kern="1200">
                        <a:solidFill>
                          <a:schemeClr val="tx1"/>
                        </a:solidFill>
                        <a:effectLst/>
                        <a:latin typeface="+mn-lt"/>
                        <a:ea typeface="+mn-ea"/>
                        <a:cs typeface="+mn-cs"/>
                      </a:rPr>
                      <m:t>=20</m:t>
                    </m:r>
                  </m:oMath>
                </a14:m>
                <a:r>
                  <a:rPr lang="en-US" sz="1200" kern="1200">
                    <a:solidFill>
                      <a:schemeClr val="tx1"/>
                    </a:solidFill>
                    <a:effectLst/>
                    <a:latin typeface="+mn-lt"/>
                    <a:ea typeface="+mn-ea"/>
                    <a:cs typeface="+mn-cs"/>
                  </a:rPr>
                  <a:t> và </a:t>
                </a:r>
                <a14:m>
                  <m:oMath xmlns:m="http://schemas.openxmlformats.org/officeDocument/2006/math">
                    <m:sSub>
                      <m:sSubPr>
                        <m:ctrlPr>
                          <a:rPr lang="en-US" sz="1200" i="1" kern="1200">
                            <a:solidFill>
                              <a:schemeClr val="tx1"/>
                            </a:solidFill>
                            <a:effectLst/>
                            <a:latin typeface="+mn-lt"/>
                            <a:ea typeface="+mn-ea"/>
                            <a:cs typeface="+mn-cs"/>
                          </a:rPr>
                        </m:ctrlPr>
                      </m:sSubPr>
                      <m:e>
                        <m:r>
                          <a:rPr lang="en-US" sz="1200" i="1" kern="1200">
                            <a:solidFill>
                              <a:schemeClr val="tx1"/>
                            </a:solidFill>
                            <a:effectLst/>
                            <a:latin typeface="+mn-lt"/>
                            <a:ea typeface="+mn-ea"/>
                            <a:cs typeface="+mn-cs"/>
                          </a:rPr>
                          <m:t>𝜆</m:t>
                        </m:r>
                      </m:e>
                      <m:sub>
                        <m:r>
                          <a:rPr lang="en-US" sz="1200" i="1" kern="1200">
                            <a:solidFill>
                              <a:schemeClr val="tx1"/>
                            </a:solidFill>
                            <a:effectLst/>
                            <a:latin typeface="+mn-lt"/>
                            <a:ea typeface="+mn-ea"/>
                            <a:cs typeface="+mn-cs"/>
                          </a:rPr>
                          <m:t>𝑐</m:t>
                        </m:r>
                      </m:sub>
                    </m:sSub>
                    <m:r>
                      <a:rPr lang="en-US" sz="1200" i="1" kern="1200">
                        <a:solidFill>
                          <a:schemeClr val="tx1"/>
                        </a:solidFill>
                        <a:effectLst/>
                        <a:latin typeface="+mn-lt"/>
                        <a:ea typeface="+mn-ea"/>
                        <a:cs typeface="+mn-cs"/>
                      </a:rPr>
                      <m:t>=</m:t>
                    </m:r>
                    <m:r>
                      <a:rPr lang="en-US" sz="1200" kern="1200">
                        <a:solidFill>
                          <a:schemeClr val="tx1"/>
                        </a:solidFill>
                        <a:effectLst/>
                        <a:latin typeface="+mn-lt"/>
                        <a:ea typeface="+mn-ea"/>
                        <a:cs typeface="+mn-cs"/>
                      </a:rPr>
                      <m:t>0,08</m:t>
                    </m:r>
                  </m:oMath>
                </a14:m>
                <a:r>
                  <a:rPr lang="en-US" sz="1200" kern="1200">
                    <a:solidFill>
                      <a:schemeClr val="tx1"/>
                    </a:solidFill>
                    <a:effectLst/>
                    <a:latin typeface="+mn-lt"/>
                    <a:ea typeface="+mn-ea"/>
                    <a:cs typeface="+mn-cs"/>
                  </a:rPr>
                  <a:t>, cho phép mô hình đạt được sự cân bằng tốt giữa khai thác thông tin cấu trúc đồ thị và học biểu diễn phân biệt. Kết quả này không chỉ cải thiện hiệu năng dự đoán mà còn cung cấp thêm bằng chứng thực nghiệm về vai trò của từng siêu tham số trong mô hình, góp phần hoàn thiện thiết kế kiến trúc tổng thể.</a:t>
                </a:r>
              </a:p>
              <a:p>
                <a:endParaRPr lang="zh-CN" altLang="en-US"/>
              </a:p>
            </p:txBody>
          </p:sp>
        </mc:Choice>
        <mc:Fallback>
          <p:sp>
            <p:nvSpPr>
              <p:cNvPr id="3" name="备注占位符 2">
                <a:extLst>
                  <a:ext uri="{FF2B5EF4-FFF2-40B4-BE49-F238E27FC236}">
                    <a16:creationId xmlns:a16="http://schemas.microsoft.com/office/drawing/2014/main" id="{3B879CC6-47A1-A8D4-CD00-F76443C9CB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Tóm lại, quá trình tuning đã xác định được cấu hình tối ưu với </a:t>
                </a:r>
                <a:r>
                  <a:rPr lang="en-US" sz="1200" i="0" kern="1200">
                    <a:solidFill>
                      <a:schemeClr val="tx1"/>
                    </a:solidFill>
                    <a:effectLst/>
                    <a:latin typeface="+mn-lt"/>
                    <a:ea typeface="+mn-ea"/>
                    <a:cs typeface="+mn-cs"/>
                  </a:rPr>
                  <a:t>𝑘=20</a:t>
                </a:r>
                <a:r>
                  <a:rPr lang="en-US" sz="1200" kern="1200">
                    <a:solidFill>
                      <a:schemeClr val="tx1"/>
                    </a:solidFill>
                    <a:effectLst/>
                    <a:latin typeface="+mn-lt"/>
                    <a:ea typeface="+mn-ea"/>
                    <a:cs typeface="+mn-cs"/>
                  </a:rPr>
                  <a:t> và </a:t>
                </a:r>
                <a:r>
                  <a:rPr lang="en-US" sz="1200" i="0" kern="1200">
                    <a:solidFill>
                      <a:schemeClr val="tx1"/>
                    </a:solidFill>
                    <a:effectLst/>
                    <a:latin typeface="+mn-lt"/>
                    <a:ea typeface="+mn-ea"/>
                    <a:cs typeface="+mn-cs"/>
                  </a:rPr>
                  <a:t>𝜆_𝑐=0,08</a:t>
                </a:r>
                <a:r>
                  <a:rPr lang="en-US" sz="1200" kern="1200">
                    <a:solidFill>
                      <a:schemeClr val="tx1"/>
                    </a:solidFill>
                    <a:effectLst/>
                    <a:latin typeface="+mn-lt"/>
                    <a:ea typeface="+mn-ea"/>
                    <a:cs typeface="+mn-cs"/>
                  </a:rPr>
                  <a:t>, cho phép mô hình đạt được sự cân bằng tốt giữa khai thác thông tin cấu trúc đồ thị và học biểu diễn phân biệt. Kết quả này không chỉ cải thiện hiệu năng dự đoán mà còn cung cấp thêm bằng chứng thực nghiệm về vai trò của từng siêu tham số trong mô hình, góp phần hoàn thiện thiết kế kiến trúc tổng thể.</a:t>
                </a:r>
              </a:p>
              <a:p>
                <a:endParaRPr lang="zh-CN" altLang="en-US"/>
              </a:p>
            </p:txBody>
          </p:sp>
        </mc:Fallback>
      </mc:AlternateContent>
      <p:sp>
        <p:nvSpPr>
          <p:cNvPr id="4" name="灯片编号占位符 3">
            <a:extLst>
              <a:ext uri="{FF2B5EF4-FFF2-40B4-BE49-F238E27FC236}">
                <a16:creationId xmlns:a16="http://schemas.microsoft.com/office/drawing/2014/main" id="{DB964E86-1A83-4E60-57F8-9555F1DECBC6}"/>
              </a:ext>
            </a:extLst>
          </p:cNvPr>
          <p:cNvSpPr>
            <a:spLocks noGrp="1"/>
          </p:cNvSpPr>
          <p:nvPr>
            <p:ph type="sldNum" sz="quarter" idx="5"/>
          </p:nvPr>
        </p:nvSpPr>
        <p:spPr/>
        <p:txBody>
          <a:bodyPr/>
          <a:lstStyle/>
          <a:p>
            <a:fld id="{71F3982A-5D6B-41A8-A788-697AC8EE34BB}" type="slidenum">
              <a:rPr lang="zh-CN" altLang="en-US" smtClean="0"/>
              <a:t>19</a:t>
            </a:fld>
            <a:endParaRPr lang="zh-CN" altLang="en-US"/>
          </a:p>
        </p:txBody>
      </p:sp>
    </p:spTree>
    <p:extLst>
      <p:ext uri="{BB962C8B-B14F-4D97-AF65-F5344CB8AC3E}">
        <p14:creationId xmlns:p14="http://schemas.microsoft.com/office/powerpoint/2010/main" val="34173101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30568-EF53-3997-801E-15A33569F5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FE0C7D-2E44-DF91-031C-1B1D40F86D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BA9866B-BA3D-4A80-D536-CBEE3738B6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So với iCAM-Net, mô hình đề xuất cải thiện 3,27 điểm phần trăm về AUPR và 3,03 điểm phần trăm về AUC. Những kết quả này cho thấy việc kết hợp dual-view contrastive learning với cơ chế fused attention trong kiến trúc GAT giúp khai thác hiệu quả thông tin đa góc nhìn và nâng cao chất lượng biểu diễn, từ đó cải thiện đáng kể hiệu năng dự đoán quan hệ thảo dược – bệnh.</a:t>
            </a:r>
          </a:p>
        </p:txBody>
      </p:sp>
      <p:sp>
        <p:nvSpPr>
          <p:cNvPr id="4" name="灯片编号占位符 3">
            <a:extLst>
              <a:ext uri="{FF2B5EF4-FFF2-40B4-BE49-F238E27FC236}">
                <a16:creationId xmlns:a16="http://schemas.microsoft.com/office/drawing/2014/main" id="{BD8349CA-6D23-94DB-7E1A-1931C684890E}"/>
              </a:ext>
            </a:extLst>
          </p:cNvPr>
          <p:cNvSpPr>
            <a:spLocks noGrp="1"/>
          </p:cNvSpPr>
          <p:nvPr>
            <p:ph type="sldNum" sz="quarter" idx="5"/>
          </p:nvPr>
        </p:nvSpPr>
        <p:spPr/>
        <p:txBody>
          <a:bodyPr/>
          <a:lstStyle/>
          <a:p>
            <a:fld id="{71F3982A-5D6B-41A8-A788-697AC8EE34BB}" type="slidenum">
              <a:rPr lang="zh-CN" altLang="en-US" smtClean="0"/>
              <a:t>20</a:t>
            </a:fld>
            <a:endParaRPr lang="zh-CN" altLang="en-US"/>
          </a:p>
        </p:txBody>
      </p:sp>
    </p:spTree>
    <p:extLst>
      <p:ext uri="{BB962C8B-B14F-4D97-AF65-F5344CB8AC3E}">
        <p14:creationId xmlns:p14="http://schemas.microsoft.com/office/powerpoint/2010/main" val="356229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0A3F-876F-CBB9-C09B-543100A863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68896C-5A77-F35E-9A73-4D42FA6C51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6025A2-D463-FD87-0664-FE0A9E69B4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cho thấy mối tương quan rõ ràng giữa bậc của nút (degree) – đại diện cho mức độ đa dạng trong phổ tác dụng sinh học của thảo dược – và độ tự tin của mô hình khi dự đoán các liên kết mới. Đối với các nút có bậc cao, mô hình tận dụng hiệu quả thông tin cấu trúc đồ thị phong phú để thực hiện nội suy (inductive inference) với độ chính xác rất cao, thể hiện qua xác suất dự đoán vượt ngưỡng 0.998. Điều này phù hợp với các nghiên cứu trước đây về học biểu diễn trên đồ thị, trong đó các nút trung tâm thường mang nhiều tín hiệu ngữ cảnh hơn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việc phân tích độ tự tin dự đoán theo thứ hạng Top-10 (Hình 3.4) cung cấp thêm góc nhìn chi tiết về khả năng xếp hạng (ranking capability) của mô hình. Có thể quan sát thấy rằng đối với nút 4615, xác suất dự đoán gần như giữ ổn định ở mức rất cao, tiệm cận 1.0, điều này gợi ý rằng các bệnh lý được xếp hạng cao có thể thuộc cùng một cụm chức năng sinh học hoặc chia sẻ cơ chế bệnh sinh tương tự mà thảo dược này có tác động mạnh. </a:t>
            </a:r>
          </a:p>
        </p:txBody>
      </p:sp>
      <p:sp>
        <p:nvSpPr>
          <p:cNvPr id="4" name="灯片编号占位符 3">
            <a:extLst>
              <a:ext uri="{FF2B5EF4-FFF2-40B4-BE49-F238E27FC236}">
                <a16:creationId xmlns:a16="http://schemas.microsoft.com/office/drawing/2014/main" id="{A8A1044D-5717-C92B-8721-DE654207EB5B}"/>
              </a:ext>
            </a:extLst>
          </p:cNvPr>
          <p:cNvSpPr>
            <a:spLocks noGrp="1"/>
          </p:cNvSpPr>
          <p:nvPr>
            <p:ph type="sldNum" sz="quarter" idx="5"/>
          </p:nvPr>
        </p:nvSpPr>
        <p:spPr/>
        <p:txBody>
          <a:bodyPr/>
          <a:lstStyle/>
          <a:p>
            <a:fld id="{71F3982A-5D6B-41A8-A788-697AC8EE34BB}" type="slidenum">
              <a:rPr lang="zh-CN" altLang="en-US" smtClean="0"/>
              <a:t>21</a:t>
            </a:fld>
            <a:endParaRPr lang="zh-CN" altLang="en-US"/>
          </a:p>
        </p:txBody>
      </p:sp>
    </p:spTree>
    <p:extLst>
      <p:ext uri="{BB962C8B-B14F-4D97-AF65-F5344CB8AC3E}">
        <p14:creationId xmlns:p14="http://schemas.microsoft.com/office/powerpoint/2010/main" val="3302383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F3982A-5D6B-41A8-A788-697AC8EE34BB}" type="slidenum">
              <a:rPr lang="zh-CN" altLang="en-US" smtClean="0"/>
              <a:t>22</a:t>
            </a:fld>
            <a:endParaRPr lang="zh-CN" altLang="en-US"/>
          </a:p>
        </p:txBody>
      </p:sp>
    </p:spTree>
    <p:extLst>
      <p:ext uri="{BB962C8B-B14F-4D97-AF65-F5344CB8AC3E}">
        <p14:creationId xmlns:p14="http://schemas.microsoft.com/office/powerpoint/2010/main" val="2036020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46867-7959-E9A6-9E39-F40E8CAA01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61CC51-5935-33EF-B47B-0509A8F4CE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60F42C-8AEE-CB81-9DAA-344366DF80F7}"/>
              </a:ext>
            </a:extLst>
          </p:cNvPr>
          <p:cNvSpPr>
            <a:spLocks noGrp="1"/>
          </p:cNvSpPr>
          <p:nvPr>
            <p:ph type="body" idx="1"/>
          </p:nvPr>
        </p:nvSpPr>
        <p:spPr/>
        <p:txBody>
          <a:bodyPr/>
          <a:lstStyle/>
          <a:p>
            <a:r>
              <a:rPr lang="vi-VN" sz="1200" b="1" kern="1200">
                <a:solidFill>
                  <a:schemeClr val="tx1"/>
                </a:solidFill>
                <a:effectLst/>
                <a:latin typeface="+mn-lt"/>
                <a:ea typeface="+mn-ea"/>
                <a:cs typeface="+mn-cs"/>
              </a:rPr>
              <a:t>1. Kết luận (Conclusions)</a:t>
            </a:r>
          </a:p>
          <a:p>
            <a:r>
              <a:rPr lang="vi-VN" sz="1200" b="1" kern="1200">
                <a:solidFill>
                  <a:schemeClr val="tx1"/>
                </a:solidFill>
                <a:effectLst/>
                <a:latin typeface="+mn-lt"/>
                <a:ea typeface="+mn-ea"/>
                <a:cs typeface="+mn-cs"/>
              </a:rPr>
              <a:t>Đề xuất mô hình GATHDA-DVCL thành công:</a:t>
            </a:r>
            <a:r>
              <a:rPr lang="vi-VN" sz="1200" kern="1200">
                <a:solidFill>
                  <a:schemeClr val="tx1"/>
                </a:solidFill>
                <a:effectLst/>
                <a:latin typeface="+mn-lt"/>
                <a:ea typeface="+mn-ea"/>
                <a:cs typeface="+mn-cs"/>
              </a:rPr>
              <a:t> Giải quyết hiệu quả bài toán dự đoán quan hệ thảo dược - bệnh trên bộ dữ liệu TCM quy mô lớn bằng cách tích hợp hệ thống 4 thành phần cốt lõi. </a:t>
            </a:r>
          </a:p>
          <a:p>
            <a:r>
              <a:rPr lang="vi-VN" sz="1200" b="1" kern="1200">
                <a:solidFill>
                  <a:schemeClr val="tx1"/>
                </a:solidFill>
                <a:effectLst/>
                <a:latin typeface="+mn-lt"/>
                <a:ea typeface="+mn-ea"/>
                <a:cs typeface="+mn-cs"/>
              </a:rPr>
              <a:t>Hiệu năng vượt trội:</a:t>
            </a:r>
            <a:endParaRPr lang="vi-VN" sz="1200" kern="1200">
              <a:solidFill>
                <a:schemeClr val="tx1"/>
              </a:solidFill>
              <a:effectLst/>
              <a:latin typeface="+mn-lt"/>
              <a:ea typeface="+mn-ea"/>
              <a:cs typeface="+mn-cs"/>
            </a:endParaRPr>
          </a:p>
          <a:p>
            <a:pPr lvl="1"/>
            <a:r>
              <a:rPr lang="vi-VN" sz="1200" kern="1200">
                <a:solidFill>
                  <a:schemeClr val="tx1"/>
                </a:solidFill>
                <a:effectLst/>
                <a:latin typeface="+mn-lt"/>
                <a:ea typeface="+mn-ea"/>
                <a:cs typeface="+mn-cs"/>
              </a:rPr>
              <a:t>Đạt chỉ số </a:t>
            </a:r>
            <a:r>
              <a:rPr lang="vi-VN" sz="1200" b="1" kern="1200">
                <a:solidFill>
                  <a:schemeClr val="tx1"/>
                </a:solidFill>
                <a:effectLst/>
                <a:latin typeface="+mn-lt"/>
                <a:ea typeface="+mn-ea"/>
                <a:cs typeface="+mn-cs"/>
              </a:rPr>
              <a:t>$AUPR = 0,9739$</a:t>
            </a:r>
            <a:r>
              <a:rPr lang="vi-VN" sz="1200" kern="1200">
                <a:solidFill>
                  <a:schemeClr val="tx1"/>
                </a:solidFill>
                <a:effectLst/>
                <a:latin typeface="+mn-lt"/>
                <a:ea typeface="+mn-ea"/>
                <a:cs typeface="+mn-cs"/>
              </a:rPr>
              <a:t> và </a:t>
            </a:r>
            <a:r>
              <a:rPr lang="vi-VN" sz="1200" b="1" kern="1200">
                <a:solidFill>
                  <a:schemeClr val="tx1"/>
                </a:solidFill>
                <a:effectLst/>
                <a:latin typeface="+mn-lt"/>
                <a:ea typeface="+mn-ea"/>
                <a:cs typeface="+mn-cs"/>
              </a:rPr>
              <a:t>$AUC = 0,9741$</a:t>
            </a:r>
            <a:r>
              <a:rPr lang="vi-VN" sz="1200" kern="1200">
                <a:solidFill>
                  <a:schemeClr val="tx1"/>
                </a:solidFill>
                <a:effectLst/>
                <a:latin typeface="+mn-lt"/>
                <a:ea typeface="+mn-ea"/>
                <a:cs typeface="+mn-cs"/>
              </a:rPr>
              <a:t>, vượt trội hơn tất cả các phương pháp đối sánh hiện có trên cùng bộ dữ liệu. </a:t>
            </a:r>
          </a:p>
          <a:p>
            <a:pPr lvl="1"/>
            <a:r>
              <a:rPr lang="vi-VN" sz="1200" kern="1200">
                <a:solidFill>
                  <a:schemeClr val="tx1"/>
                </a:solidFill>
                <a:effectLst/>
                <a:latin typeface="+mn-lt"/>
                <a:ea typeface="+mn-ea"/>
                <a:cs typeface="+mn-cs"/>
              </a:rPr>
              <a:t>Cải thiện </a:t>
            </a:r>
            <a:r>
              <a:rPr lang="vi-VN" sz="1200" b="1" kern="1200">
                <a:solidFill>
                  <a:schemeClr val="tx1"/>
                </a:solidFill>
                <a:effectLst/>
                <a:latin typeface="+mn-lt"/>
                <a:ea typeface="+mn-ea"/>
                <a:cs typeface="+mn-cs"/>
              </a:rPr>
              <a:t>+3,27% AUPR</a:t>
            </a:r>
            <a:r>
              <a:rPr lang="vi-VN" sz="1200" kern="1200">
                <a:solidFill>
                  <a:schemeClr val="tx1"/>
                </a:solidFill>
                <a:effectLst/>
                <a:latin typeface="+mn-lt"/>
                <a:ea typeface="+mn-ea"/>
                <a:cs typeface="+mn-cs"/>
              </a:rPr>
              <a:t> và </a:t>
            </a:r>
            <a:r>
              <a:rPr lang="vi-VN" sz="1200" b="1" kern="1200">
                <a:solidFill>
                  <a:schemeClr val="tx1"/>
                </a:solidFill>
                <a:effectLst/>
                <a:latin typeface="+mn-lt"/>
                <a:ea typeface="+mn-ea"/>
                <a:cs typeface="+mn-cs"/>
              </a:rPr>
              <a:t>+3,03% AUC</a:t>
            </a:r>
            <a:r>
              <a:rPr lang="vi-VN" sz="1200" kern="1200">
                <a:solidFill>
                  <a:schemeClr val="tx1"/>
                </a:solidFill>
                <a:effectLst/>
                <a:latin typeface="+mn-lt"/>
                <a:ea typeface="+mn-ea"/>
                <a:cs typeface="+mn-cs"/>
              </a:rPr>
              <a:t> so với phương pháp mạnh nhất trước đó là iCAM-Net. </a:t>
            </a:r>
          </a:p>
          <a:p>
            <a:r>
              <a:rPr lang="vi-VN" sz="1200" b="1" kern="1200">
                <a:solidFill>
                  <a:schemeClr val="tx1"/>
                </a:solidFill>
                <a:effectLst/>
                <a:latin typeface="+mn-lt"/>
                <a:ea typeface="+mn-ea"/>
                <a:cs typeface="+mn-cs"/>
              </a:rPr>
              <a:t>Đóng góp lớn từ Học đối chiếu:</a:t>
            </a:r>
            <a:r>
              <a:rPr lang="vi-VN" sz="1200" kern="1200">
                <a:solidFill>
                  <a:schemeClr val="tx1"/>
                </a:solidFill>
                <a:effectLst/>
                <a:latin typeface="+mn-lt"/>
                <a:ea typeface="+mn-ea"/>
                <a:cs typeface="+mn-cs"/>
              </a:rPr>
              <a:t> Thực nghiệm </a:t>
            </a:r>
            <a:r>
              <a:rPr lang="vi-VN" sz="1200" i="1" kern="1200">
                <a:solidFill>
                  <a:schemeClr val="tx1"/>
                </a:solidFill>
                <a:effectLst/>
                <a:latin typeface="+mn-lt"/>
                <a:ea typeface="+mn-ea"/>
                <a:cs typeface="+mn-cs"/>
              </a:rPr>
              <a:t>Ablation study</a:t>
            </a:r>
            <a:r>
              <a:rPr lang="vi-VN" sz="1200" kern="1200">
                <a:solidFill>
                  <a:schemeClr val="tx1"/>
                </a:solidFill>
                <a:effectLst/>
                <a:latin typeface="+mn-lt"/>
                <a:ea typeface="+mn-ea"/>
                <a:cs typeface="+mn-cs"/>
              </a:rPr>
              <a:t> xác nhận tính bổ trợ của các thành phần, trong đó </a:t>
            </a:r>
            <a:r>
              <a:rPr lang="vi-VN" sz="1200" b="1" kern="1200">
                <a:solidFill>
                  <a:schemeClr val="tx1"/>
                </a:solidFill>
                <a:effectLst/>
                <a:latin typeface="+mn-lt"/>
                <a:ea typeface="+mn-ea"/>
                <a:cs typeface="+mn-cs"/>
              </a:rPr>
              <a:t>Dual-view contrastive learning</a:t>
            </a:r>
            <a:r>
              <a:rPr lang="vi-VN" sz="1200" kern="1200">
                <a:solidFill>
                  <a:schemeClr val="tx1"/>
                </a:solidFill>
                <a:effectLst/>
                <a:latin typeface="+mn-lt"/>
                <a:ea typeface="+mn-ea"/>
                <a:cs typeface="+mn-cs"/>
              </a:rPr>
              <a:t> là yếu tố có tác động lớn nhất (giúp tăng 4,30 điểm AUPR). </a:t>
            </a:r>
          </a:p>
          <a:p>
            <a:r>
              <a:rPr lang="vi-VN" sz="1200" b="1" kern="1200">
                <a:solidFill>
                  <a:schemeClr val="tx1"/>
                </a:solidFill>
                <a:effectLst/>
                <a:latin typeface="+mn-lt"/>
                <a:ea typeface="+mn-ea"/>
                <a:cs typeface="+mn-cs"/>
              </a:rPr>
              <a:t>Năng lực phát hiện chỉ định mới (Herb Repurposing):</a:t>
            </a:r>
            <a:r>
              <a:rPr lang="vi-VN" sz="1200" kern="1200">
                <a:solidFill>
                  <a:schemeClr val="tx1"/>
                </a:solidFill>
                <a:effectLst/>
                <a:latin typeface="+mn-lt"/>
                <a:ea typeface="+mn-ea"/>
                <a:cs typeface="+mn-cs"/>
              </a:rPr>
              <a:t> Mô hình có độ ổn định cao, khả năng nội suy mạnh mẽ đối với các nút trung tâm và chắt lọc ứng viên bệnh lý chính xác nhờ không gian ẩn được tối ưu hóa. </a:t>
            </a:r>
          </a:p>
          <a:p>
            <a:r>
              <a:rPr lang="vi-VN" sz="1200" b="1" kern="1200">
                <a:solidFill>
                  <a:schemeClr val="tx1"/>
                </a:solidFill>
                <a:effectLst/>
                <a:latin typeface="+mn-lt"/>
                <a:ea typeface="+mn-ea"/>
                <a:cs typeface="+mn-cs"/>
              </a:rPr>
              <a:t>2. Hướng phát triển tương lai (Future Works)</a:t>
            </a:r>
          </a:p>
          <a:p>
            <a:r>
              <a:rPr lang="vi-VN" sz="1200" b="1" kern="1200">
                <a:solidFill>
                  <a:schemeClr val="tx1"/>
                </a:solidFill>
                <a:effectLst/>
                <a:latin typeface="+mn-lt"/>
                <a:ea typeface="+mn-ea"/>
                <a:cs typeface="+mn-cs"/>
              </a:rPr>
              <a:t>Mở rộng kiểm chứng:</a:t>
            </a:r>
            <a:r>
              <a:rPr lang="vi-VN" sz="1200" kern="1200">
                <a:solidFill>
                  <a:schemeClr val="tx1"/>
                </a:solidFill>
                <a:effectLst/>
                <a:latin typeface="+mn-lt"/>
                <a:ea typeface="+mn-ea"/>
                <a:cs typeface="+mn-cs"/>
              </a:rPr>
              <a:t> Đánh giá tính tổng quát của mô hình bằng cách thử nghiệm trên các bộ dữ liệu khác trong repository (ví dụ: bộ dữ liệu HERB). </a:t>
            </a:r>
          </a:p>
          <a:p>
            <a:r>
              <a:rPr lang="vi-VN" sz="1200" b="1" kern="1200">
                <a:solidFill>
                  <a:schemeClr val="tx1"/>
                </a:solidFill>
                <a:effectLst/>
                <a:latin typeface="+mn-lt"/>
                <a:ea typeface="+mn-ea"/>
                <a:cs typeface="+mn-cs"/>
              </a:rPr>
              <a:t>Tích hợp thêm dữ liệu sinh học:</a:t>
            </a:r>
            <a:r>
              <a:rPr lang="vi-VN" sz="1200" kern="1200">
                <a:solidFill>
                  <a:schemeClr val="tx1"/>
                </a:solidFill>
                <a:effectLst/>
                <a:latin typeface="+mn-lt"/>
                <a:ea typeface="+mn-ea"/>
                <a:cs typeface="+mn-cs"/>
              </a:rPr>
              <a:t> Bổ sung thông tin cấu trúc phân tử chuyên sâu của hợp chất vào quá trình xây dựng đồ thị (như dấu bản chất hóa học - </a:t>
            </a:r>
            <a:r>
              <a:rPr lang="vi-VN" sz="1200" i="1" kern="1200">
                <a:solidFill>
                  <a:schemeClr val="tx1"/>
                </a:solidFill>
                <a:effectLst/>
                <a:latin typeface="+mn-lt"/>
                <a:ea typeface="+mn-ea"/>
                <a:cs typeface="+mn-cs"/>
              </a:rPr>
              <a:t>fingerprint</a:t>
            </a:r>
            <a:r>
              <a:rPr lang="vi-VN" sz="1200" kern="1200">
                <a:solidFill>
                  <a:schemeClr val="tx1"/>
                </a:solidFill>
                <a:effectLst/>
                <a:latin typeface="+mn-lt"/>
                <a:ea typeface="+mn-ea"/>
                <a:cs typeface="+mn-cs"/>
              </a:rPr>
              <a:t>, hoặc mã </a:t>
            </a:r>
            <a:r>
              <a:rPr lang="vi-VN" sz="1200" i="1" kern="1200">
                <a:solidFill>
                  <a:schemeClr val="tx1"/>
                </a:solidFill>
                <a:effectLst/>
                <a:latin typeface="+mn-lt"/>
                <a:ea typeface="+mn-ea"/>
                <a:cs typeface="+mn-cs"/>
              </a:rPr>
              <a:t>SMILES</a:t>
            </a:r>
            <a:r>
              <a:rPr lang="vi-VN" sz="1200" kern="1200">
                <a:solidFill>
                  <a:schemeClr val="tx1"/>
                </a:solidFill>
                <a:effectLst/>
                <a:latin typeface="+mn-lt"/>
                <a:ea typeface="+mn-ea"/>
                <a:cs typeface="+mn-cs"/>
              </a:rPr>
              <a:t>). </a:t>
            </a:r>
          </a:p>
          <a:p>
            <a:r>
              <a:rPr lang="vi-VN" sz="1200" b="1" kern="1200">
                <a:solidFill>
                  <a:schemeClr val="tx1"/>
                </a:solidFill>
                <a:effectLst/>
                <a:latin typeface="+mn-lt"/>
                <a:ea typeface="+mn-ea"/>
                <a:cs typeface="+mn-cs"/>
              </a:rPr>
              <a:t>Tối ưu hóa chiến lược lấy mẫu:</a:t>
            </a:r>
            <a:r>
              <a:rPr lang="vi-VN" sz="1200" kern="1200">
                <a:solidFill>
                  <a:schemeClr val="tx1"/>
                </a:solidFill>
                <a:effectLst/>
                <a:latin typeface="+mn-lt"/>
                <a:ea typeface="+mn-ea"/>
                <a:cs typeface="+mn-cs"/>
              </a:rPr>
              <a:t> Khám phá và áp dụng các chiến lược lấy mẫu mẫu âm tính thông minh hơn (</a:t>
            </a:r>
            <a:r>
              <a:rPr lang="vi-VN" sz="1200" i="1" kern="1200">
                <a:solidFill>
                  <a:schemeClr val="tx1"/>
                </a:solidFill>
                <a:effectLst/>
                <a:latin typeface="+mn-lt"/>
                <a:ea typeface="+mn-ea"/>
                <a:cs typeface="+mn-cs"/>
              </a:rPr>
              <a:t>smart negative sampling</a:t>
            </a:r>
            <a:r>
              <a:rPr lang="vi-VN" sz="1200" kern="1200">
                <a:solidFill>
                  <a:schemeClr val="tx1"/>
                </a:solidFill>
                <a:effectLst/>
                <a:latin typeface="+mn-lt"/>
                <a:ea typeface="+mn-ea"/>
                <a:cs typeface="+mn-cs"/>
              </a:rPr>
              <a:t>) thay vì lấy mẫu ngẫu nhiên để tăng độ chính xác. </a:t>
            </a:r>
          </a:p>
          <a:p>
            <a:r>
              <a:rPr lang="vi-VN" sz="1200" b="1" kern="1200">
                <a:solidFill>
                  <a:schemeClr val="tx1"/>
                </a:solidFill>
                <a:effectLst/>
                <a:latin typeface="+mn-lt"/>
                <a:ea typeface="+mn-ea"/>
                <a:cs typeface="+mn-cs"/>
              </a:rPr>
              <a:t>Phát triển cơ chế giải thích (Explainability):</a:t>
            </a:r>
            <a:r>
              <a:rPr lang="vi-VN" sz="1200" kern="1200">
                <a:solidFill>
                  <a:schemeClr val="tx1"/>
                </a:solidFill>
                <a:effectLst/>
                <a:latin typeface="+mn-lt"/>
                <a:ea typeface="+mn-ea"/>
                <a:cs typeface="+mn-cs"/>
              </a:rPr>
              <a:t> Thiết kế thêm các mô-đun giải thích thuật toán để làm rõ vai trò, tầm quan trọng cụ thể của từng hợp chất và protein đối với các dự đoán lâm sàng.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1B60D10-C22C-B7B5-1A0F-E18C2B8EEC95}"/>
              </a:ext>
            </a:extLst>
          </p:cNvPr>
          <p:cNvSpPr>
            <a:spLocks noGrp="1"/>
          </p:cNvSpPr>
          <p:nvPr>
            <p:ph type="sldNum" sz="quarter" idx="5"/>
          </p:nvPr>
        </p:nvSpPr>
        <p:spPr/>
        <p:txBody>
          <a:bodyPr/>
          <a:lstStyle/>
          <a:p>
            <a:fld id="{71F3982A-5D6B-41A8-A788-697AC8EE34BB}" type="slidenum">
              <a:rPr lang="zh-CN" altLang="en-US" smtClean="0"/>
              <a:t>23</a:t>
            </a:fld>
            <a:endParaRPr lang="zh-CN" altLang="en-US"/>
          </a:p>
        </p:txBody>
      </p:sp>
    </p:spTree>
    <p:extLst>
      <p:ext uri="{BB962C8B-B14F-4D97-AF65-F5344CB8AC3E}">
        <p14:creationId xmlns:p14="http://schemas.microsoft.com/office/powerpoint/2010/main" val="6221132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7C15-B8CD-E202-4897-F94A163A28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1A2D6B-61D8-69FD-6A09-20408F64FE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DD637F5-C499-3E5B-3690-F5426E466233}"/>
              </a:ext>
            </a:extLst>
          </p:cNvPr>
          <p:cNvSpPr>
            <a:spLocks noGrp="1"/>
          </p:cNvSpPr>
          <p:nvPr>
            <p:ph type="body" idx="1"/>
          </p:nvPr>
        </p:nvSpPr>
        <p:spPr/>
        <p:txBody>
          <a:bodyPr/>
          <a:lstStyle/>
          <a:p>
            <a:r>
              <a:rPr lang="en-US" altLang="zh-CN"/>
              <a:t>Xin </a:t>
            </a:r>
            <a:r>
              <a:rPr lang="en-US" altLang="zh-CN" err="1"/>
              <a:t>chào</a:t>
            </a:r>
            <a:r>
              <a:rPr lang="en-US" altLang="zh-CN"/>
              <a:t> </a:t>
            </a:r>
            <a:r>
              <a:rPr lang="en-US" altLang="zh-CN" err="1"/>
              <a:t>thầy</a:t>
            </a:r>
            <a:r>
              <a:rPr lang="en-US" altLang="zh-CN"/>
              <a:t> </a:t>
            </a:r>
            <a:r>
              <a:rPr lang="en-US" altLang="zh-CN" err="1"/>
              <a:t>cô</a:t>
            </a:r>
            <a:r>
              <a:rPr lang="en-US" altLang="zh-CN"/>
              <a:t> </a:t>
            </a:r>
            <a:r>
              <a:rPr lang="en-US" altLang="zh-CN" err="1"/>
              <a:t>và</a:t>
            </a:r>
            <a:r>
              <a:rPr lang="en-US" altLang="zh-CN"/>
              <a:t> </a:t>
            </a:r>
            <a:r>
              <a:rPr lang="en-US" altLang="zh-CN" err="1"/>
              <a:t>các</a:t>
            </a:r>
            <a:r>
              <a:rPr lang="en-US" altLang="zh-CN"/>
              <a:t> </a:t>
            </a:r>
            <a:r>
              <a:rPr lang="en-US" altLang="zh-CN" err="1"/>
              <a:t>bạn</a:t>
            </a:r>
            <a:r>
              <a:rPr lang="en-US" altLang="zh-CN"/>
              <a:t>, </a:t>
            </a:r>
            <a:r>
              <a:rPr lang="en-US" altLang="zh-CN" err="1"/>
              <a:t>chào</a:t>
            </a:r>
            <a:r>
              <a:rPr lang="en-US" altLang="zh-CN"/>
              <a:t> </a:t>
            </a:r>
            <a:r>
              <a:rPr lang="en-US" altLang="zh-CN" err="1"/>
              <a:t>mừng</a:t>
            </a:r>
            <a:r>
              <a:rPr lang="en-US" altLang="zh-CN"/>
              <a:t> </a:t>
            </a:r>
            <a:r>
              <a:rPr lang="en-US" altLang="zh-CN" err="1"/>
              <a:t>thầy</a:t>
            </a:r>
            <a:r>
              <a:rPr lang="en-US" altLang="zh-CN"/>
              <a:t> </a:t>
            </a:r>
            <a:r>
              <a:rPr lang="en-US" altLang="zh-CN" err="1"/>
              <a:t>cô</a:t>
            </a:r>
            <a:r>
              <a:rPr lang="en-US" altLang="zh-CN"/>
              <a:t> </a:t>
            </a:r>
            <a:r>
              <a:rPr lang="en-US" altLang="zh-CN" err="1"/>
              <a:t>và</a:t>
            </a:r>
            <a:r>
              <a:rPr lang="en-US" altLang="zh-CN"/>
              <a:t> </a:t>
            </a:r>
            <a:r>
              <a:rPr lang="en-US" altLang="zh-CN" err="1"/>
              <a:t>các</a:t>
            </a:r>
            <a:r>
              <a:rPr lang="en-US" altLang="zh-CN"/>
              <a:t> </a:t>
            </a:r>
            <a:r>
              <a:rPr lang="en-US" altLang="zh-CN" err="1"/>
              <a:t>bạn</a:t>
            </a:r>
            <a:r>
              <a:rPr lang="en-US" altLang="zh-CN"/>
              <a:t> </a:t>
            </a:r>
            <a:r>
              <a:rPr lang="en-US" altLang="zh-CN" err="1"/>
              <a:t>đến</a:t>
            </a:r>
            <a:r>
              <a:rPr lang="en-US" altLang="zh-CN"/>
              <a:t> </a:t>
            </a:r>
            <a:r>
              <a:rPr lang="en-US" altLang="zh-CN" err="1"/>
              <a:t>với</a:t>
            </a:r>
            <a:r>
              <a:rPr lang="en-US" altLang="zh-CN"/>
              <a:t> </a:t>
            </a:r>
            <a:r>
              <a:rPr lang="en-US" altLang="zh-CN" err="1"/>
              <a:t>phần</a:t>
            </a:r>
            <a:r>
              <a:rPr lang="en-US" altLang="zh-CN"/>
              <a:t> </a:t>
            </a:r>
            <a:r>
              <a:rPr lang="en-US" altLang="zh-CN" err="1"/>
              <a:t>bảo</a:t>
            </a:r>
            <a:r>
              <a:rPr lang="en-US" altLang="zh-CN"/>
              <a:t> </a:t>
            </a:r>
            <a:r>
              <a:rPr lang="en-US" altLang="zh-CN" err="1"/>
              <a:t>vệ</a:t>
            </a:r>
            <a:r>
              <a:rPr lang="en-US" altLang="zh-CN"/>
              <a:t> </a:t>
            </a:r>
            <a:r>
              <a:rPr lang="en-US" altLang="zh-CN" err="1"/>
              <a:t>đồ</a:t>
            </a:r>
            <a:r>
              <a:rPr lang="en-US" altLang="zh-CN"/>
              <a:t> </a:t>
            </a:r>
            <a:r>
              <a:rPr lang="en-US" altLang="zh-CN" err="1"/>
              <a:t>án</a:t>
            </a:r>
            <a:r>
              <a:rPr lang="en-US" altLang="zh-CN"/>
              <a:t> </a:t>
            </a:r>
            <a:r>
              <a:rPr lang="en-US" altLang="zh-CN" err="1"/>
              <a:t>tốt</a:t>
            </a:r>
            <a:r>
              <a:rPr lang="en-US" altLang="zh-CN"/>
              <a:t> </a:t>
            </a:r>
            <a:r>
              <a:rPr lang="en-US" altLang="zh-CN" err="1"/>
              <a:t>nghiệp</a:t>
            </a:r>
            <a:r>
              <a:rPr lang="en-US" altLang="zh-CN"/>
              <a:t> </a:t>
            </a:r>
            <a:r>
              <a:rPr lang="en-US" altLang="zh-CN" err="1"/>
              <a:t>của</a:t>
            </a:r>
            <a:r>
              <a:rPr lang="en-US" altLang="zh-CN"/>
              <a:t> </a:t>
            </a:r>
            <a:r>
              <a:rPr lang="en-US" altLang="zh-CN" err="1"/>
              <a:t>em</a:t>
            </a:r>
            <a:r>
              <a:rPr lang="en-US" altLang="zh-CN"/>
              <a:t>. Em </a:t>
            </a:r>
            <a:r>
              <a:rPr lang="en-US" altLang="zh-CN" err="1"/>
              <a:t>là</a:t>
            </a:r>
            <a:r>
              <a:rPr lang="en-US" altLang="zh-CN"/>
              <a:t> Trịnh Sỹ Tới </a:t>
            </a:r>
            <a:r>
              <a:rPr lang="en-US" altLang="zh-CN" err="1"/>
              <a:t>học</a:t>
            </a:r>
            <a:r>
              <a:rPr lang="en-US" altLang="zh-CN"/>
              <a:t> </a:t>
            </a:r>
            <a:r>
              <a:rPr lang="en-US" altLang="zh-CN" err="1"/>
              <a:t>lớp</a:t>
            </a:r>
            <a:r>
              <a:rPr lang="en-US" altLang="zh-CN"/>
              <a:t> CNTT2-k15, </a:t>
            </a:r>
            <a:r>
              <a:rPr lang="en-US" altLang="zh-CN" err="1"/>
              <a:t>sau</a:t>
            </a:r>
            <a:r>
              <a:rPr lang="en-US" altLang="zh-CN"/>
              <a:t> </a:t>
            </a:r>
            <a:r>
              <a:rPr lang="en-US" altLang="zh-CN" err="1"/>
              <a:t>một</a:t>
            </a:r>
            <a:r>
              <a:rPr lang="en-US" altLang="zh-CN"/>
              <a:t> </a:t>
            </a:r>
            <a:r>
              <a:rPr lang="en-US" altLang="zh-CN" err="1"/>
              <a:t>thời</a:t>
            </a:r>
            <a:r>
              <a:rPr lang="en-US" altLang="zh-CN"/>
              <a:t> </a:t>
            </a:r>
            <a:r>
              <a:rPr lang="en-US" altLang="zh-CN" err="1"/>
              <a:t>gian</a:t>
            </a:r>
            <a:r>
              <a:rPr lang="en-US" altLang="zh-CN"/>
              <a:t> </a:t>
            </a:r>
            <a:r>
              <a:rPr lang="en-US" altLang="zh-CN" err="1"/>
              <a:t>được</a:t>
            </a:r>
            <a:r>
              <a:rPr lang="en-US" altLang="zh-CN"/>
              <a:t> </a:t>
            </a:r>
            <a:r>
              <a:rPr lang="en-US" altLang="zh-CN" err="1"/>
              <a:t>thầy</a:t>
            </a:r>
            <a:r>
              <a:rPr lang="en-US" altLang="zh-CN"/>
              <a:t> </a:t>
            </a:r>
            <a:r>
              <a:rPr lang="en-US" altLang="zh-CN" err="1"/>
              <a:t>Nguyễn</a:t>
            </a:r>
            <a:r>
              <a:rPr lang="en-US" altLang="zh-CN"/>
              <a:t> </a:t>
            </a:r>
            <a:r>
              <a:rPr lang="en-US" altLang="zh-CN" err="1"/>
              <a:t>Chiến</a:t>
            </a:r>
            <a:r>
              <a:rPr lang="en-US" altLang="zh-CN"/>
              <a:t> </a:t>
            </a:r>
            <a:r>
              <a:rPr lang="en-US" altLang="zh-CN" err="1"/>
              <a:t>Thắng</a:t>
            </a:r>
            <a:r>
              <a:rPr lang="en-US" altLang="zh-CN"/>
              <a:t> </a:t>
            </a:r>
            <a:r>
              <a:rPr lang="en-US" altLang="zh-CN" err="1"/>
              <a:t>hướng</a:t>
            </a:r>
            <a:r>
              <a:rPr lang="en-US" altLang="zh-CN"/>
              <a:t> </a:t>
            </a:r>
            <a:r>
              <a:rPr lang="en-US" altLang="zh-CN" err="1"/>
              <a:t>dẫn</a:t>
            </a:r>
            <a:r>
              <a:rPr lang="en-US" altLang="zh-CN"/>
              <a:t>, </a:t>
            </a:r>
            <a:r>
              <a:rPr lang="en-US" altLang="zh-CN" err="1"/>
              <a:t>em</a:t>
            </a:r>
            <a:r>
              <a:rPr lang="en-US" altLang="zh-CN"/>
              <a:t> </a:t>
            </a:r>
            <a:r>
              <a:rPr lang="en-US" altLang="zh-CN" err="1"/>
              <a:t>đã</a:t>
            </a:r>
            <a:r>
              <a:rPr lang="en-US" altLang="zh-CN"/>
              <a:t> </a:t>
            </a:r>
            <a:r>
              <a:rPr lang="en-US" altLang="zh-CN" err="1"/>
              <a:t>xây</a:t>
            </a:r>
            <a:r>
              <a:rPr lang="en-US" altLang="zh-CN"/>
              <a:t> </a:t>
            </a:r>
            <a:r>
              <a:rPr lang="en-US" altLang="zh-CN" err="1"/>
              <a:t>dựng</a:t>
            </a:r>
            <a:r>
              <a:rPr lang="en-US" altLang="zh-CN"/>
              <a:t> </a:t>
            </a:r>
            <a:r>
              <a:rPr lang="en-US" altLang="zh-CN" err="1"/>
              <a:t>và</a:t>
            </a:r>
            <a:r>
              <a:rPr lang="en-US" altLang="zh-CN"/>
              <a:t> </a:t>
            </a:r>
            <a:r>
              <a:rPr lang="en-US" altLang="zh-CN" err="1"/>
              <a:t>hoàn</a:t>
            </a:r>
            <a:r>
              <a:rPr lang="en-US" altLang="zh-CN"/>
              <a:t> </a:t>
            </a:r>
            <a:r>
              <a:rPr lang="en-US" altLang="zh-CN" err="1"/>
              <a:t>thiện</a:t>
            </a:r>
            <a:r>
              <a:rPr lang="en-US" altLang="zh-CN"/>
              <a:t> </a:t>
            </a:r>
            <a:r>
              <a:rPr lang="en-US" altLang="zh-CN" err="1"/>
              <a:t>đề</a:t>
            </a:r>
            <a:r>
              <a:rPr lang="en-US" altLang="zh-CN"/>
              <a:t> </a:t>
            </a:r>
            <a:r>
              <a:rPr lang="en-US" altLang="zh-CN" err="1"/>
              <a:t>tài</a:t>
            </a:r>
            <a:r>
              <a:rPr lang="en-US" altLang="zh-CN"/>
              <a:t> … Em </a:t>
            </a:r>
            <a:r>
              <a:rPr lang="en-US" altLang="zh-CN" err="1"/>
              <a:t>xin</a:t>
            </a:r>
            <a:r>
              <a:rPr lang="en-US" altLang="zh-CN"/>
              <a:t> </a:t>
            </a:r>
            <a:r>
              <a:rPr lang="en-US" altLang="zh-CN" err="1"/>
              <a:t>phép</a:t>
            </a:r>
            <a:r>
              <a:rPr lang="en-US" altLang="zh-CN"/>
              <a:t> </a:t>
            </a:r>
            <a:r>
              <a:rPr lang="en-US" altLang="zh-CN" err="1"/>
              <a:t>trình</a:t>
            </a:r>
            <a:r>
              <a:rPr lang="en-US" altLang="zh-CN"/>
              <a:t> </a:t>
            </a:r>
            <a:r>
              <a:rPr lang="en-US" altLang="zh-CN" err="1"/>
              <a:t>bày</a:t>
            </a:r>
            <a:r>
              <a:rPr lang="en-US" altLang="zh-CN"/>
              <a:t> </a:t>
            </a:r>
            <a:r>
              <a:rPr lang="en-US" altLang="zh-CN" err="1"/>
              <a:t>một</a:t>
            </a:r>
            <a:r>
              <a:rPr lang="en-US" altLang="zh-CN"/>
              <a:t> </a:t>
            </a:r>
            <a:r>
              <a:rPr lang="en-US" altLang="zh-CN" err="1"/>
              <a:t>số</a:t>
            </a:r>
            <a:r>
              <a:rPr lang="en-US" altLang="zh-CN"/>
              <a:t> ý </a:t>
            </a:r>
            <a:r>
              <a:rPr lang="en-US" altLang="zh-CN" err="1"/>
              <a:t>chính</a:t>
            </a:r>
            <a:r>
              <a:rPr lang="en-US" altLang="zh-CN"/>
              <a:t> </a:t>
            </a:r>
            <a:r>
              <a:rPr lang="en-US" altLang="zh-CN" err="1"/>
              <a:t>về</a:t>
            </a:r>
            <a:r>
              <a:rPr lang="en-US" altLang="zh-CN"/>
              <a:t> </a:t>
            </a:r>
            <a:r>
              <a:rPr lang="en-US" altLang="zh-CN" err="1"/>
              <a:t>đề</a:t>
            </a:r>
            <a:r>
              <a:rPr lang="en-US" altLang="zh-CN"/>
              <a:t> </a:t>
            </a:r>
            <a:r>
              <a:rPr lang="en-US" altLang="zh-CN" err="1"/>
              <a:t>tài</a:t>
            </a:r>
            <a:r>
              <a:rPr lang="en-US" altLang="zh-CN"/>
              <a:t> </a:t>
            </a:r>
            <a:r>
              <a:rPr lang="en-US" altLang="zh-CN" err="1"/>
              <a:t>của</a:t>
            </a:r>
            <a:r>
              <a:rPr lang="en-US" altLang="zh-CN"/>
              <a:t> </a:t>
            </a:r>
            <a:r>
              <a:rPr lang="en-US" altLang="zh-CN" err="1"/>
              <a:t>mình</a:t>
            </a:r>
            <a:endParaRPr lang="zh-CN" altLang="en-US"/>
          </a:p>
        </p:txBody>
      </p:sp>
      <p:sp>
        <p:nvSpPr>
          <p:cNvPr id="4" name="灯片编号占位符 3">
            <a:extLst>
              <a:ext uri="{FF2B5EF4-FFF2-40B4-BE49-F238E27FC236}">
                <a16:creationId xmlns:a16="http://schemas.microsoft.com/office/drawing/2014/main" id="{D12B980A-568C-EF99-3247-A9DA7E3DA467}"/>
              </a:ext>
            </a:extLst>
          </p:cNvPr>
          <p:cNvSpPr>
            <a:spLocks noGrp="1"/>
          </p:cNvSpPr>
          <p:nvPr>
            <p:ph type="sldNum" sz="quarter" idx="5"/>
          </p:nvPr>
        </p:nvSpPr>
        <p:spPr/>
        <p:txBody>
          <a:bodyPr/>
          <a:lstStyle/>
          <a:p>
            <a:fld id="{71F3982A-5D6B-41A8-A788-697AC8EE34BB}" type="slidenum">
              <a:rPr lang="zh-CN" altLang="en-US" smtClean="0"/>
              <a:t>24</a:t>
            </a:fld>
            <a:endParaRPr lang="zh-CN" altLang="en-US"/>
          </a:p>
        </p:txBody>
      </p:sp>
    </p:spTree>
    <p:extLst>
      <p:ext uri="{BB962C8B-B14F-4D97-AF65-F5344CB8AC3E}">
        <p14:creationId xmlns:p14="http://schemas.microsoft.com/office/powerpoint/2010/main" val="734613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2" name="直接连接符 1"/>
          <p:cNvCxnSpPr/>
          <p:nvPr userDrawn="1"/>
        </p:nvCxnSpPr>
        <p:spPr>
          <a:xfrm>
            <a:off x="0" y="751840"/>
            <a:ext cx="12192000" cy="0"/>
          </a:xfrm>
          <a:prstGeom prst="line">
            <a:avLst/>
          </a:prstGeom>
          <a:ln w="12700">
            <a:solidFill>
              <a:srgbClr val="1D4251"/>
            </a:solidFill>
          </a:ln>
        </p:spPr>
        <p:style>
          <a:lnRef idx="1">
            <a:schemeClr val="accent1"/>
          </a:lnRef>
          <a:fillRef idx="0">
            <a:schemeClr val="accent1"/>
          </a:fillRef>
          <a:effectRef idx="0">
            <a:schemeClr val="accent1"/>
          </a:effectRef>
          <a:fontRef idx="minor">
            <a:schemeClr val="tx1"/>
          </a:fontRef>
        </p:style>
      </p:cxnSp>
      <p:sp>
        <p:nvSpPr>
          <p:cNvPr id="3" name="TextBox 24"/>
          <p:cNvSpPr txBox="1">
            <a:spLocks/>
          </p:cNvSpPr>
          <p:nvPr userDrawn="1"/>
        </p:nvSpPr>
        <p:spPr bwMode="auto">
          <a:xfrm>
            <a:off x="1880591" y="280125"/>
            <a:ext cx="1392235" cy="283031"/>
          </a:xfrm>
          <a:prstGeom prst="rect">
            <a:avLst/>
          </a:prstGeom>
          <a:noFill/>
          <a:ln w="9525">
            <a:noFill/>
            <a:miter lim="800000"/>
            <a:headEnd/>
            <a:tailEnd/>
          </a:ln>
        </p:spPr>
        <p:txBody>
          <a:bodyPr wrap="none" lIns="0" tIns="0" rIns="0" bIns="0" anchor="ctr" anchorCtr="1">
            <a:noAutofit/>
            <a:scene3d>
              <a:camera prst="orthographicFront"/>
              <a:lightRig rig="threePt" dir="t"/>
            </a:scene3d>
            <a:sp3d>
              <a:bevelT w="0" h="0"/>
            </a:sp3d>
          </a:bodyPr>
          <a:lstStyle/>
          <a:p>
            <a:pPr marL="0" lvl="1" algn="ctr"/>
            <a:r>
              <a:rPr lang="en-US" altLang="zh-CN" sz="3200" b="1">
                <a:solidFill>
                  <a:srgbClr val="1D4251"/>
                </a:solidFill>
                <a:latin typeface="方正综艺简体" panose="02010601030101010101" pitchFamily="2" charset="-122"/>
                <a:ea typeface="方正综艺简体" panose="02010601030101010101" pitchFamily="2" charset="-122"/>
              </a:rPr>
              <a:t>ADD YOUR TITLE</a:t>
            </a:r>
            <a:endParaRPr lang="zh-CN" altLang="en-US" sz="3200" b="1">
              <a:solidFill>
                <a:srgbClr val="1D4251"/>
              </a:solidFill>
              <a:latin typeface="方正综艺简体" panose="02010601030101010101" pitchFamily="2" charset="-122"/>
              <a:ea typeface="方正综艺简体" panose="02010601030101010101" pitchFamily="2" charset="-122"/>
            </a:endParaRPr>
          </a:p>
        </p:txBody>
      </p:sp>
      <p:sp>
        <p:nvSpPr>
          <p:cNvPr id="4" name="箭头: V 形 7"/>
          <p:cNvSpPr/>
          <p:nvPr userDrawn="1"/>
        </p:nvSpPr>
        <p:spPr>
          <a:xfrm>
            <a:off x="231580" y="208641"/>
            <a:ext cx="425996" cy="425996"/>
          </a:xfrm>
          <a:prstGeom prst="chevron">
            <a:avLst/>
          </a:prstGeom>
          <a:solidFill>
            <a:srgbClr val="1D42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4" presetClass="entr" presetSubtype="10" fill="hold" grpId="0" nodeType="withEffect">
                                  <p:stCondLst>
                                    <p:cond delay="75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t="14797" b="-1"/>
          <a:stretch/>
        </p:blipFill>
        <p:spPr>
          <a:xfrm>
            <a:off x="-1" y="-88899"/>
            <a:ext cx="12230101" cy="6946900"/>
          </a:xfrm>
          <a:prstGeom prst="rect">
            <a:avLst/>
          </a:prstGeom>
        </p:spPr>
      </p:pic>
      <p:sp>
        <p:nvSpPr>
          <p:cNvPr id="4" name="矩形 3"/>
          <p:cNvSpPr/>
          <p:nvPr userDrawn="1"/>
        </p:nvSpPr>
        <p:spPr>
          <a:xfrm>
            <a:off x="-1" y="-88899"/>
            <a:ext cx="12230101" cy="6946899"/>
          </a:xfrm>
          <a:prstGeom prst="rect">
            <a:avLst/>
          </a:prstGeom>
          <a:solidFill>
            <a:schemeClr val="tx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6849016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2627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本框 6"/>
          <p:cNvSpPr txBox="1"/>
          <p:nvPr userDrawn="1"/>
        </p:nvSpPr>
        <p:spPr>
          <a:xfrm>
            <a:off x="4318000" y="2971799"/>
            <a:ext cx="3556000" cy="230704"/>
          </a:xfrm>
          <a:prstGeom prst="rect">
            <a:avLst/>
          </a:prstGeom>
          <a:noFill/>
        </p:spPr>
        <p:txBody>
          <a:bodyPr wrap="square" rtlCol="0">
            <a:spAutoFit/>
          </a:bodyPr>
          <a:lstStyle/>
          <a:p>
            <a:r>
              <a:rPr lang="zh-CN" altLang="en-US" sz="300">
                <a:solidFill>
                  <a:schemeClr val="bg1"/>
                </a:solidFill>
                <a:latin typeface="微软雅黑" panose="020B0503020204020204" pitchFamily="34" charset="-122"/>
                <a:ea typeface="微软雅黑" panose="020B0503020204020204" pitchFamily="34" charset="-122"/>
                <a:sym typeface="+mn-ea"/>
              </a:rPr>
              <a:t>感谢您下载包图网平台上提供的</a:t>
            </a:r>
            <a:r>
              <a:rPr lang="en-US" altLang="zh-CN" sz="300">
                <a:solidFill>
                  <a:schemeClr val="bg1"/>
                </a:solidFill>
                <a:latin typeface="微软雅黑" panose="020B0503020204020204" pitchFamily="34" charset="-122"/>
                <a:ea typeface="微软雅黑" panose="020B0503020204020204" pitchFamily="34" charset="-122"/>
                <a:sym typeface="+mn-ea"/>
              </a:rPr>
              <a:t>PPT</a:t>
            </a:r>
            <a:r>
              <a:rPr lang="zh-CN" altLang="en-US" sz="300">
                <a:solidFill>
                  <a:schemeClr val="bg1"/>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599">
                <a:solidFill>
                  <a:schemeClr val="bg1"/>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xStyles>
    <p:titleStyle>
      <a:lvl1pPr algn="l" defTabSz="914380" rtl="0" eaLnBrk="1" latinLnBrk="0" hangingPunct="1">
        <a:lnSpc>
          <a:spcPct val="90000"/>
        </a:lnSpc>
        <a:spcBef>
          <a:spcPct val="0"/>
        </a:spcBef>
        <a:buNone/>
        <a:defRPr sz="4401" kern="1200">
          <a:solidFill>
            <a:schemeClr val="tx1"/>
          </a:solidFill>
          <a:latin typeface="+mj-lt"/>
          <a:ea typeface="+mj-ea"/>
          <a:cs typeface="+mj-cs"/>
        </a:defRPr>
      </a:lvl1pPr>
    </p:titleStyle>
    <p:bodyStyle>
      <a:lvl1pPr marL="228595" indent="-228595" algn="l" defTabSz="914380" rtl="0" eaLnBrk="1" latinLnBrk="0" hangingPunct="1">
        <a:lnSpc>
          <a:spcPct val="90000"/>
        </a:lnSpc>
        <a:spcBef>
          <a:spcPts val="999"/>
        </a:spcBef>
        <a:buFont typeface="Arial" panose="020B0604020202020204" pitchFamily="34" charset="0"/>
        <a:buChar char="•"/>
        <a:defRPr sz="2800" kern="1200">
          <a:solidFill>
            <a:schemeClr val="tx1"/>
          </a:solidFill>
          <a:latin typeface="+mn-lt"/>
          <a:ea typeface="+mn-ea"/>
          <a:cs typeface="+mn-cs"/>
        </a:defRPr>
      </a:lvl1pPr>
      <a:lvl2pPr marL="685785" indent="-228595" algn="l" defTabSz="91438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4" indent="-228595" algn="l" defTabSz="91438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4"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56"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44"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34"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25"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15" indent="-228595" algn="l" defTabSz="91438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0" rtl="0" eaLnBrk="1" latinLnBrk="0" hangingPunct="1">
        <a:defRPr sz="1800" kern="1200">
          <a:solidFill>
            <a:schemeClr val="tx1"/>
          </a:solidFill>
          <a:latin typeface="+mn-lt"/>
          <a:ea typeface="+mn-ea"/>
          <a:cs typeface="+mn-cs"/>
        </a:defRPr>
      </a:lvl1pPr>
      <a:lvl2pPr marL="457190" algn="l" defTabSz="914380" rtl="0" eaLnBrk="1" latinLnBrk="0" hangingPunct="1">
        <a:defRPr sz="1800" kern="1200">
          <a:solidFill>
            <a:schemeClr val="tx1"/>
          </a:solidFill>
          <a:latin typeface="+mn-lt"/>
          <a:ea typeface="+mn-ea"/>
          <a:cs typeface="+mn-cs"/>
        </a:defRPr>
      </a:lvl2pPr>
      <a:lvl3pPr marL="914380" algn="l" defTabSz="914380" rtl="0" eaLnBrk="1" latinLnBrk="0" hangingPunct="1">
        <a:defRPr sz="1800" kern="1200">
          <a:solidFill>
            <a:schemeClr val="tx1"/>
          </a:solidFill>
          <a:latin typeface="+mn-lt"/>
          <a:ea typeface="+mn-ea"/>
          <a:cs typeface="+mn-cs"/>
        </a:defRPr>
      </a:lvl3pPr>
      <a:lvl4pPr marL="1371570" algn="l" defTabSz="914380" rtl="0" eaLnBrk="1" latinLnBrk="0" hangingPunct="1">
        <a:defRPr sz="1800" kern="1200">
          <a:solidFill>
            <a:schemeClr val="tx1"/>
          </a:solidFill>
          <a:latin typeface="+mn-lt"/>
          <a:ea typeface="+mn-ea"/>
          <a:cs typeface="+mn-cs"/>
        </a:defRPr>
      </a:lvl4pPr>
      <a:lvl5pPr marL="1828759" algn="l" defTabSz="914380" rtl="0" eaLnBrk="1" latinLnBrk="0" hangingPunct="1">
        <a:defRPr sz="1800" kern="1200">
          <a:solidFill>
            <a:schemeClr val="tx1"/>
          </a:solidFill>
          <a:latin typeface="+mn-lt"/>
          <a:ea typeface="+mn-ea"/>
          <a:cs typeface="+mn-cs"/>
        </a:defRPr>
      </a:lvl5pPr>
      <a:lvl6pPr marL="2285949" algn="l" defTabSz="914380" rtl="0" eaLnBrk="1" latinLnBrk="0" hangingPunct="1">
        <a:defRPr sz="1800" kern="1200">
          <a:solidFill>
            <a:schemeClr val="tx1"/>
          </a:solidFill>
          <a:latin typeface="+mn-lt"/>
          <a:ea typeface="+mn-ea"/>
          <a:cs typeface="+mn-cs"/>
        </a:defRPr>
      </a:lvl6pPr>
      <a:lvl7pPr marL="2743139" algn="l" defTabSz="914380" rtl="0" eaLnBrk="1" latinLnBrk="0" hangingPunct="1">
        <a:defRPr sz="1800" kern="1200">
          <a:solidFill>
            <a:schemeClr val="tx1"/>
          </a:solidFill>
          <a:latin typeface="+mn-lt"/>
          <a:ea typeface="+mn-ea"/>
          <a:cs typeface="+mn-cs"/>
        </a:defRPr>
      </a:lvl7pPr>
      <a:lvl8pPr marL="3200330" algn="l" defTabSz="914380" rtl="0" eaLnBrk="1" latinLnBrk="0" hangingPunct="1">
        <a:defRPr sz="1800" kern="1200">
          <a:solidFill>
            <a:schemeClr val="tx1"/>
          </a:solidFill>
          <a:latin typeface="+mn-lt"/>
          <a:ea typeface="+mn-ea"/>
          <a:cs typeface="+mn-cs"/>
        </a:defRPr>
      </a:lvl8pPr>
      <a:lvl9pPr marL="3657518" algn="l" defTabSz="91438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6.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6.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1.jpg"/><Relationship Id="rId5" Type="http://schemas.openxmlformats.org/officeDocument/2006/relationships/image" Target="../media/image6.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6.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6.sv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2">
            <a:extLst>
              <a:ext uri="{FF2B5EF4-FFF2-40B4-BE49-F238E27FC236}">
                <a16:creationId xmlns:a16="http://schemas.microsoft.com/office/drawing/2014/main" id="{BC7AAF89-344A-2020-44F3-8D0C81A2414E}"/>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7" name="Freeform 6">
            <a:extLst>
              <a:ext uri="{FF2B5EF4-FFF2-40B4-BE49-F238E27FC236}">
                <a16:creationId xmlns:a16="http://schemas.microsoft.com/office/drawing/2014/main" id="{D668DB32-AE99-4915-F798-22168DD50A90}"/>
              </a:ext>
            </a:extLst>
          </p:cNvPr>
          <p:cNvSpPr>
            <a:spLocks/>
          </p:cNvSpPr>
          <p:nvPr/>
        </p:nvSpPr>
        <p:spPr>
          <a:xfrm>
            <a:off x="-1624" y="5825090"/>
            <a:ext cx="6002374" cy="1032909"/>
          </a:xfrm>
          <a:custGeom>
            <a:avLst/>
            <a:gdLst/>
            <a:ahLst/>
            <a:cxnLst/>
            <a:rect l="l" t="t" r="r" b="b"/>
            <a:pathLst>
              <a:path w="7315200" h="1258824">
                <a:moveTo>
                  <a:pt x="0" y="0"/>
                </a:moveTo>
                <a:lnTo>
                  <a:pt x="7315200" y="0"/>
                </a:lnTo>
                <a:lnTo>
                  <a:pt x="7315200" y="1258824"/>
                </a:lnTo>
                <a:lnTo>
                  <a:pt x="0" y="1258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Rectangle 12">
            <a:extLst>
              <a:ext uri="{FF2B5EF4-FFF2-40B4-BE49-F238E27FC236}">
                <a16:creationId xmlns:a16="http://schemas.microsoft.com/office/drawing/2014/main" id="{A6904C01-09BB-323D-7A2B-0C4441CC0832}"/>
              </a:ext>
            </a:extLst>
          </p:cNvPr>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0F8B69C-E0A1-32BB-B466-05D3119C171F}"/>
              </a:ext>
            </a:extLst>
          </p:cNvPr>
          <p:cNvSpPr txBox="1"/>
          <p:nvPr/>
        </p:nvSpPr>
        <p:spPr>
          <a:xfrm>
            <a:off x="3073400" y="1332133"/>
            <a:ext cx="6045200" cy="1077218"/>
          </a:xfrm>
          <a:prstGeom prst="rect">
            <a:avLst/>
          </a:prstGeom>
          <a:noFill/>
        </p:spPr>
        <p:txBody>
          <a:bodyPr wrap="square" rtlCol="0">
            <a:spAutoFit/>
          </a:bodyPr>
          <a:lstStyle/>
          <a:p>
            <a:pPr algn="ctr"/>
            <a:r>
              <a:rPr lang="en-US" sz="3200" b="1">
                <a:solidFill>
                  <a:srgbClr val="002060"/>
                </a:solidFill>
                <a:latin typeface="Times New Roman" panose="02020603050405020304" pitchFamily="18" charset="0"/>
                <a:cs typeface="Times New Roman" panose="02020603050405020304" pitchFamily="18" charset="0"/>
              </a:rPr>
              <a:t>BÁO </a:t>
            </a:r>
            <a:r>
              <a:rPr lang="en-US" sz="3200" b="1" dirty="0">
                <a:solidFill>
                  <a:srgbClr val="002060"/>
                </a:solidFill>
                <a:latin typeface="Times New Roman" panose="02020603050405020304" pitchFamily="18" charset="0"/>
                <a:cs typeface="Times New Roman" panose="02020603050405020304" pitchFamily="18" charset="0"/>
              </a:rPr>
              <a:t>CÁO</a:t>
            </a:r>
          </a:p>
          <a:p>
            <a:pPr algn="ctr"/>
            <a:r>
              <a:rPr lang="en-US" sz="3200" b="1" dirty="0">
                <a:solidFill>
                  <a:srgbClr val="002060"/>
                </a:solidFill>
                <a:latin typeface="Times New Roman" panose="02020603050405020304" pitchFamily="18" charset="0"/>
                <a:cs typeface="Times New Roman" panose="02020603050405020304" pitchFamily="18" charset="0"/>
              </a:rPr>
              <a:t>ĐỀ ÁN TỐT NGHIỆP </a:t>
            </a:r>
            <a:r>
              <a:rPr lang="en-US" sz="3200" b="1">
                <a:solidFill>
                  <a:srgbClr val="002060"/>
                </a:solidFill>
                <a:latin typeface="Times New Roman" panose="02020603050405020304" pitchFamily="18" charset="0"/>
                <a:cs typeface="Times New Roman" panose="02020603050405020304" pitchFamily="18" charset="0"/>
              </a:rPr>
              <a:t>THẠC SĨ</a:t>
            </a:r>
            <a:endParaRPr lang="en-US" sz="2400" i="1" dirty="0">
              <a:solidFill>
                <a:srgbClr val="002060"/>
              </a:solidFill>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8E559AA5-A42F-1797-FF54-8A08EDA8BEA6}"/>
              </a:ext>
            </a:extLst>
          </p:cNvPr>
          <p:cNvGrpSpPr>
            <a:grpSpLocks noGrp="1" noUngrp="1" noRot="1" noMove="1" noResize="1"/>
          </p:cNvGrpSpPr>
          <p:nvPr/>
        </p:nvGrpSpPr>
        <p:grpSpPr>
          <a:xfrm>
            <a:off x="3528562" y="140857"/>
            <a:ext cx="4913663" cy="869156"/>
            <a:chOff x="3565641" y="140857"/>
            <a:chExt cx="4913663" cy="869156"/>
          </a:xfrm>
        </p:grpSpPr>
        <p:pic>
          <p:nvPicPr>
            <p:cNvPr id="10" name="Picture 9">
              <a:extLst>
                <a:ext uri="{FF2B5EF4-FFF2-40B4-BE49-F238E27FC236}">
                  <a16:creationId xmlns:a16="http://schemas.microsoft.com/office/drawing/2014/main" id="{3FA393C1-F402-701F-475A-1C5A777AF828}"/>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a:off x="3565641" y="140857"/>
              <a:ext cx="869156" cy="869156"/>
            </a:xfrm>
            <a:prstGeom prst="rect">
              <a:avLst/>
            </a:prstGeom>
          </p:spPr>
        </p:pic>
        <p:sp>
          <p:nvSpPr>
            <p:cNvPr id="14" name="TextBox 13">
              <a:extLst>
                <a:ext uri="{FF2B5EF4-FFF2-40B4-BE49-F238E27FC236}">
                  <a16:creationId xmlns:a16="http://schemas.microsoft.com/office/drawing/2014/main" id="{0E5B6E6E-AAF7-A0C8-E59C-0A0AA06D8D3B}"/>
                </a:ext>
              </a:extLst>
            </p:cNvPr>
            <p:cNvSpPr txBox="1">
              <a:spLocks noGrp="1" noRot="1" noMove="1" noResize="1" noEditPoints="1" noAdjustHandles="1" noChangeArrowheads="1" noChangeShapeType="1"/>
            </p:cNvSpPr>
            <p:nvPr/>
          </p:nvSpPr>
          <p:spPr>
            <a:xfrm>
              <a:off x="4524375" y="252270"/>
              <a:ext cx="3954929" cy="646331"/>
            </a:xfrm>
            <a:prstGeom prst="rect">
              <a:avLst/>
            </a:prstGeom>
            <a:noFill/>
          </p:spPr>
          <p:txBody>
            <a:bodyPr wrap="none" rtlCol="0">
              <a:spAutoFit/>
            </a:bodyPr>
            <a:lstStyle/>
            <a:p>
              <a:r>
                <a:rPr lang="en-US" b="1" spc="100">
                  <a:ln w="6350">
                    <a:solidFill>
                      <a:schemeClr val="bg1"/>
                    </a:solidFill>
                  </a:ln>
                  <a:solidFill>
                    <a:srgbClr val="193769"/>
                  </a:solidFill>
                  <a:latin typeface="#9Slide03 SVNNeutraface 2" panose="02000600040000020004" pitchFamily="2" charset="0"/>
                  <a:cs typeface="Times New Roman" panose="02020603050405020304" pitchFamily="18" charset="0"/>
                </a:rPr>
                <a:t>ĐẠI HỌC CÔNG NGHIỆP HÀ NỘI</a:t>
              </a:r>
            </a:p>
            <a:p>
              <a:r>
                <a:rPr lang="en-US" b="1">
                  <a:ln w="6350">
                    <a:solidFill>
                      <a:schemeClr val="bg1"/>
                    </a:solidFill>
                  </a:ln>
                  <a:solidFill>
                    <a:srgbClr val="FF0000"/>
                  </a:solidFill>
                  <a:latin typeface="#9Slide03 SVNNeutraface 2" panose="02000600040000020004" pitchFamily="2" charset="0"/>
                  <a:cs typeface="Times New Roman" panose="02020603050405020304" pitchFamily="18" charset="0"/>
                </a:rPr>
                <a:t>HANOI UNIVERSITY OF INDUSTRY</a:t>
              </a:r>
            </a:p>
          </p:txBody>
        </p:sp>
      </p:grpSp>
      <p:sp>
        <p:nvSpPr>
          <p:cNvPr id="2" name="TextBox 1">
            <a:extLst>
              <a:ext uri="{FF2B5EF4-FFF2-40B4-BE49-F238E27FC236}">
                <a16:creationId xmlns:a16="http://schemas.microsoft.com/office/drawing/2014/main" id="{5C241131-DEFE-4DFB-F827-1AC848D02B18}"/>
              </a:ext>
            </a:extLst>
          </p:cNvPr>
          <p:cNvSpPr txBox="1"/>
          <p:nvPr/>
        </p:nvSpPr>
        <p:spPr>
          <a:xfrm>
            <a:off x="1496450" y="2632768"/>
            <a:ext cx="9199101" cy="2277547"/>
          </a:xfrm>
          <a:prstGeom prst="rect">
            <a:avLst/>
          </a:prstGeom>
          <a:noFill/>
        </p:spPr>
        <p:txBody>
          <a:bodyPr wrap="square" rtlCol="0">
            <a:spAutoFit/>
          </a:bodyPr>
          <a:lstStyle/>
          <a:p>
            <a:pPr algn="just">
              <a:spcBef>
                <a:spcPts val="600"/>
              </a:spcBef>
              <a:spcAft>
                <a:spcPts val="600"/>
              </a:spcAft>
              <a:defRPr/>
            </a:pPr>
            <a:r>
              <a:rPr lang="en-US" sz="2800" b="1">
                <a:solidFill>
                  <a:srgbClr val="002060"/>
                </a:solidFill>
                <a:latin typeface="Times New Roman" panose="02020603050405020304" pitchFamily="18" charset="0"/>
                <a:cs typeface="Times New Roman" panose="02020603050405020304" pitchFamily="18" charset="0"/>
              </a:rPr>
              <a:t>Tên đề tài: </a:t>
            </a:r>
            <a:r>
              <a:rPr lang="en-US" altLang="zh-CN" sz="2800">
                <a:latin typeface="Times New Roman" panose="02020603050405020304" pitchFamily="18" charset="0"/>
                <a:cs typeface="Times New Roman" panose="02020603050405020304" pitchFamily="18" charset="0"/>
                <a:sym typeface="+mn-lt"/>
              </a:rPr>
              <a:t>Nghiên cứu ứng dụng một số phương pháp học sâu </a:t>
            </a:r>
          </a:p>
          <a:p>
            <a:pPr algn="just">
              <a:spcBef>
                <a:spcPts val="600"/>
              </a:spcBef>
              <a:spcAft>
                <a:spcPts val="600"/>
              </a:spcAft>
              <a:defRPr/>
            </a:pPr>
            <a:r>
              <a:rPr lang="en-US" altLang="zh-CN" sz="2800">
                <a:latin typeface="Times New Roman" panose="02020603050405020304" pitchFamily="18" charset="0"/>
                <a:cs typeface="Times New Roman" panose="02020603050405020304" pitchFamily="18" charset="0"/>
                <a:sym typeface="+mn-lt"/>
              </a:rPr>
              <a:t>			    trong dự đoán quan hệ giữa thảo dược và bệnh</a:t>
            </a:r>
            <a:endParaRPr lang="en-US" altLang="zh-CN" sz="2800" b="1">
              <a:solidFill>
                <a:schemeClr val="accent2"/>
              </a:solidFill>
              <a:latin typeface="Times New Roman" panose="02020603050405020304" pitchFamily="18" charset="0"/>
              <a:cs typeface="Times New Roman" panose="02020603050405020304" pitchFamily="18" charset="0"/>
              <a:sym typeface="+mn-lt"/>
            </a:endParaRPr>
          </a:p>
          <a:p>
            <a:pPr algn="just">
              <a:spcBef>
                <a:spcPts val="600"/>
              </a:spcBef>
              <a:spcAft>
                <a:spcPts val="600"/>
              </a:spcAft>
              <a:defRPr/>
            </a:pPr>
            <a:r>
              <a:rPr lang="en-US" sz="2800" b="1">
                <a:solidFill>
                  <a:srgbClr val="002060"/>
                </a:solidFill>
                <a:latin typeface="Times New Roman" panose="02020603050405020304" pitchFamily="18" charset="0"/>
                <a:cs typeface="Times New Roman" panose="02020603050405020304" pitchFamily="18" charset="0"/>
              </a:rPr>
              <a:t>Học viên: TRỊNH SỸ TỚI</a:t>
            </a:r>
          </a:p>
          <a:p>
            <a:pPr algn="just">
              <a:spcBef>
                <a:spcPts val="600"/>
              </a:spcBef>
              <a:spcAft>
                <a:spcPts val="600"/>
              </a:spcAft>
              <a:defRPr/>
            </a:pPr>
            <a:r>
              <a:rPr lang="en-US" sz="2800" b="1">
                <a:solidFill>
                  <a:srgbClr val="002060"/>
                </a:solidFill>
                <a:latin typeface="Times New Roman" panose="02020603050405020304" pitchFamily="18" charset="0"/>
                <a:cs typeface="Times New Roman" panose="02020603050405020304" pitchFamily="18" charset="0"/>
              </a:rPr>
              <a:t>Người hướng dẫn: TS. NGUYỄN VĂN TỈNH</a:t>
            </a:r>
            <a:endParaRPr lang="en-US" sz="2800">
              <a:solidFill>
                <a:srgbClr val="002060"/>
              </a:solidFill>
            </a:endParaRPr>
          </a:p>
        </p:txBody>
      </p:sp>
      <p:sp>
        <p:nvSpPr>
          <p:cNvPr id="3" name="TextBox 2">
            <a:extLst>
              <a:ext uri="{FF2B5EF4-FFF2-40B4-BE49-F238E27FC236}">
                <a16:creationId xmlns:a16="http://schemas.microsoft.com/office/drawing/2014/main" id="{CE934726-2551-4699-F907-D450095A2FFC}"/>
              </a:ext>
            </a:extLst>
          </p:cNvPr>
          <p:cNvSpPr txBox="1"/>
          <p:nvPr/>
        </p:nvSpPr>
        <p:spPr>
          <a:xfrm>
            <a:off x="7450221" y="5069317"/>
            <a:ext cx="3557384" cy="369332"/>
          </a:xfrm>
          <a:prstGeom prst="rect">
            <a:avLst/>
          </a:prstGeom>
          <a:noFill/>
        </p:spPr>
        <p:txBody>
          <a:bodyPr wrap="none" rtlCol="0">
            <a:spAutoFit/>
          </a:bodyPr>
          <a:lstStyle/>
          <a:p>
            <a:pPr algn="ctr"/>
            <a:r>
              <a:rPr lang="en-US" i="1">
                <a:solidFill>
                  <a:srgbClr val="002060"/>
                </a:solidFill>
                <a:latin typeface="Times New Roman" panose="02020603050405020304" pitchFamily="18" charset="0"/>
                <a:cs typeface="Times New Roman" panose="02020603050405020304" pitchFamily="18" charset="0"/>
              </a:rPr>
              <a:t>Hà Nội, ngày 01 tháng 06 năm 2026</a:t>
            </a:r>
            <a:endParaRPr lang="en-US"/>
          </a:p>
        </p:txBody>
      </p:sp>
      <p:sp>
        <p:nvSpPr>
          <p:cNvPr id="4" name="TextBox 3">
            <a:extLst>
              <a:ext uri="{FF2B5EF4-FFF2-40B4-BE49-F238E27FC236}">
                <a16:creationId xmlns:a16="http://schemas.microsoft.com/office/drawing/2014/main" id="{EC5B2AB5-98A8-92F6-FEC5-6AEC3EDAA226}"/>
              </a:ext>
            </a:extLst>
          </p:cNvPr>
          <p:cNvSpPr txBox="1"/>
          <p:nvPr/>
        </p:nvSpPr>
        <p:spPr>
          <a:xfrm>
            <a:off x="11840443" y="6533145"/>
            <a:ext cx="263214" cy="261610"/>
          </a:xfrm>
          <a:prstGeom prst="rect">
            <a:avLst/>
          </a:prstGeom>
          <a:noFill/>
        </p:spPr>
        <p:txBody>
          <a:bodyPr wrap="none" rtlCol="0">
            <a:spAutoFit/>
          </a:bodyPr>
          <a:lstStyle/>
          <a:p>
            <a:pPr algn="ctr"/>
            <a:r>
              <a:rPr lang="en-US" sz="1100"/>
              <a:t>1</a:t>
            </a:r>
          </a:p>
        </p:txBody>
      </p:sp>
    </p:spTree>
    <p:extLst>
      <p:ext uri="{BB962C8B-B14F-4D97-AF65-F5344CB8AC3E}">
        <p14:creationId xmlns:p14="http://schemas.microsoft.com/office/powerpoint/2010/main" val="2138342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2">
            <a:extLst>
              <a:ext uri="{FF2B5EF4-FFF2-40B4-BE49-F238E27FC236}">
                <a16:creationId xmlns:a16="http://schemas.microsoft.com/office/drawing/2014/main" id="{49A53413-C42D-093A-2B90-7597EF2FDCD1}"/>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AD61D1BC-A0C5-D92D-D454-E729E08E0753}"/>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8E50767-7F8C-3155-7CBC-AC090F4360A4}"/>
              </a:ext>
            </a:extLst>
          </p:cNvPr>
          <p:cNvGrpSpPr/>
          <p:nvPr/>
        </p:nvGrpSpPr>
        <p:grpSpPr>
          <a:xfrm>
            <a:off x="1127166" y="4711956"/>
            <a:ext cx="4409473" cy="456529"/>
            <a:chOff x="5904686" y="1138072"/>
            <a:chExt cx="4717143" cy="768743"/>
          </a:xfrm>
        </p:grpSpPr>
        <p:sp>
          <p:nvSpPr>
            <p:cNvPr id="2" name="流程图: 离页连接符 1"/>
            <p:cNvSpPr/>
            <p:nvPr/>
          </p:nvSpPr>
          <p:spPr>
            <a:xfrm>
              <a:off x="5904686" y="1181101"/>
              <a:ext cx="778668" cy="725714"/>
            </a:xfrm>
            <a:prstGeom prst="flowChartOffpageConnector">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ctr" anchorCtr="0" forceAA="0" compatLnSpc="1">
              <a:prstTxWarp prst="textNoShape">
                <a:avLst/>
              </a:prstTxWarp>
              <a:noAutofit/>
            </a:bodyPr>
            <a:lstStyle/>
            <a:p>
              <a:pPr algn="ctr"/>
              <a:r>
                <a:rPr lang="en-US" altLang="zh-CN" sz="2400" spc="100">
                  <a:cs typeface="+mn-ea"/>
                  <a:sym typeface="+mn-lt"/>
                </a:rPr>
                <a:t>01</a:t>
              </a:r>
              <a:endParaRPr lang="zh-CN" altLang="en-US" sz="2400" spc="100">
                <a:cs typeface="+mn-ea"/>
                <a:sym typeface="+mn-lt"/>
              </a:endParaRPr>
            </a:p>
          </p:txBody>
        </p:sp>
        <p:sp>
          <p:nvSpPr>
            <p:cNvPr id="3" name="文本框 2"/>
            <p:cNvSpPr txBox="1"/>
            <p:nvPr/>
          </p:nvSpPr>
          <p:spPr>
            <a:xfrm>
              <a:off x="7034347" y="1138072"/>
              <a:ext cx="3292860" cy="673739"/>
            </a:xfrm>
            <a:prstGeom prst="rect">
              <a:avLst/>
            </a:prstGeom>
            <a:noFill/>
          </p:spPr>
          <p:txBody>
            <a:bodyPr wrap="none" rtlCol="0">
              <a:spAutoFit/>
            </a:bodyPr>
            <a:lstStyle/>
            <a:p>
              <a:r>
                <a:rPr lang="en-US" altLang="zh-CN" sz="2000" b="1">
                  <a:solidFill>
                    <a:srgbClr val="4F81BD"/>
                  </a:solidFill>
                  <a:cs typeface="+mn-ea"/>
                  <a:sym typeface="+mn-lt"/>
                </a:rPr>
                <a:t>TỔNG QUAN VỀ ĐỀ TÀI</a:t>
              </a:r>
              <a:endParaRPr lang="zh-CN" altLang="en-US" sz="2000" b="1">
                <a:solidFill>
                  <a:srgbClr val="4F81BD"/>
                </a:solidFill>
                <a:cs typeface="+mn-ea"/>
                <a:sym typeface="+mn-lt"/>
              </a:endParaRPr>
            </a:p>
          </p:txBody>
        </p:sp>
        <p:cxnSp>
          <p:nvCxnSpPr>
            <p:cNvPr id="4" name="直接连接符 3"/>
            <p:cNvCxnSpPr>
              <a:cxnSpLocks/>
            </p:cNvCxnSpPr>
            <p:nvPr/>
          </p:nvCxnSpPr>
          <p:spPr>
            <a:xfrm>
              <a:off x="6853372" y="1770744"/>
              <a:ext cx="3768457" cy="0"/>
            </a:xfrm>
            <a:prstGeom prst="line">
              <a:avLst/>
            </a:prstGeom>
            <a:ln>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440BB576-6850-B44C-328F-CFB07BE7F62B}"/>
              </a:ext>
            </a:extLst>
          </p:cNvPr>
          <p:cNvGrpSpPr/>
          <p:nvPr/>
        </p:nvGrpSpPr>
        <p:grpSpPr>
          <a:xfrm>
            <a:off x="1127166" y="5436591"/>
            <a:ext cx="4533214" cy="456529"/>
            <a:chOff x="5904686" y="2139558"/>
            <a:chExt cx="4849518" cy="768743"/>
          </a:xfrm>
        </p:grpSpPr>
        <p:sp>
          <p:nvSpPr>
            <p:cNvPr id="5" name="流程图: 离页连接符 4"/>
            <p:cNvSpPr/>
            <p:nvPr/>
          </p:nvSpPr>
          <p:spPr>
            <a:xfrm>
              <a:off x="5904686" y="2182587"/>
              <a:ext cx="778668" cy="725714"/>
            </a:xfrm>
            <a:prstGeom prst="flowChartOffpageConnector">
              <a:avLst/>
            </a:prstGeom>
            <a:solidFill>
              <a:srgbClr val="1D42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ctr" anchorCtr="0" forceAA="0" compatLnSpc="1">
              <a:prstTxWarp prst="textNoShape">
                <a:avLst/>
              </a:prstTxWarp>
              <a:noAutofit/>
            </a:bodyPr>
            <a:lstStyle/>
            <a:p>
              <a:pPr algn="ctr"/>
              <a:r>
                <a:rPr lang="en-US" altLang="zh-CN" sz="2400">
                  <a:solidFill>
                    <a:schemeClr val="bg1"/>
                  </a:solidFill>
                  <a:cs typeface="+mn-ea"/>
                  <a:sym typeface="+mn-lt"/>
                </a:rPr>
                <a:t>02</a:t>
              </a:r>
              <a:endParaRPr lang="zh-CN" altLang="en-US" sz="2400">
                <a:solidFill>
                  <a:schemeClr val="bg1"/>
                </a:solidFill>
                <a:cs typeface="+mn-ea"/>
                <a:sym typeface="+mn-lt"/>
              </a:endParaRPr>
            </a:p>
          </p:txBody>
        </p:sp>
        <p:sp>
          <p:nvSpPr>
            <p:cNvPr id="6" name="文本框 5"/>
            <p:cNvSpPr txBox="1"/>
            <p:nvPr/>
          </p:nvSpPr>
          <p:spPr>
            <a:xfrm>
              <a:off x="7034347" y="2139558"/>
              <a:ext cx="3719857" cy="673739"/>
            </a:xfrm>
            <a:prstGeom prst="rect">
              <a:avLst/>
            </a:prstGeom>
            <a:noFill/>
          </p:spPr>
          <p:txBody>
            <a:bodyPr wrap="none" rtlCol="0">
              <a:spAutoFit/>
            </a:bodyPr>
            <a:lstStyle/>
            <a:p>
              <a:r>
                <a:rPr lang="en-US" altLang="zh-CN" sz="2000" b="1">
                  <a:solidFill>
                    <a:srgbClr val="1D4251"/>
                  </a:solidFill>
                  <a:cs typeface="+mn-ea"/>
                  <a:sym typeface="+mn-lt"/>
                </a:rPr>
                <a:t>TỔNG QUAN NGHIÊN CỨU</a:t>
              </a:r>
              <a:endParaRPr lang="zh-CN" altLang="en-US" sz="2000" b="1">
                <a:solidFill>
                  <a:srgbClr val="1D4251"/>
                </a:solidFill>
                <a:cs typeface="+mn-ea"/>
                <a:sym typeface="+mn-lt"/>
              </a:endParaRPr>
            </a:p>
          </p:txBody>
        </p:sp>
        <p:cxnSp>
          <p:nvCxnSpPr>
            <p:cNvPr id="7" name="直接连接符 6"/>
            <p:cNvCxnSpPr>
              <a:cxnSpLocks/>
            </p:cNvCxnSpPr>
            <p:nvPr/>
          </p:nvCxnSpPr>
          <p:spPr>
            <a:xfrm>
              <a:off x="6853372" y="2772230"/>
              <a:ext cx="3768457" cy="0"/>
            </a:xfrm>
            <a:prstGeom prst="line">
              <a:avLst/>
            </a:prstGeom>
            <a:ln>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B2DE78A0-80B0-81FF-4589-87541328B447}"/>
              </a:ext>
            </a:extLst>
          </p:cNvPr>
          <p:cNvGrpSpPr/>
          <p:nvPr/>
        </p:nvGrpSpPr>
        <p:grpSpPr>
          <a:xfrm>
            <a:off x="6525745" y="4711956"/>
            <a:ext cx="4752826" cy="456529"/>
            <a:chOff x="5904686" y="3141044"/>
            <a:chExt cx="5084454" cy="768743"/>
          </a:xfrm>
        </p:grpSpPr>
        <p:sp>
          <p:nvSpPr>
            <p:cNvPr id="8" name="流程图: 离页连接符 7"/>
            <p:cNvSpPr/>
            <p:nvPr/>
          </p:nvSpPr>
          <p:spPr>
            <a:xfrm>
              <a:off x="5904686" y="3184073"/>
              <a:ext cx="778668" cy="725714"/>
            </a:xfrm>
            <a:prstGeom prst="flowChartOffpageConnector">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ctr" anchorCtr="0" forceAA="0" compatLnSpc="1">
              <a:prstTxWarp prst="textNoShape">
                <a:avLst/>
              </a:prstTxWarp>
              <a:noAutofit/>
            </a:bodyPr>
            <a:lstStyle/>
            <a:p>
              <a:pPr algn="ctr"/>
              <a:r>
                <a:rPr lang="en-US" altLang="zh-CN" sz="2400">
                  <a:cs typeface="+mn-ea"/>
                  <a:sym typeface="+mn-lt"/>
                </a:rPr>
                <a:t>03</a:t>
              </a:r>
              <a:endParaRPr lang="zh-CN" altLang="en-US" sz="2400">
                <a:cs typeface="+mn-ea"/>
                <a:sym typeface="+mn-lt"/>
              </a:endParaRPr>
            </a:p>
          </p:txBody>
        </p:sp>
        <p:sp>
          <p:nvSpPr>
            <p:cNvPr id="9" name="文本框 8"/>
            <p:cNvSpPr txBox="1"/>
            <p:nvPr/>
          </p:nvSpPr>
          <p:spPr>
            <a:xfrm>
              <a:off x="7034347" y="3141044"/>
              <a:ext cx="3954793" cy="673739"/>
            </a:xfrm>
            <a:prstGeom prst="rect">
              <a:avLst/>
            </a:prstGeom>
            <a:noFill/>
          </p:spPr>
          <p:txBody>
            <a:bodyPr wrap="none" rtlCol="0">
              <a:spAutoFit/>
            </a:bodyPr>
            <a:lstStyle/>
            <a:p>
              <a:r>
                <a:rPr lang="en-US" altLang="zh-CN" sz="2000" b="1">
                  <a:solidFill>
                    <a:srgbClr val="4F81BD"/>
                  </a:solidFill>
                  <a:cs typeface="+mn-ea"/>
                  <a:sym typeface="+mn-lt"/>
                </a:rPr>
                <a:t>DỮ LIỆU VÀ PHƯƠNG PHÁP</a:t>
              </a:r>
              <a:endParaRPr lang="zh-CN" altLang="en-US" sz="2000" b="1">
                <a:solidFill>
                  <a:srgbClr val="4F81BD"/>
                </a:solidFill>
                <a:cs typeface="+mn-ea"/>
                <a:sym typeface="+mn-lt"/>
              </a:endParaRPr>
            </a:p>
          </p:txBody>
        </p:sp>
        <p:cxnSp>
          <p:nvCxnSpPr>
            <p:cNvPr id="10" name="直接连接符 9"/>
            <p:cNvCxnSpPr>
              <a:cxnSpLocks/>
            </p:cNvCxnSpPr>
            <p:nvPr/>
          </p:nvCxnSpPr>
          <p:spPr>
            <a:xfrm>
              <a:off x="6853372" y="3773716"/>
              <a:ext cx="3768457" cy="0"/>
            </a:xfrm>
            <a:prstGeom prst="line">
              <a:avLst/>
            </a:prstGeom>
            <a:ln>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E1ED15C1-582D-2FFE-09A3-B71BEA86D08F}"/>
              </a:ext>
            </a:extLst>
          </p:cNvPr>
          <p:cNvGrpSpPr/>
          <p:nvPr/>
        </p:nvGrpSpPr>
        <p:grpSpPr>
          <a:xfrm>
            <a:off x="6525745" y="5436591"/>
            <a:ext cx="4733591" cy="456529"/>
            <a:chOff x="5904686" y="4142530"/>
            <a:chExt cx="5063875" cy="768743"/>
          </a:xfrm>
        </p:grpSpPr>
        <p:sp>
          <p:nvSpPr>
            <p:cNvPr id="11" name="流程图: 离页连接符 10"/>
            <p:cNvSpPr/>
            <p:nvPr/>
          </p:nvSpPr>
          <p:spPr>
            <a:xfrm>
              <a:off x="5904686" y="4185559"/>
              <a:ext cx="778668" cy="725714"/>
            </a:xfrm>
            <a:prstGeom prst="flowChartOffpageConnector">
              <a:avLst/>
            </a:prstGeom>
            <a:solidFill>
              <a:srgbClr val="1D425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ctr" anchorCtr="0" forceAA="0" compatLnSpc="1">
              <a:prstTxWarp prst="textNoShape">
                <a:avLst/>
              </a:prstTxWarp>
              <a:noAutofit/>
            </a:bodyPr>
            <a:lstStyle/>
            <a:p>
              <a:pPr algn="ctr"/>
              <a:r>
                <a:rPr lang="en-US" altLang="zh-CN" sz="2400">
                  <a:solidFill>
                    <a:schemeClr val="bg1"/>
                  </a:solidFill>
                  <a:cs typeface="+mn-ea"/>
                  <a:sym typeface="+mn-lt"/>
                </a:rPr>
                <a:t>04</a:t>
              </a:r>
              <a:endParaRPr lang="zh-CN" altLang="en-US" sz="2400">
                <a:solidFill>
                  <a:schemeClr val="bg1"/>
                </a:solidFill>
                <a:cs typeface="+mn-ea"/>
                <a:sym typeface="+mn-lt"/>
              </a:endParaRPr>
            </a:p>
          </p:txBody>
        </p:sp>
        <p:sp>
          <p:nvSpPr>
            <p:cNvPr id="12" name="文本框 11"/>
            <p:cNvSpPr txBox="1"/>
            <p:nvPr/>
          </p:nvSpPr>
          <p:spPr>
            <a:xfrm>
              <a:off x="7034347" y="4142530"/>
              <a:ext cx="3934214" cy="673739"/>
            </a:xfrm>
            <a:prstGeom prst="rect">
              <a:avLst/>
            </a:prstGeom>
            <a:noFill/>
          </p:spPr>
          <p:txBody>
            <a:bodyPr wrap="none" rtlCol="0">
              <a:spAutoFit/>
            </a:bodyPr>
            <a:lstStyle/>
            <a:p>
              <a:r>
                <a:rPr lang="en-US" altLang="zh-CN" sz="2000" b="1">
                  <a:solidFill>
                    <a:srgbClr val="1D4251"/>
                  </a:solidFill>
                  <a:cs typeface="+mn-ea"/>
                  <a:sym typeface="+mn-lt"/>
                </a:rPr>
                <a:t>THỰC NGHIỆM VÀ KẾT QUẢ</a:t>
              </a:r>
              <a:endParaRPr lang="zh-CN" altLang="en-US" sz="2000" b="1">
                <a:solidFill>
                  <a:srgbClr val="1D4251"/>
                </a:solidFill>
                <a:cs typeface="+mn-ea"/>
                <a:sym typeface="+mn-lt"/>
              </a:endParaRPr>
            </a:p>
          </p:txBody>
        </p:sp>
        <p:cxnSp>
          <p:nvCxnSpPr>
            <p:cNvPr id="13" name="直接连接符 12"/>
            <p:cNvCxnSpPr>
              <a:cxnSpLocks/>
            </p:cNvCxnSpPr>
            <p:nvPr/>
          </p:nvCxnSpPr>
          <p:spPr>
            <a:xfrm>
              <a:off x="6853372" y="4775202"/>
              <a:ext cx="3768457" cy="0"/>
            </a:xfrm>
            <a:prstGeom prst="line">
              <a:avLst/>
            </a:prstGeom>
            <a:ln>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1C92689-6F57-7720-A4FC-993274B0A15B}"/>
              </a:ext>
            </a:extLst>
          </p:cNvPr>
          <p:cNvGrpSpPr/>
          <p:nvPr/>
        </p:nvGrpSpPr>
        <p:grpSpPr>
          <a:xfrm>
            <a:off x="3269143" y="6127880"/>
            <a:ext cx="5653715" cy="456529"/>
            <a:chOff x="5901490" y="5144016"/>
            <a:chExt cx="6048201" cy="768743"/>
          </a:xfrm>
        </p:grpSpPr>
        <p:sp>
          <p:nvSpPr>
            <p:cNvPr id="14" name="流程图: 离页连接符 1">
              <a:extLst>
                <a:ext uri="{FF2B5EF4-FFF2-40B4-BE49-F238E27FC236}">
                  <a16:creationId xmlns:a16="http://schemas.microsoft.com/office/drawing/2014/main" id="{04B20A9F-0FB2-0C5D-2B7B-9AEABEE7B30C}"/>
                </a:ext>
              </a:extLst>
            </p:cNvPr>
            <p:cNvSpPr/>
            <p:nvPr/>
          </p:nvSpPr>
          <p:spPr>
            <a:xfrm>
              <a:off x="5901490" y="5187045"/>
              <a:ext cx="778668" cy="725714"/>
            </a:xfrm>
            <a:prstGeom prst="flowChartOffpageConnector">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72000" rIns="0" bIns="0" numCol="1" spcCol="0" rtlCol="0" fromWordArt="0" anchor="ctr" anchorCtr="0" forceAA="0" compatLnSpc="1">
              <a:prstTxWarp prst="textNoShape">
                <a:avLst/>
              </a:prstTxWarp>
              <a:noAutofit/>
            </a:bodyPr>
            <a:lstStyle/>
            <a:p>
              <a:pPr algn="ctr"/>
              <a:r>
                <a:rPr lang="en-US" altLang="zh-CN" sz="2400" spc="100">
                  <a:cs typeface="+mn-ea"/>
                  <a:sym typeface="+mn-lt"/>
                </a:rPr>
                <a:t>05</a:t>
              </a:r>
              <a:endParaRPr lang="zh-CN" altLang="en-US" sz="2400" spc="100">
                <a:cs typeface="+mn-ea"/>
                <a:sym typeface="+mn-lt"/>
              </a:endParaRPr>
            </a:p>
          </p:txBody>
        </p:sp>
        <p:sp>
          <p:nvSpPr>
            <p:cNvPr id="15" name="文本框 2">
              <a:extLst>
                <a:ext uri="{FF2B5EF4-FFF2-40B4-BE49-F238E27FC236}">
                  <a16:creationId xmlns:a16="http://schemas.microsoft.com/office/drawing/2014/main" id="{5AB58C29-E5C1-3E5C-AF4A-B9D2316DC37A}"/>
                </a:ext>
              </a:extLst>
            </p:cNvPr>
            <p:cNvSpPr txBox="1"/>
            <p:nvPr/>
          </p:nvSpPr>
          <p:spPr>
            <a:xfrm>
              <a:off x="7031151" y="5144016"/>
              <a:ext cx="4918540" cy="673739"/>
            </a:xfrm>
            <a:prstGeom prst="rect">
              <a:avLst/>
            </a:prstGeom>
            <a:noFill/>
          </p:spPr>
          <p:txBody>
            <a:bodyPr wrap="none" rtlCol="0">
              <a:spAutoFit/>
            </a:bodyPr>
            <a:lstStyle/>
            <a:p>
              <a:r>
                <a:rPr lang="en-US" altLang="zh-CN" sz="2000" b="1">
                  <a:solidFill>
                    <a:srgbClr val="4F81BD"/>
                  </a:solidFill>
                  <a:cs typeface="+mn-ea"/>
                  <a:sym typeface="+mn-lt"/>
                </a:rPr>
                <a:t>KẾT LUẬN VÀ HƯỚNG PHÁT TRIỂN</a:t>
              </a:r>
              <a:endParaRPr lang="zh-CN" altLang="en-US" sz="2000" b="1">
                <a:solidFill>
                  <a:srgbClr val="4F81BD"/>
                </a:solidFill>
                <a:cs typeface="+mn-ea"/>
                <a:sym typeface="+mn-lt"/>
              </a:endParaRPr>
            </a:p>
          </p:txBody>
        </p:sp>
        <p:cxnSp>
          <p:nvCxnSpPr>
            <p:cNvPr id="16" name="直接连接符 3">
              <a:extLst>
                <a:ext uri="{FF2B5EF4-FFF2-40B4-BE49-F238E27FC236}">
                  <a16:creationId xmlns:a16="http://schemas.microsoft.com/office/drawing/2014/main" id="{3E44C7E5-1B1E-A008-4683-CA40DC29236B}"/>
                </a:ext>
              </a:extLst>
            </p:cNvPr>
            <p:cNvCxnSpPr>
              <a:cxnSpLocks/>
            </p:cNvCxnSpPr>
            <p:nvPr/>
          </p:nvCxnSpPr>
          <p:spPr>
            <a:xfrm>
              <a:off x="6850176" y="5776688"/>
              <a:ext cx="3768457" cy="0"/>
            </a:xfrm>
            <a:prstGeom prst="line">
              <a:avLst/>
            </a:prstGeom>
            <a:ln>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pic>
        <p:nvPicPr>
          <p:cNvPr id="26" name="Picture 25">
            <a:extLst>
              <a:ext uri="{FF2B5EF4-FFF2-40B4-BE49-F238E27FC236}">
                <a16:creationId xmlns:a16="http://schemas.microsoft.com/office/drawing/2014/main" id="{1CEB8C03-DF0D-F754-0B8C-C6D0C4B8FAAE}"/>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CDEE7EFB-CE02-6E42-78CD-CF7FB30AABBD}"/>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NỘI DUNG BÁO CÁO</a:t>
            </a:r>
            <a:endParaRPr lang="zh-CN" altLang="en-US" sz="3200" b="1">
              <a:solidFill>
                <a:schemeClr val="bg1"/>
              </a:solidFill>
              <a:cs typeface="+mn-ea"/>
              <a:sym typeface="+mn-lt"/>
            </a:endParaRPr>
          </a:p>
        </p:txBody>
      </p:sp>
      <p:sp>
        <p:nvSpPr>
          <p:cNvPr id="30" name="TextBox 29">
            <a:extLst>
              <a:ext uri="{FF2B5EF4-FFF2-40B4-BE49-F238E27FC236}">
                <a16:creationId xmlns:a16="http://schemas.microsoft.com/office/drawing/2014/main" id="{E7E45791-8883-1837-2801-3AD024C7634F}"/>
              </a:ext>
            </a:extLst>
          </p:cNvPr>
          <p:cNvSpPr txBox="1"/>
          <p:nvPr/>
        </p:nvSpPr>
        <p:spPr>
          <a:xfrm>
            <a:off x="11840443" y="6533145"/>
            <a:ext cx="263214" cy="261610"/>
          </a:xfrm>
          <a:prstGeom prst="rect">
            <a:avLst/>
          </a:prstGeom>
          <a:noFill/>
        </p:spPr>
        <p:txBody>
          <a:bodyPr wrap="none" rtlCol="0">
            <a:spAutoFit/>
          </a:bodyPr>
          <a:lstStyle/>
          <a:p>
            <a:pPr algn="ctr"/>
            <a:r>
              <a:rPr lang="en-US" sz="1100"/>
              <a:t>2</a:t>
            </a:r>
          </a:p>
        </p:txBody>
      </p:sp>
      <p:pic>
        <p:nvPicPr>
          <p:cNvPr id="32" name="Picture 31">
            <a:extLst>
              <a:ext uri="{FF2B5EF4-FFF2-40B4-BE49-F238E27FC236}">
                <a16:creationId xmlns:a16="http://schemas.microsoft.com/office/drawing/2014/main" id="{33E9B636-0435-1ABB-2F3D-64952041084C}"/>
              </a:ext>
            </a:extLst>
          </p:cNvPr>
          <p:cNvPicPr>
            <a:picLocks noChangeAspect="1"/>
          </p:cNvPicPr>
          <p:nvPr/>
        </p:nvPicPr>
        <p:blipFill>
          <a:blip r:embed="rId5" cstate="print">
            <a:extLst>
              <a:ext uri="{28A0092B-C50C-407E-A947-70E740481C1C}">
                <a14:useLocalDpi xmlns:a14="http://schemas.microsoft.com/office/drawing/2010/main" val="0"/>
              </a:ext>
            </a:extLst>
          </a:blip>
          <a:srcRect l="3546" t="5326" r="3737" b="15671"/>
          <a:stretch>
            <a:fillRect/>
          </a:stretch>
        </p:blipFill>
        <p:spPr>
          <a:xfrm>
            <a:off x="2373427" y="1216669"/>
            <a:ext cx="7445146" cy="3171927"/>
          </a:xfrm>
          <a:prstGeom prst="rect">
            <a:avLst/>
          </a:prstGeom>
        </p:spPr>
      </p:pic>
    </p:spTree>
    <p:extLst>
      <p:ext uri="{BB962C8B-B14F-4D97-AF65-F5344CB8AC3E}">
        <p14:creationId xmlns:p14="http://schemas.microsoft.com/office/powerpoint/2010/main" val="6748517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50"/>
                                        <p:tgtEl>
                                          <p:spTgt spid="18"/>
                                        </p:tgtEl>
                                      </p:cBhvr>
                                    </p:animEffect>
                                    <p:anim calcmode="lin" valueType="num">
                                      <p:cBhvr>
                                        <p:cTn id="8" dur="250" fill="hold"/>
                                        <p:tgtEl>
                                          <p:spTgt spid="18"/>
                                        </p:tgtEl>
                                        <p:attrNameLst>
                                          <p:attrName>ppt_x</p:attrName>
                                        </p:attrNameLst>
                                      </p:cBhvr>
                                      <p:tavLst>
                                        <p:tav tm="0">
                                          <p:val>
                                            <p:strVal val="#ppt_x"/>
                                          </p:val>
                                        </p:tav>
                                        <p:tav tm="100000">
                                          <p:val>
                                            <p:strVal val="#ppt_x"/>
                                          </p:val>
                                        </p:tav>
                                      </p:tavLst>
                                    </p:anim>
                                    <p:anim calcmode="lin" valueType="num">
                                      <p:cBhvr>
                                        <p:cTn id="9" dur="25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50"/>
                                        <p:tgtEl>
                                          <p:spTgt spid="22"/>
                                        </p:tgtEl>
                                      </p:cBhvr>
                                    </p:animEffect>
                                    <p:anim calcmode="lin" valueType="num">
                                      <p:cBhvr>
                                        <p:cTn id="14" dur="250" fill="hold"/>
                                        <p:tgtEl>
                                          <p:spTgt spid="22"/>
                                        </p:tgtEl>
                                        <p:attrNameLst>
                                          <p:attrName>ppt_x</p:attrName>
                                        </p:attrNameLst>
                                      </p:cBhvr>
                                      <p:tavLst>
                                        <p:tav tm="0">
                                          <p:val>
                                            <p:strVal val="#ppt_x"/>
                                          </p:val>
                                        </p:tav>
                                        <p:tav tm="100000">
                                          <p:val>
                                            <p:strVal val="#ppt_x"/>
                                          </p:val>
                                        </p:tav>
                                      </p:tavLst>
                                    </p:anim>
                                    <p:anim calcmode="lin" valueType="num">
                                      <p:cBhvr>
                                        <p:cTn id="15" dur="250" fill="hold"/>
                                        <p:tgtEl>
                                          <p:spTgt spid="22"/>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50"/>
                                        <p:tgtEl>
                                          <p:spTgt spid="23"/>
                                        </p:tgtEl>
                                      </p:cBhvr>
                                    </p:animEffect>
                                    <p:anim calcmode="lin" valueType="num">
                                      <p:cBhvr>
                                        <p:cTn id="20" dur="250" fill="hold"/>
                                        <p:tgtEl>
                                          <p:spTgt spid="23"/>
                                        </p:tgtEl>
                                        <p:attrNameLst>
                                          <p:attrName>ppt_x</p:attrName>
                                        </p:attrNameLst>
                                      </p:cBhvr>
                                      <p:tavLst>
                                        <p:tav tm="0">
                                          <p:val>
                                            <p:strVal val="#ppt_x"/>
                                          </p:val>
                                        </p:tav>
                                        <p:tav tm="100000">
                                          <p:val>
                                            <p:strVal val="#ppt_x"/>
                                          </p:val>
                                        </p:tav>
                                      </p:tavLst>
                                    </p:anim>
                                    <p:anim calcmode="lin" valueType="num">
                                      <p:cBhvr>
                                        <p:cTn id="21" dur="2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250"/>
                                        <p:tgtEl>
                                          <p:spTgt spid="24"/>
                                        </p:tgtEl>
                                      </p:cBhvr>
                                    </p:animEffect>
                                    <p:anim calcmode="lin" valueType="num">
                                      <p:cBhvr>
                                        <p:cTn id="26" dur="250" fill="hold"/>
                                        <p:tgtEl>
                                          <p:spTgt spid="24"/>
                                        </p:tgtEl>
                                        <p:attrNameLst>
                                          <p:attrName>ppt_x</p:attrName>
                                        </p:attrNameLst>
                                      </p:cBhvr>
                                      <p:tavLst>
                                        <p:tav tm="0">
                                          <p:val>
                                            <p:strVal val="#ppt_x"/>
                                          </p:val>
                                        </p:tav>
                                        <p:tav tm="100000">
                                          <p:val>
                                            <p:strVal val="#ppt_x"/>
                                          </p:val>
                                        </p:tav>
                                      </p:tavLst>
                                    </p:anim>
                                    <p:anim calcmode="lin" valueType="num">
                                      <p:cBhvr>
                                        <p:cTn id="27" dur="250" fill="hold"/>
                                        <p:tgtEl>
                                          <p:spTgt spid="24"/>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250"/>
                                        <p:tgtEl>
                                          <p:spTgt spid="25"/>
                                        </p:tgtEl>
                                      </p:cBhvr>
                                    </p:animEffect>
                                    <p:anim calcmode="lin" valueType="num">
                                      <p:cBhvr>
                                        <p:cTn id="32" dur="250" fill="hold"/>
                                        <p:tgtEl>
                                          <p:spTgt spid="25"/>
                                        </p:tgtEl>
                                        <p:attrNameLst>
                                          <p:attrName>ppt_x</p:attrName>
                                        </p:attrNameLst>
                                      </p:cBhvr>
                                      <p:tavLst>
                                        <p:tav tm="0">
                                          <p:val>
                                            <p:strVal val="#ppt_x"/>
                                          </p:val>
                                        </p:tav>
                                        <p:tav tm="100000">
                                          <p:val>
                                            <p:strVal val="#ppt_x"/>
                                          </p:val>
                                        </p:tav>
                                      </p:tavLst>
                                    </p:anim>
                                    <p:anim calcmode="lin" valueType="num">
                                      <p:cBhvr>
                                        <p:cTn id="33" dur="25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0" y="1973943"/>
            <a:ext cx="12193201" cy="3414420"/>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85">
              <a:cs typeface="+mn-ea"/>
              <a:sym typeface="+mn-lt"/>
            </a:endParaRPr>
          </a:p>
        </p:txBody>
      </p:sp>
      <p:sp>
        <p:nvSpPr>
          <p:cNvPr id="3" name="椭圆 2"/>
          <p:cNvSpPr/>
          <p:nvPr/>
        </p:nvSpPr>
        <p:spPr>
          <a:xfrm>
            <a:off x="5112204" y="828740"/>
            <a:ext cx="1967594" cy="1967594"/>
          </a:xfrm>
          <a:prstGeom prst="ellipse">
            <a:avLst/>
          </a:prstGeom>
          <a:solidFill>
            <a:srgbClr val="F5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a:solidFill>
                  <a:schemeClr val="bg1"/>
                </a:solidFill>
                <a:cs typeface="+mn-ea"/>
                <a:sym typeface="+mn-lt"/>
              </a:rPr>
              <a:t>01</a:t>
            </a:r>
            <a:endParaRPr lang="zh-CN" altLang="en-US" sz="8000">
              <a:solidFill>
                <a:schemeClr val="bg1"/>
              </a:solidFill>
              <a:cs typeface="+mn-ea"/>
              <a:sym typeface="+mn-lt"/>
            </a:endParaRPr>
          </a:p>
        </p:txBody>
      </p:sp>
      <p:sp>
        <p:nvSpPr>
          <p:cNvPr id="4" name="文本框 3"/>
          <p:cNvSpPr txBox="1"/>
          <p:nvPr/>
        </p:nvSpPr>
        <p:spPr>
          <a:xfrm>
            <a:off x="2098760" y="3107571"/>
            <a:ext cx="7994496" cy="923330"/>
          </a:xfrm>
          <a:prstGeom prst="rect">
            <a:avLst/>
          </a:prstGeom>
          <a:noFill/>
        </p:spPr>
        <p:txBody>
          <a:bodyPr wrap="none" rtlCol="0">
            <a:spAutoFit/>
          </a:bodyPr>
          <a:lstStyle/>
          <a:p>
            <a:pPr algn="ctr"/>
            <a:r>
              <a:rPr lang="en-US" altLang="zh-CN" sz="5400" b="1">
                <a:solidFill>
                  <a:schemeClr val="bg1"/>
                </a:solidFill>
                <a:cs typeface="+mn-ea"/>
                <a:sym typeface="+mn-lt"/>
              </a:rPr>
              <a:t>TỔNG QUAN VỀ ĐỀ TÀI</a:t>
            </a:r>
            <a:endParaRPr lang="zh-CN" altLang="en-US" sz="5400" b="1">
              <a:solidFill>
                <a:schemeClr val="bg1"/>
              </a:solidFill>
              <a:cs typeface="+mn-ea"/>
              <a:sym typeface="+mn-lt"/>
            </a:endParaRPr>
          </a:p>
        </p:txBody>
      </p:sp>
      <p:sp>
        <p:nvSpPr>
          <p:cNvPr id="5" name="TextBox 4">
            <a:extLst>
              <a:ext uri="{FF2B5EF4-FFF2-40B4-BE49-F238E27FC236}">
                <a16:creationId xmlns:a16="http://schemas.microsoft.com/office/drawing/2014/main" id="{4CD13588-C0DF-2768-C1E6-56225E087623}"/>
              </a:ext>
            </a:extLst>
          </p:cNvPr>
          <p:cNvSpPr txBox="1"/>
          <p:nvPr/>
        </p:nvSpPr>
        <p:spPr>
          <a:xfrm>
            <a:off x="11840443" y="6533145"/>
            <a:ext cx="263214" cy="261610"/>
          </a:xfrm>
          <a:prstGeom prst="rect">
            <a:avLst/>
          </a:prstGeom>
          <a:noFill/>
        </p:spPr>
        <p:txBody>
          <a:bodyPr wrap="none" rtlCol="0">
            <a:spAutoFit/>
          </a:bodyPr>
          <a:lstStyle/>
          <a:p>
            <a:pPr algn="ctr"/>
            <a:r>
              <a:rPr lang="en-US" sz="1100"/>
              <a:t>3</a:t>
            </a:r>
          </a:p>
        </p:txBody>
      </p:sp>
    </p:spTree>
    <p:extLst>
      <p:ext uri="{BB962C8B-B14F-4D97-AF65-F5344CB8AC3E}">
        <p14:creationId xmlns:p14="http://schemas.microsoft.com/office/powerpoint/2010/main" val="88254631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9D87D-DBD4-CAB7-90A2-7145EF6FC338}"/>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CE811F4C-B0E1-AE7F-95A5-C027CD618F19}"/>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B3443BCC-062F-041A-1ADA-4A56CCEB317C}"/>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5474E4B8-BD12-3E9E-B40E-D70A3F3F23C5}"/>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5F1B96AC-95B4-A94D-5119-8DD49A60EC18}"/>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1. TỔNG QUAN VỀ ĐỀ TÀI</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D90ED67E-7403-11A9-DD29-606D51C7CA44}"/>
              </a:ext>
            </a:extLst>
          </p:cNvPr>
          <p:cNvSpPr txBox="1"/>
          <p:nvPr/>
        </p:nvSpPr>
        <p:spPr>
          <a:xfrm>
            <a:off x="11840443" y="6533145"/>
            <a:ext cx="263214" cy="261610"/>
          </a:xfrm>
          <a:prstGeom prst="rect">
            <a:avLst/>
          </a:prstGeom>
          <a:noFill/>
        </p:spPr>
        <p:txBody>
          <a:bodyPr wrap="none" rtlCol="0">
            <a:spAutoFit/>
          </a:bodyPr>
          <a:lstStyle/>
          <a:p>
            <a:pPr algn="ctr"/>
            <a:r>
              <a:rPr lang="en-US" sz="1100"/>
              <a:t>4</a:t>
            </a:r>
          </a:p>
        </p:txBody>
      </p:sp>
      <p:sp>
        <p:nvSpPr>
          <p:cNvPr id="3" name="Title 1">
            <a:extLst>
              <a:ext uri="{FF2B5EF4-FFF2-40B4-BE49-F238E27FC236}">
                <a16:creationId xmlns:a16="http://schemas.microsoft.com/office/drawing/2014/main" id="{729422F9-69BF-33E8-ECD7-F86E2F28F81E}"/>
              </a:ext>
            </a:extLst>
          </p:cNvPr>
          <p:cNvSpPr txBox="1">
            <a:spLocks/>
          </p:cNvSpPr>
          <p:nvPr/>
        </p:nvSpPr>
        <p:spPr>
          <a:xfrm>
            <a:off x="389413" y="1307625"/>
            <a:ext cx="32396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1.1. Giới thiệu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1C0E712F-B53B-68E5-FDDB-8153C9F694A5}"/>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3" name="Group 42">
            <a:extLst>
              <a:ext uri="{FF2B5EF4-FFF2-40B4-BE49-F238E27FC236}">
                <a16:creationId xmlns:a16="http://schemas.microsoft.com/office/drawing/2014/main" id="{9045D041-4082-B6F3-F08A-A1AAE234CBDF}"/>
              </a:ext>
            </a:extLst>
          </p:cNvPr>
          <p:cNvGrpSpPr/>
          <p:nvPr/>
        </p:nvGrpSpPr>
        <p:grpSpPr>
          <a:xfrm>
            <a:off x="1889942" y="1973758"/>
            <a:ext cx="4111179" cy="2996594"/>
            <a:chOff x="1823267" y="2032606"/>
            <a:chExt cx="4111179" cy="2996594"/>
          </a:xfrm>
        </p:grpSpPr>
        <p:grpSp>
          <p:nvGrpSpPr>
            <p:cNvPr id="25" name="Group 2">
              <a:extLst>
                <a:ext uri="{FF2B5EF4-FFF2-40B4-BE49-F238E27FC236}">
                  <a16:creationId xmlns:a16="http://schemas.microsoft.com/office/drawing/2014/main" id="{191EB940-16AC-0039-6F67-84FB261FC9C6}"/>
                </a:ext>
              </a:extLst>
            </p:cNvPr>
            <p:cNvGrpSpPr/>
            <p:nvPr/>
          </p:nvGrpSpPr>
          <p:grpSpPr>
            <a:xfrm>
              <a:off x="1823267" y="2115790"/>
              <a:ext cx="4111179" cy="2913410"/>
              <a:chOff x="0" y="-38100"/>
              <a:chExt cx="1777884" cy="1361037"/>
            </a:xfrm>
          </p:grpSpPr>
          <p:sp>
            <p:nvSpPr>
              <p:cNvPr id="39" name="Freeform 3">
                <a:extLst>
                  <a:ext uri="{FF2B5EF4-FFF2-40B4-BE49-F238E27FC236}">
                    <a16:creationId xmlns:a16="http://schemas.microsoft.com/office/drawing/2014/main" id="{E14BDF27-D095-CF74-0CB0-558781004E0D}"/>
                  </a:ext>
                </a:extLst>
              </p:cNvPr>
              <p:cNvSpPr/>
              <p:nvPr/>
            </p:nvSpPr>
            <p:spPr>
              <a:xfrm>
                <a:off x="0" y="0"/>
                <a:ext cx="1777884" cy="1322937"/>
              </a:xfrm>
              <a:custGeom>
                <a:avLst/>
                <a:gdLst/>
                <a:ahLst/>
                <a:cxnLst/>
                <a:rect l="l" t="t" r="r" b="b"/>
                <a:pathLst>
                  <a:path w="1777884" h="1322937">
                    <a:moveTo>
                      <a:pt x="51610" y="0"/>
                    </a:moveTo>
                    <a:lnTo>
                      <a:pt x="1726274" y="0"/>
                    </a:lnTo>
                    <a:cubicBezTo>
                      <a:pt x="1754778" y="0"/>
                      <a:pt x="1777884" y="23106"/>
                      <a:pt x="1777884" y="51610"/>
                    </a:cubicBezTo>
                    <a:lnTo>
                      <a:pt x="1777884" y="1271327"/>
                    </a:lnTo>
                    <a:cubicBezTo>
                      <a:pt x="1777884" y="1299830"/>
                      <a:pt x="1754778" y="1322937"/>
                      <a:pt x="1726274" y="1322937"/>
                    </a:cubicBezTo>
                    <a:lnTo>
                      <a:pt x="51610" y="1322937"/>
                    </a:lnTo>
                    <a:cubicBezTo>
                      <a:pt x="23106" y="1322937"/>
                      <a:pt x="0" y="1299830"/>
                      <a:pt x="0" y="1271327"/>
                    </a:cubicBezTo>
                    <a:lnTo>
                      <a:pt x="0" y="51610"/>
                    </a:lnTo>
                    <a:cubicBezTo>
                      <a:pt x="0" y="23106"/>
                      <a:pt x="23106" y="0"/>
                      <a:pt x="51610" y="0"/>
                    </a:cubicBezTo>
                    <a:close/>
                  </a:path>
                </a:pathLst>
              </a:custGeom>
              <a:solidFill>
                <a:srgbClr val="A6C8D6">
                  <a:alpha val="18824"/>
                </a:srgbClr>
              </a:solidFill>
            </p:spPr>
            <p:txBody>
              <a:bodyPr anchor="ctr"/>
              <a:lstStyle/>
              <a:p>
                <a:pPr algn="ctr"/>
                <a:r>
                  <a:rPr lang="en-US" sz="2400">
                    <a:latin typeface="Times New Roman" panose="02020603050405020304" pitchFamily="18" charset="0"/>
                    <a:cs typeface="Times New Roman" panose="02020603050405020304" pitchFamily="18" charset="0"/>
                  </a:rPr>
                  <a:t>Hệ thống y học cổ truyền có dữ liệu rất lớn nhưng đa số tồn tại dưới dạng kinh nghiệm phân tán, chưa có nhiều lí giải ở cấp phân tử.</a:t>
                </a:r>
              </a:p>
            </p:txBody>
          </p:sp>
          <p:sp>
            <p:nvSpPr>
              <p:cNvPr id="40" name="TextBox 4">
                <a:extLst>
                  <a:ext uri="{FF2B5EF4-FFF2-40B4-BE49-F238E27FC236}">
                    <a16:creationId xmlns:a16="http://schemas.microsoft.com/office/drawing/2014/main" id="{9FE3FCF9-080B-30B8-BB10-4ABAE205E563}"/>
                  </a:ext>
                </a:extLst>
              </p:cNvPr>
              <p:cNvSpPr txBox="1"/>
              <p:nvPr/>
            </p:nvSpPr>
            <p:spPr>
              <a:xfrm>
                <a:off x="0" y="-38100"/>
                <a:ext cx="1777884" cy="1361037"/>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7">
              <a:extLst>
                <a:ext uri="{FF2B5EF4-FFF2-40B4-BE49-F238E27FC236}">
                  <a16:creationId xmlns:a16="http://schemas.microsoft.com/office/drawing/2014/main" id="{1F14B714-19A4-BCDC-FBAB-A8001BB0E571}"/>
                </a:ext>
              </a:extLst>
            </p:cNvPr>
            <p:cNvGrpSpPr/>
            <p:nvPr/>
          </p:nvGrpSpPr>
          <p:grpSpPr>
            <a:xfrm>
              <a:off x="1823267" y="2032606"/>
              <a:ext cx="4111179" cy="306794"/>
              <a:chOff x="0" y="0"/>
              <a:chExt cx="1777884" cy="75116"/>
            </a:xfrm>
          </p:grpSpPr>
          <p:sp>
            <p:nvSpPr>
              <p:cNvPr id="37" name="Freeform 8">
                <a:extLst>
                  <a:ext uri="{FF2B5EF4-FFF2-40B4-BE49-F238E27FC236}">
                    <a16:creationId xmlns:a16="http://schemas.microsoft.com/office/drawing/2014/main" id="{C5D5AB55-D2A8-8413-696A-885F3638C024}"/>
                  </a:ext>
                </a:extLst>
              </p:cNvPr>
              <p:cNvSpPr/>
              <p:nvPr/>
            </p:nvSpPr>
            <p:spPr>
              <a:xfrm>
                <a:off x="0" y="0"/>
                <a:ext cx="1777884" cy="75116"/>
              </a:xfrm>
              <a:custGeom>
                <a:avLst/>
                <a:gdLst/>
                <a:ahLst/>
                <a:cxnLst/>
                <a:rect l="l" t="t" r="r" b="b"/>
                <a:pathLst>
                  <a:path w="1777884" h="75116">
                    <a:moveTo>
                      <a:pt x="0" y="0"/>
                    </a:moveTo>
                    <a:lnTo>
                      <a:pt x="1777884" y="0"/>
                    </a:lnTo>
                    <a:lnTo>
                      <a:pt x="1777884" y="75116"/>
                    </a:lnTo>
                    <a:lnTo>
                      <a:pt x="0" y="75116"/>
                    </a:lnTo>
                    <a:close/>
                  </a:path>
                </a:pathLst>
              </a:custGeom>
              <a:solidFill>
                <a:srgbClr val="E8AA42"/>
              </a:solidFill>
            </p:spPr>
            <p:txBody>
              <a:bodyPr/>
              <a:lstStyle/>
              <a:p>
                <a:endParaRPr lang="en-US"/>
              </a:p>
            </p:txBody>
          </p:sp>
          <p:sp>
            <p:nvSpPr>
              <p:cNvPr id="38" name="TextBox 9">
                <a:extLst>
                  <a:ext uri="{FF2B5EF4-FFF2-40B4-BE49-F238E27FC236}">
                    <a16:creationId xmlns:a16="http://schemas.microsoft.com/office/drawing/2014/main" id="{1109E249-FCB2-A7C8-6BA2-E50D641569AE}"/>
                  </a:ext>
                </a:extLst>
              </p:cNvPr>
              <p:cNvSpPr txBox="1"/>
              <p:nvPr/>
            </p:nvSpPr>
            <p:spPr>
              <a:xfrm>
                <a:off x="0" y="-38100"/>
                <a:ext cx="1777884" cy="113216"/>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44" name="Group 43">
            <a:extLst>
              <a:ext uri="{FF2B5EF4-FFF2-40B4-BE49-F238E27FC236}">
                <a16:creationId xmlns:a16="http://schemas.microsoft.com/office/drawing/2014/main" id="{E0AA3A51-D6D6-6698-957B-B5834EE29C4E}"/>
              </a:ext>
            </a:extLst>
          </p:cNvPr>
          <p:cNvGrpSpPr/>
          <p:nvPr/>
        </p:nvGrpSpPr>
        <p:grpSpPr>
          <a:xfrm>
            <a:off x="6291855" y="1973758"/>
            <a:ext cx="4111179" cy="2996594"/>
            <a:chOff x="6225180" y="2032606"/>
            <a:chExt cx="4111179" cy="2996594"/>
          </a:xfrm>
        </p:grpSpPr>
        <p:grpSp>
          <p:nvGrpSpPr>
            <p:cNvPr id="30" name="Group 10">
              <a:extLst>
                <a:ext uri="{FF2B5EF4-FFF2-40B4-BE49-F238E27FC236}">
                  <a16:creationId xmlns:a16="http://schemas.microsoft.com/office/drawing/2014/main" id="{332A01AD-EDAC-399E-45B6-8D708AAC0DEB}"/>
                </a:ext>
              </a:extLst>
            </p:cNvPr>
            <p:cNvGrpSpPr/>
            <p:nvPr/>
          </p:nvGrpSpPr>
          <p:grpSpPr>
            <a:xfrm>
              <a:off x="6225180" y="2188650"/>
              <a:ext cx="4111179" cy="2840550"/>
              <a:chOff x="0" y="0"/>
              <a:chExt cx="1777884" cy="1327535"/>
            </a:xfrm>
          </p:grpSpPr>
          <p:sp>
            <p:nvSpPr>
              <p:cNvPr id="35" name="Freeform 11">
                <a:extLst>
                  <a:ext uri="{FF2B5EF4-FFF2-40B4-BE49-F238E27FC236}">
                    <a16:creationId xmlns:a16="http://schemas.microsoft.com/office/drawing/2014/main" id="{ABD19C33-D9A7-D230-5123-F558FF9A4ED5}"/>
                  </a:ext>
                </a:extLst>
              </p:cNvPr>
              <p:cNvSpPr/>
              <p:nvPr/>
            </p:nvSpPr>
            <p:spPr>
              <a:xfrm>
                <a:off x="0" y="0"/>
                <a:ext cx="1777884" cy="1327535"/>
              </a:xfrm>
              <a:custGeom>
                <a:avLst/>
                <a:gdLst/>
                <a:ahLst/>
                <a:cxnLst/>
                <a:rect l="l" t="t" r="r" b="b"/>
                <a:pathLst>
                  <a:path w="1777884" h="1327535">
                    <a:moveTo>
                      <a:pt x="51610" y="0"/>
                    </a:moveTo>
                    <a:lnTo>
                      <a:pt x="1726274" y="0"/>
                    </a:lnTo>
                    <a:cubicBezTo>
                      <a:pt x="1754778" y="0"/>
                      <a:pt x="1777884" y="23106"/>
                      <a:pt x="1777884" y="51610"/>
                    </a:cubicBezTo>
                    <a:lnTo>
                      <a:pt x="1777884" y="1275926"/>
                    </a:lnTo>
                    <a:cubicBezTo>
                      <a:pt x="1777884" y="1304429"/>
                      <a:pt x="1754778" y="1327535"/>
                      <a:pt x="1726274" y="1327535"/>
                    </a:cubicBezTo>
                    <a:lnTo>
                      <a:pt x="51610" y="1327535"/>
                    </a:lnTo>
                    <a:cubicBezTo>
                      <a:pt x="23106" y="1327535"/>
                      <a:pt x="0" y="1304429"/>
                      <a:pt x="0" y="1275926"/>
                    </a:cubicBezTo>
                    <a:lnTo>
                      <a:pt x="0" y="51610"/>
                    </a:lnTo>
                    <a:cubicBezTo>
                      <a:pt x="0" y="23106"/>
                      <a:pt x="23106" y="0"/>
                      <a:pt x="51610" y="0"/>
                    </a:cubicBezTo>
                    <a:close/>
                  </a:path>
                </a:pathLst>
              </a:custGeom>
              <a:solidFill>
                <a:srgbClr val="A6C8D6">
                  <a:alpha val="18824"/>
                </a:srgbClr>
              </a:solidFill>
            </p:spPr>
            <p:txBody>
              <a:bodyPr anchor="ctr"/>
              <a:lstStyle/>
              <a:p>
                <a:pPr algn="ctr"/>
                <a:r>
                  <a:rPr lang="en-US" sz="2400">
                    <a:latin typeface="Times New Roman" panose="02020603050405020304" pitchFamily="18" charset="0"/>
                    <a:cs typeface="Times New Roman" panose="02020603050405020304" pitchFamily="18" charset="0"/>
                  </a:rPr>
                  <a:t>Các phương pháp thực nghiệm truyền thống (wet-lab) có nhiều hạn chế về chi phí và thời gian thực hiện.</a:t>
                </a:r>
              </a:p>
            </p:txBody>
          </p:sp>
          <p:sp>
            <p:nvSpPr>
              <p:cNvPr id="36" name="TextBox 12">
                <a:extLst>
                  <a:ext uri="{FF2B5EF4-FFF2-40B4-BE49-F238E27FC236}">
                    <a16:creationId xmlns:a16="http://schemas.microsoft.com/office/drawing/2014/main" id="{07AB1F33-1A81-AA65-AF95-5FBFDED34FD6}"/>
                  </a:ext>
                </a:extLst>
              </p:cNvPr>
              <p:cNvSpPr txBox="1"/>
              <p:nvPr/>
            </p:nvSpPr>
            <p:spPr>
              <a:xfrm>
                <a:off x="0" y="-38100"/>
                <a:ext cx="1777884" cy="1365635"/>
              </a:xfrm>
              <a:prstGeom prst="rect">
                <a:avLst/>
              </a:prstGeom>
            </p:spPr>
            <p:txBody>
              <a:bodyPr lIns="50800" tIns="50800" rIns="50800" bIns="50800" rtlCol="0" anchor="ctr"/>
              <a:lstStyle/>
              <a:p>
                <a:pPr algn="ctr">
                  <a:lnSpc>
                    <a:spcPts val="2659"/>
                  </a:lnSpc>
                  <a:spcBef>
                    <a:spcPct val="0"/>
                  </a:spcBef>
                </a:pPr>
                <a:endParaRPr/>
              </a:p>
            </p:txBody>
          </p:sp>
        </p:grpSp>
        <p:grpSp>
          <p:nvGrpSpPr>
            <p:cNvPr id="32" name="Group 14">
              <a:extLst>
                <a:ext uri="{FF2B5EF4-FFF2-40B4-BE49-F238E27FC236}">
                  <a16:creationId xmlns:a16="http://schemas.microsoft.com/office/drawing/2014/main" id="{5FC8CE25-D270-FED2-F4AA-9583A370B6F7}"/>
                </a:ext>
              </a:extLst>
            </p:cNvPr>
            <p:cNvGrpSpPr/>
            <p:nvPr/>
          </p:nvGrpSpPr>
          <p:grpSpPr>
            <a:xfrm>
              <a:off x="6225180" y="2032606"/>
              <a:ext cx="4111179" cy="298098"/>
              <a:chOff x="0" y="0"/>
              <a:chExt cx="1777884" cy="75116"/>
            </a:xfrm>
          </p:grpSpPr>
          <p:sp>
            <p:nvSpPr>
              <p:cNvPr id="33" name="Freeform 15">
                <a:extLst>
                  <a:ext uri="{FF2B5EF4-FFF2-40B4-BE49-F238E27FC236}">
                    <a16:creationId xmlns:a16="http://schemas.microsoft.com/office/drawing/2014/main" id="{6DA4C4F0-7808-9886-F1BB-D2A518A1F5C1}"/>
                  </a:ext>
                </a:extLst>
              </p:cNvPr>
              <p:cNvSpPr/>
              <p:nvPr/>
            </p:nvSpPr>
            <p:spPr>
              <a:xfrm>
                <a:off x="0" y="0"/>
                <a:ext cx="1777884" cy="75116"/>
              </a:xfrm>
              <a:custGeom>
                <a:avLst/>
                <a:gdLst/>
                <a:ahLst/>
                <a:cxnLst/>
                <a:rect l="l" t="t" r="r" b="b"/>
                <a:pathLst>
                  <a:path w="1777884" h="75116">
                    <a:moveTo>
                      <a:pt x="0" y="0"/>
                    </a:moveTo>
                    <a:lnTo>
                      <a:pt x="1777884" y="0"/>
                    </a:lnTo>
                    <a:lnTo>
                      <a:pt x="1777884" y="75116"/>
                    </a:lnTo>
                    <a:lnTo>
                      <a:pt x="0" y="75116"/>
                    </a:lnTo>
                    <a:close/>
                  </a:path>
                </a:pathLst>
              </a:custGeom>
              <a:solidFill>
                <a:srgbClr val="E8AA42"/>
              </a:solidFill>
            </p:spPr>
            <p:txBody>
              <a:bodyPr/>
              <a:lstStyle/>
              <a:p>
                <a:endParaRPr lang="en-US"/>
              </a:p>
            </p:txBody>
          </p:sp>
          <p:sp>
            <p:nvSpPr>
              <p:cNvPr id="34" name="TextBox 16">
                <a:extLst>
                  <a:ext uri="{FF2B5EF4-FFF2-40B4-BE49-F238E27FC236}">
                    <a16:creationId xmlns:a16="http://schemas.microsoft.com/office/drawing/2014/main" id="{2A884A7F-AAF4-B74A-049A-313299370949}"/>
                  </a:ext>
                </a:extLst>
              </p:cNvPr>
              <p:cNvSpPr txBox="1"/>
              <p:nvPr/>
            </p:nvSpPr>
            <p:spPr>
              <a:xfrm>
                <a:off x="0" y="-38100"/>
                <a:ext cx="1777884" cy="113216"/>
              </a:xfrm>
              <a:prstGeom prst="rect">
                <a:avLst/>
              </a:prstGeom>
            </p:spPr>
            <p:txBody>
              <a:bodyPr lIns="50800" tIns="50800" rIns="50800" bIns="50800" rtlCol="0" anchor="ctr"/>
              <a:lstStyle/>
              <a:p>
                <a:pPr algn="ctr">
                  <a:lnSpc>
                    <a:spcPts val="2659"/>
                  </a:lnSpc>
                  <a:spcBef>
                    <a:spcPct val="0"/>
                  </a:spcBef>
                </a:pPr>
                <a:endParaRPr/>
              </a:p>
            </p:txBody>
          </p:sp>
        </p:grpSp>
      </p:grpSp>
      <p:sp>
        <p:nvSpPr>
          <p:cNvPr id="45" name="TextBox 44">
            <a:extLst>
              <a:ext uri="{FF2B5EF4-FFF2-40B4-BE49-F238E27FC236}">
                <a16:creationId xmlns:a16="http://schemas.microsoft.com/office/drawing/2014/main" id="{B1F8F281-70A9-6165-A748-BD083667868A}"/>
              </a:ext>
            </a:extLst>
          </p:cNvPr>
          <p:cNvSpPr txBox="1"/>
          <p:nvPr/>
        </p:nvSpPr>
        <p:spPr>
          <a:xfrm>
            <a:off x="876300" y="5357645"/>
            <a:ext cx="10940816" cy="830997"/>
          </a:xfrm>
          <a:prstGeom prst="rect">
            <a:avLst/>
          </a:prstGeom>
          <a:noFill/>
        </p:spPr>
        <p:txBody>
          <a:bodyPr wrap="none" rtlCol="0">
            <a:spAutoFit/>
          </a:bodyPr>
          <a:lstStyle/>
          <a:p>
            <a:pPr marL="342900" indent="-342900">
              <a:buFont typeface="Symbol" panose="05050102010706020507" pitchFamily="18" charset="2"/>
              <a:buChar char="Þ"/>
            </a:pPr>
            <a:r>
              <a:rPr lang="en-US" sz="2400">
                <a:latin typeface="Times New Roman" panose="02020603050405020304" pitchFamily="18" charset="0"/>
                <a:cs typeface="Times New Roman" panose="02020603050405020304" pitchFamily="18" charset="0"/>
              </a:rPr>
              <a:t>Cần phát triển các phương pháp tính toán dựa trên dữ liệu, đặc biệt là các mô hình </a:t>
            </a:r>
          </a:p>
          <a:p>
            <a:r>
              <a:rPr lang="en-US" sz="2400">
                <a:latin typeface="Times New Roman" panose="02020603050405020304" pitchFamily="18" charset="0"/>
                <a:cs typeface="Times New Roman" panose="02020603050405020304" pitchFamily="18" charset="0"/>
              </a:rPr>
              <a:t>     học sâu để thu hẹp không gian tìm kiếm và định hướng cho các thí nghiệm sinh học.</a:t>
            </a:r>
          </a:p>
        </p:txBody>
      </p:sp>
    </p:spTree>
    <p:extLst>
      <p:ext uri="{BB962C8B-B14F-4D97-AF65-F5344CB8AC3E}">
        <p14:creationId xmlns:p14="http://schemas.microsoft.com/office/powerpoint/2010/main" val="413601888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anim calcmode="lin" valueType="num">
                                      <p:cBhvr>
                                        <p:cTn id="8" dur="500" fill="hold"/>
                                        <p:tgtEl>
                                          <p:spTgt spid="43"/>
                                        </p:tgtEl>
                                        <p:attrNameLst>
                                          <p:attrName>ppt_x</p:attrName>
                                        </p:attrNameLst>
                                      </p:cBhvr>
                                      <p:tavLst>
                                        <p:tav tm="0">
                                          <p:val>
                                            <p:strVal val="#ppt_x"/>
                                          </p:val>
                                        </p:tav>
                                        <p:tav tm="100000">
                                          <p:val>
                                            <p:strVal val="#ppt_x"/>
                                          </p:val>
                                        </p:tav>
                                      </p:tavLst>
                                    </p:anim>
                                    <p:anim calcmode="lin" valueType="num">
                                      <p:cBhvr>
                                        <p:cTn id="9" dur="500" fill="hold"/>
                                        <p:tgtEl>
                                          <p:spTgt spid="4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anim calcmode="lin" valueType="num">
                                      <p:cBhvr>
                                        <p:cTn id="14" dur="500" fill="hold"/>
                                        <p:tgtEl>
                                          <p:spTgt spid="44"/>
                                        </p:tgtEl>
                                        <p:attrNameLst>
                                          <p:attrName>ppt_x</p:attrName>
                                        </p:attrNameLst>
                                      </p:cBhvr>
                                      <p:tavLst>
                                        <p:tav tm="0">
                                          <p:val>
                                            <p:strVal val="#ppt_x"/>
                                          </p:val>
                                        </p:tav>
                                        <p:tav tm="100000">
                                          <p:val>
                                            <p:strVal val="#ppt_x"/>
                                          </p:val>
                                        </p:tav>
                                      </p:tavLst>
                                    </p:anim>
                                    <p:anim calcmode="lin" valueType="num">
                                      <p:cBhvr>
                                        <p:cTn id="15"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DA25D-2C52-FA51-DE49-3C9C71DC13CF}"/>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87D6F401-3B34-DBE6-A6AB-7F41C7608EC0}"/>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1DD1EC70-D7FC-00D9-4B07-53AD2E01564C}"/>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93FCACA-BC6E-5432-5575-816FD8615E7D}"/>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852A02E4-9FC5-05A5-F902-6DEAF3894DF6}"/>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1. TỔNG QUAN VỀ ĐỀ TÀI</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4A066892-2980-937E-EBE1-0401A38F1D45}"/>
              </a:ext>
            </a:extLst>
          </p:cNvPr>
          <p:cNvSpPr txBox="1"/>
          <p:nvPr/>
        </p:nvSpPr>
        <p:spPr>
          <a:xfrm>
            <a:off x="11840443" y="6533145"/>
            <a:ext cx="263214" cy="261610"/>
          </a:xfrm>
          <a:prstGeom prst="rect">
            <a:avLst/>
          </a:prstGeom>
          <a:noFill/>
        </p:spPr>
        <p:txBody>
          <a:bodyPr wrap="none" rtlCol="0">
            <a:spAutoFit/>
          </a:bodyPr>
          <a:lstStyle/>
          <a:p>
            <a:pPr algn="ctr"/>
            <a:r>
              <a:rPr lang="en-US" sz="1100"/>
              <a:t>5</a:t>
            </a:r>
          </a:p>
        </p:txBody>
      </p:sp>
      <p:sp>
        <p:nvSpPr>
          <p:cNvPr id="3" name="Title 1">
            <a:extLst>
              <a:ext uri="{FF2B5EF4-FFF2-40B4-BE49-F238E27FC236}">
                <a16:creationId xmlns:a16="http://schemas.microsoft.com/office/drawing/2014/main" id="{69AE1FE6-18C8-AE15-F27D-F0B1EA0734C1}"/>
              </a:ext>
            </a:extLst>
          </p:cNvPr>
          <p:cNvSpPr txBox="1">
            <a:spLocks/>
          </p:cNvSpPr>
          <p:nvPr/>
        </p:nvSpPr>
        <p:spPr>
          <a:xfrm>
            <a:off x="389412" y="1307625"/>
            <a:ext cx="3839687"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1.2. Mục tiêu đề tài</a:t>
            </a:r>
            <a:endParaRPr lang="en-US" sz="3200" dirty="0">
              <a:latin typeface="Times New Roman" panose="02020603050405020304" pitchFamily="18" charset="0"/>
            </a:endParaRPr>
          </a:p>
        </p:txBody>
      </p:sp>
      <p:sp>
        <p:nvSpPr>
          <p:cNvPr id="5" name="Freeform 13">
            <a:extLst>
              <a:ext uri="{FF2B5EF4-FFF2-40B4-BE49-F238E27FC236}">
                <a16:creationId xmlns:a16="http://schemas.microsoft.com/office/drawing/2014/main" id="{D25D4AA3-F0E4-461F-3E98-0AD88BDF45AD}"/>
              </a:ext>
            </a:extLst>
          </p:cNvPr>
          <p:cNvSpPr/>
          <p:nvPr/>
        </p:nvSpPr>
        <p:spPr>
          <a:xfrm flipH="1" flipV="1">
            <a:off x="-1" y="5996909"/>
            <a:ext cx="5838825" cy="998792"/>
          </a:xfrm>
          <a:custGeom>
            <a:avLst/>
            <a:gdLst/>
            <a:ahLst/>
            <a:cxnLst/>
            <a:rect l="l" t="t" r="r" b="b"/>
            <a:pathLst>
              <a:path w="7315200" h="1792224">
                <a:moveTo>
                  <a:pt x="7315200" y="1792224"/>
                </a:moveTo>
                <a:lnTo>
                  <a:pt x="0" y="1792224"/>
                </a:lnTo>
                <a:lnTo>
                  <a:pt x="0" y="0"/>
                </a:lnTo>
                <a:lnTo>
                  <a:pt x="7315200" y="0"/>
                </a:lnTo>
                <a:lnTo>
                  <a:pt x="7315200" y="1792224"/>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6" name="Group 5">
            <a:extLst>
              <a:ext uri="{FF2B5EF4-FFF2-40B4-BE49-F238E27FC236}">
                <a16:creationId xmlns:a16="http://schemas.microsoft.com/office/drawing/2014/main" id="{3456F4F7-65BF-011D-765B-B99FFE8C801C}"/>
              </a:ext>
            </a:extLst>
          </p:cNvPr>
          <p:cNvGrpSpPr/>
          <p:nvPr/>
        </p:nvGrpSpPr>
        <p:grpSpPr>
          <a:xfrm>
            <a:off x="652519" y="2120129"/>
            <a:ext cx="2171387" cy="3644299"/>
            <a:chOff x="172954" y="2151664"/>
            <a:chExt cx="2171387" cy="3644299"/>
          </a:xfrm>
        </p:grpSpPr>
        <p:sp>
          <p:nvSpPr>
            <p:cNvPr id="7" name="Freeform 5">
              <a:extLst>
                <a:ext uri="{FF2B5EF4-FFF2-40B4-BE49-F238E27FC236}">
                  <a16:creationId xmlns:a16="http://schemas.microsoft.com/office/drawing/2014/main" id="{9C595C92-3EAA-059F-2673-B538D7D90851}"/>
                </a:ext>
              </a:extLst>
            </p:cNvPr>
            <p:cNvSpPr>
              <a:spLocks/>
            </p:cNvSpPr>
            <p:nvPr/>
          </p:nvSpPr>
          <p:spPr bwMode="auto">
            <a:xfrm>
              <a:off x="376238"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4F81BD"/>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01</a:t>
              </a:r>
              <a:endParaRPr lang="zh-CN" altLang="en-US" sz="4400">
                <a:solidFill>
                  <a:schemeClr val="bg1"/>
                </a:solidFill>
                <a:cs typeface="+mn-ea"/>
                <a:sym typeface="+mn-lt"/>
              </a:endParaRPr>
            </a:p>
          </p:txBody>
        </p:sp>
        <p:sp>
          <p:nvSpPr>
            <p:cNvPr id="8" name="Freeform 6">
              <a:extLst>
                <a:ext uri="{FF2B5EF4-FFF2-40B4-BE49-F238E27FC236}">
                  <a16:creationId xmlns:a16="http://schemas.microsoft.com/office/drawing/2014/main" id="{BD273CC8-B962-BA82-31F7-E3C6C8151840}"/>
                </a:ext>
              </a:extLst>
            </p:cNvPr>
            <p:cNvSpPr>
              <a:spLocks/>
            </p:cNvSpPr>
            <p:nvPr/>
          </p:nvSpPr>
          <p:spPr bwMode="auto">
            <a:xfrm>
              <a:off x="172954"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4F81B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9" name="矩形 3">
              <a:extLst>
                <a:ext uri="{FF2B5EF4-FFF2-40B4-BE49-F238E27FC236}">
                  <a16:creationId xmlns:a16="http://schemas.microsoft.com/office/drawing/2014/main" id="{54A37BF0-0E18-208E-45B1-1D8ECC958282}"/>
                </a:ext>
              </a:extLst>
            </p:cNvPr>
            <p:cNvSpPr/>
            <p:nvPr/>
          </p:nvSpPr>
          <p:spPr>
            <a:xfrm>
              <a:off x="172954" y="3390538"/>
              <a:ext cx="2171387" cy="1938992"/>
            </a:xfrm>
            <a:prstGeom prst="rect">
              <a:avLst/>
            </a:prstGeom>
          </p:spPr>
          <p:txBody>
            <a:bodyPr wrap="square">
              <a:spAutoFit/>
            </a:bodyPr>
            <a:lstStyle/>
            <a:p>
              <a:pPr algn="ctr" fontAlgn="ctr">
                <a:lnSpc>
                  <a:spcPct val="150000"/>
                </a:lnSpc>
              </a:pPr>
              <a:r>
                <a:rPr lang="vi-VN" sz="1600"/>
                <a:t>Hệ thống hóa và biểu diễn bài toán dự đoán dưới dạng bài toán học trên đồ thị với dữ liệu không đồng nhất. </a:t>
              </a:r>
              <a:endParaRPr lang="en-US" altLang="zh-CN" sz="1100">
                <a:solidFill>
                  <a:schemeClr val="tx1">
                    <a:lumMod val="75000"/>
                    <a:lumOff val="25000"/>
                  </a:schemeClr>
                </a:solidFill>
                <a:cs typeface="+mn-ea"/>
                <a:sym typeface="+mn-lt"/>
              </a:endParaRPr>
            </a:p>
          </p:txBody>
        </p:sp>
      </p:grpSp>
      <p:grpSp>
        <p:nvGrpSpPr>
          <p:cNvPr id="10" name="Group 9">
            <a:extLst>
              <a:ext uri="{FF2B5EF4-FFF2-40B4-BE49-F238E27FC236}">
                <a16:creationId xmlns:a16="http://schemas.microsoft.com/office/drawing/2014/main" id="{0964A7BA-A9CF-FAEE-49A2-2E4D5D1B6B01}"/>
              </a:ext>
            </a:extLst>
          </p:cNvPr>
          <p:cNvGrpSpPr/>
          <p:nvPr/>
        </p:nvGrpSpPr>
        <p:grpSpPr>
          <a:xfrm>
            <a:off x="3048000" y="2120129"/>
            <a:ext cx="2171387" cy="3644299"/>
            <a:chOff x="2725683" y="2151664"/>
            <a:chExt cx="2171387" cy="3644299"/>
          </a:xfrm>
        </p:grpSpPr>
        <p:sp>
          <p:nvSpPr>
            <p:cNvPr id="11" name="Freeform 5">
              <a:extLst>
                <a:ext uri="{FF2B5EF4-FFF2-40B4-BE49-F238E27FC236}">
                  <a16:creationId xmlns:a16="http://schemas.microsoft.com/office/drawing/2014/main" id="{1C2BA4CC-884A-466F-A8C1-9AF2922AB2A6}"/>
                </a:ext>
              </a:extLst>
            </p:cNvPr>
            <p:cNvSpPr>
              <a:spLocks/>
            </p:cNvSpPr>
            <p:nvPr/>
          </p:nvSpPr>
          <p:spPr bwMode="auto">
            <a:xfrm>
              <a:off x="2928967"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F5C700"/>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02</a:t>
              </a:r>
              <a:endParaRPr lang="zh-CN" altLang="en-US" sz="4400">
                <a:solidFill>
                  <a:schemeClr val="bg1"/>
                </a:solidFill>
                <a:cs typeface="+mn-ea"/>
                <a:sym typeface="+mn-lt"/>
              </a:endParaRPr>
            </a:p>
          </p:txBody>
        </p:sp>
        <p:sp>
          <p:nvSpPr>
            <p:cNvPr id="12" name="Freeform 6">
              <a:extLst>
                <a:ext uri="{FF2B5EF4-FFF2-40B4-BE49-F238E27FC236}">
                  <a16:creationId xmlns:a16="http://schemas.microsoft.com/office/drawing/2014/main" id="{2EE59E41-32C9-F6AB-2714-F9B1D72FA74B}"/>
                </a:ext>
              </a:extLst>
            </p:cNvPr>
            <p:cNvSpPr>
              <a:spLocks/>
            </p:cNvSpPr>
            <p:nvPr/>
          </p:nvSpPr>
          <p:spPr bwMode="auto">
            <a:xfrm>
              <a:off x="2725683"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F5C7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矩形 7">
              <a:extLst>
                <a:ext uri="{FF2B5EF4-FFF2-40B4-BE49-F238E27FC236}">
                  <a16:creationId xmlns:a16="http://schemas.microsoft.com/office/drawing/2014/main" id="{C696ED97-3385-C238-354F-5D6C553CF1FA}"/>
                </a:ext>
              </a:extLst>
            </p:cNvPr>
            <p:cNvSpPr/>
            <p:nvPr/>
          </p:nvSpPr>
          <p:spPr>
            <a:xfrm>
              <a:off x="2936633" y="3390538"/>
              <a:ext cx="1777324" cy="2308324"/>
            </a:xfrm>
            <a:prstGeom prst="rect">
              <a:avLst/>
            </a:prstGeom>
          </p:spPr>
          <p:txBody>
            <a:bodyPr wrap="square">
              <a:spAutoFit/>
            </a:bodyPr>
            <a:lstStyle/>
            <a:p>
              <a:pPr algn="ctr" fontAlgn="ctr">
                <a:lnSpc>
                  <a:spcPct val="150000"/>
                </a:lnSpc>
              </a:pPr>
              <a:r>
                <a:rPr lang="vi-VN" sz="1600"/>
                <a:t>Nghiên cứu và khai thác một số mô hình học sâu để dự đoán quan hệ giữa thảo dược và bệnh. </a:t>
              </a:r>
              <a:endParaRPr lang="en-US" altLang="zh-CN" sz="1100">
                <a:solidFill>
                  <a:schemeClr val="tx1">
                    <a:lumMod val="75000"/>
                    <a:lumOff val="25000"/>
                  </a:schemeClr>
                </a:solidFill>
                <a:cs typeface="+mn-ea"/>
                <a:sym typeface="+mn-lt"/>
              </a:endParaRPr>
            </a:p>
          </p:txBody>
        </p:sp>
      </p:grpSp>
      <p:grpSp>
        <p:nvGrpSpPr>
          <p:cNvPr id="14" name="Group 13">
            <a:extLst>
              <a:ext uri="{FF2B5EF4-FFF2-40B4-BE49-F238E27FC236}">
                <a16:creationId xmlns:a16="http://schemas.microsoft.com/office/drawing/2014/main" id="{F9F8ED09-F9A1-1490-C782-51B4D105C2BC}"/>
              </a:ext>
            </a:extLst>
          </p:cNvPr>
          <p:cNvGrpSpPr/>
          <p:nvPr/>
        </p:nvGrpSpPr>
        <p:grpSpPr>
          <a:xfrm>
            <a:off x="5443481" y="2120129"/>
            <a:ext cx="2171387" cy="3644299"/>
            <a:chOff x="5278412" y="2151664"/>
            <a:chExt cx="2171387" cy="3644299"/>
          </a:xfrm>
        </p:grpSpPr>
        <p:sp>
          <p:nvSpPr>
            <p:cNvPr id="15" name="Freeform 5">
              <a:extLst>
                <a:ext uri="{FF2B5EF4-FFF2-40B4-BE49-F238E27FC236}">
                  <a16:creationId xmlns:a16="http://schemas.microsoft.com/office/drawing/2014/main" id="{A16A946C-9F86-B7D0-253F-DB2928C3FDFC}"/>
                </a:ext>
              </a:extLst>
            </p:cNvPr>
            <p:cNvSpPr>
              <a:spLocks/>
            </p:cNvSpPr>
            <p:nvPr/>
          </p:nvSpPr>
          <p:spPr bwMode="auto">
            <a:xfrm>
              <a:off x="5481696"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4F81BD"/>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03</a:t>
              </a:r>
              <a:endParaRPr lang="zh-CN" altLang="en-US" sz="4400">
                <a:solidFill>
                  <a:schemeClr val="bg1"/>
                </a:solidFill>
                <a:cs typeface="+mn-ea"/>
                <a:sym typeface="+mn-lt"/>
              </a:endParaRPr>
            </a:p>
          </p:txBody>
        </p:sp>
        <p:sp>
          <p:nvSpPr>
            <p:cNvPr id="16" name="Freeform 6">
              <a:extLst>
                <a:ext uri="{FF2B5EF4-FFF2-40B4-BE49-F238E27FC236}">
                  <a16:creationId xmlns:a16="http://schemas.microsoft.com/office/drawing/2014/main" id="{47700E40-3361-BD78-3798-DEB018610C48}"/>
                </a:ext>
              </a:extLst>
            </p:cNvPr>
            <p:cNvSpPr>
              <a:spLocks/>
            </p:cNvSpPr>
            <p:nvPr/>
          </p:nvSpPr>
          <p:spPr bwMode="auto">
            <a:xfrm>
              <a:off x="5278412"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4F81B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矩形 11">
              <a:extLst>
                <a:ext uri="{FF2B5EF4-FFF2-40B4-BE49-F238E27FC236}">
                  <a16:creationId xmlns:a16="http://schemas.microsoft.com/office/drawing/2014/main" id="{1D6FFE24-B2B0-8824-FF74-3980AE3716FB}"/>
                </a:ext>
              </a:extLst>
            </p:cNvPr>
            <p:cNvSpPr/>
            <p:nvPr/>
          </p:nvSpPr>
          <p:spPr>
            <a:xfrm>
              <a:off x="5298582" y="3384657"/>
              <a:ext cx="2151217" cy="1938992"/>
            </a:xfrm>
            <a:prstGeom prst="rect">
              <a:avLst/>
            </a:prstGeom>
          </p:spPr>
          <p:txBody>
            <a:bodyPr wrap="square">
              <a:spAutoFit/>
            </a:bodyPr>
            <a:lstStyle/>
            <a:p>
              <a:pPr algn="ctr" fontAlgn="ctr">
                <a:lnSpc>
                  <a:spcPct val="150000"/>
                </a:lnSpc>
              </a:pPr>
              <a:r>
                <a:rPr lang="en-US" sz="1600"/>
                <a:t>Xây dựng và đánh giá mô hình trên các bộ dữ liệu thực tế trong lĩnh vực y học cổ truyền. </a:t>
              </a:r>
              <a:endParaRPr lang="en-US" altLang="zh-CN" sz="1100">
                <a:solidFill>
                  <a:schemeClr val="tx1">
                    <a:lumMod val="75000"/>
                    <a:lumOff val="25000"/>
                  </a:schemeClr>
                </a:solidFill>
                <a:cs typeface="+mn-ea"/>
                <a:sym typeface="+mn-lt"/>
              </a:endParaRPr>
            </a:p>
          </p:txBody>
        </p:sp>
      </p:grpSp>
      <p:sp>
        <p:nvSpPr>
          <p:cNvPr id="45" name="TextBox 44">
            <a:extLst>
              <a:ext uri="{FF2B5EF4-FFF2-40B4-BE49-F238E27FC236}">
                <a16:creationId xmlns:a16="http://schemas.microsoft.com/office/drawing/2014/main" id="{82284AD3-F6D1-064B-FB74-C029B3771E38}"/>
              </a:ext>
            </a:extLst>
          </p:cNvPr>
          <p:cNvSpPr txBox="1"/>
          <p:nvPr/>
        </p:nvSpPr>
        <p:spPr>
          <a:xfrm>
            <a:off x="8193063" y="2823023"/>
            <a:ext cx="3346418" cy="3046988"/>
          </a:xfrm>
          <a:prstGeom prst="rect">
            <a:avLst/>
          </a:prstGeom>
          <a:noFill/>
        </p:spPr>
        <p:txBody>
          <a:bodyPr wrap="square" rtlCol="0">
            <a:spAutoFit/>
          </a:bodyPr>
          <a:lstStyle/>
          <a:p>
            <a:pPr marL="342900" indent="-342900" algn="just">
              <a:buFont typeface="Symbol" panose="05050102010706020507" pitchFamily="18" charset="2"/>
              <a:buChar char="Þ"/>
            </a:pPr>
            <a:r>
              <a:rPr lang="en-US" sz="2400">
                <a:latin typeface="Times New Roman" panose="02020603050405020304" pitchFamily="18" charset="0"/>
                <a:cs typeface="Times New Roman" panose="02020603050405020304" pitchFamily="18" charset="0"/>
              </a:rPr>
              <a:t>Cần phát triển các phương pháp tính toán dựa trên dữ liệu, đặc biệt là các mô hình học sâu để thu hẹp không gian tìm kiếm và định hướng cho các thí nghiệm sinh học.</a:t>
            </a:r>
          </a:p>
        </p:txBody>
      </p:sp>
    </p:spTree>
    <p:extLst>
      <p:ext uri="{BB962C8B-B14F-4D97-AF65-F5344CB8AC3E}">
        <p14:creationId xmlns:p14="http://schemas.microsoft.com/office/powerpoint/2010/main" val="253602203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wipe(left)">
                                      <p:cBhvr>
                                        <p:cTn id="20"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327C5-3C0C-960F-A615-E612CA89FECB}"/>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A6C37519-87C7-5F22-4167-8A3F0EFD9F2F}"/>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D07A8042-452D-61CE-CB88-A615DAFBB472}"/>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C18469F3-62B6-BF87-C169-3471BAE1E8BB}"/>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A4366A9F-24EA-DB39-4428-F95B6290D796}"/>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1. TỔNG QUAN VỀ ĐỀ TÀI</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CA2856A5-E260-9DE9-7DD0-8066F5BAEBDE}"/>
              </a:ext>
            </a:extLst>
          </p:cNvPr>
          <p:cNvSpPr txBox="1"/>
          <p:nvPr/>
        </p:nvSpPr>
        <p:spPr>
          <a:xfrm>
            <a:off x="11840443" y="6533145"/>
            <a:ext cx="263214" cy="261610"/>
          </a:xfrm>
          <a:prstGeom prst="rect">
            <a:avLst/>
          </a:prstGeom>
          <a:noFill/>
        </p:spPr>
        <p:txBody>
          <a:bodyPr wrap="none" rtlCol="0">
            <a:spAutoFit/>
          </a:bodyPr>
          <a:lstStyle/>
          <a:p>
            <a:pPr algn="ctr"/>
            <a:r>
              <a:rPr lang="en-US" sz="1100"/>
              <a:t>6</a:t>
            </a:r>
          </a:p>
        </p:txBody>
      </p:sp>
      <p:sp>
        <p:nvSpPr>
          <p:cNvPr id="3" name="Title 1">
            <a:extLst>
              <a:ext uri="{FF2B5EF4-FFF2-40B4-BE49-F238E27FC236}">
                <a16:creationId xmlns:a16="http://schemas.microsoft.com/office/drawing/2014/main" id="{C77A813E-69FC-BD2D-02BD-8B01CA3065C9}"/>
              </a:ext>
            </a:extLst>
          </p:cNvPr>
          <p:cNvSpPr txBox="1">
            <a:spLocks/>
          </p:cNvSpPr>
          <p:nvPr/>
        </p:nvSpPr>
        <p:spPr>
          <a:xfrm>
            <a:off x="389412" y="1307625"/>
            <a:ext cx="6811488"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1.3. Đối tượng và phạm vi nghiên cứu</a:t>
            </a:r>
            <a:endParaRPr lang="en-US" sz="3200" dirty="0">
              <a:latin typeface="Times New Roman" panose="02020603050405020304" pitchFamily="18" charset="0"/>
            </a:endParaRPr>
          </a:p>
        </p:txBody>
      </p:sp>
      <p:sp>
        <p:nvSpPr>
          <p:cNvPr id="4" name="Freeform 18">
            <a:extLst>
              <a:ext uri="{FF2B5EF4-FFF2-40B4-BE49-F238E27FC236}">
                <a16:creationId xmlns:a16="http://schemas.microsoft.com/office/drawing/2014/main" id="{B2D72C43-96B2-9325-C762-507BE2481573}"/>
              </a:ext>
            </a:extLst>
          </p:cNvPr>
          <p:cNvSpPr/>
          <p:nvPr/>
        </p:nvSpPr>
        <p:spPr>
          <a:xfrm>
            <a:off x="-1622" y="6257768"/>
            <a:ext cx="3259172" cy="600231"/>
          </a:xfrm>
          <a:custGeom>
            <a:avLst/>
            <a:gdLst/>
            <a:ahLst/>
            <a:cxnLst/>
            <a:rect l="l" t="t" r="r" b="b"/>
            <a:pathLst>
              <a:path w="7315200" h="1347216">
                <a:moveTo>
                  <a:pt x="0" y="0"/>
                </a:moveTo>
                <a:lnTo>
                  <a:pt x="7315200" y="0"/>
                </a:lnTo>
                <a:lnTo>
                  <a:pt x="7315200" y="1347216"/>
                </a:lnTo>
                <a:lnTo>
                  <a:pt x="0" y="13472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38" name="Group 37">
            <a:extLst>
              <a:ext uri="{FF2B5EF4-FFF2-40B4-BE49-F238E27FC236}">
                <a16:creationId xmlns:a16="http://schemas.microsoft.com/office/drawing/2014/main" id="{F61340A9-C3E9-E1AD-8B83-72BD308C3266}"/>
              </a:ext>
            </a:extLst>
          </p:cNvPr>
          <p:cNvGrpSpPr/>
          <p:nvPr/>
        </p:nvGrpSpPr>
        <p:grpSpPr>
          <a:xfrm>
            <a:off x="6321953" y="2246096"/>
            <a:ext cx="4288897" cy="3528476"/>
            <a:chOff x="6321953" y="2246096"/>
            <a:chExt cx="4288897" cy="3528476"/>
          </a:xfrm>
        </p:grpSpPr>
        <p:grpSp>
          <p:nvGrpSpPr>
            <p:cNvPr id="23" name="Group 6">
              <a:extLst>
                <a:ext uri="{FF2B5EF4-FFF2-40B4-BE49-F238E27FC236}">
                  <a16:creationId xmlns:a16="http://schemas.microsoft.com/office/drawing/2014/main" id="{A81DE380-F46F-01C8-7E17-E0DE06B61B73}"/>
                </a:ext>
              </a:extLst>
            </p:cNvPr>
            <p:cNvGrpSpPr/>
            <p:nvPr/>
          </p:nvGrpSpPr>
          <p:grpSpPr>
            <a:xfrm>
              <a:off x="6321953" y="2246096"/>
              <a:ext cx="4288897" cy="3528476"/>
              <a:chOff x="0" y="0"/>
              <a:chExt cx="1892847" cy="1214200"/>
            </a:xfrm>
          </p:grpSpPr>
          <p:sp>
            <p:nvSpPr>
              <p:cNvPr id="24" name="Freeform 7">
                <a:extLst>
                  <a:ext uri="{FF2B5EF4-FFF2-40B4-BE49-F238E27FC236}">
                    <a16:creationId xmlns:a16="http://schemas.microsoft.com/office/drawing/2014/main" id="{38E243BE-F9C7-8A1D-A26C-D9367535D3AF}"/>
                  </a:ext>
                </a:extLst>
              </p:cNvPr>
              <p:cNvSpPr/>
              <p:nvPr/>
            </p:nvSpPr>
            <p:spPr>
              <a:xfrm>
                <a:off x="0" y="0"/>
                <a:ext cx="1892846" cy="1214200"/>
              </a:xfrm>
              <a:custGeom>
                <a:avLst/>
                <a:gdLst/>
                <a:ahLst/>
                <a:cxnLst/>
                <a:rect l="l" t="t" r="r" b="b"/>
                <a:pathLst>
                  <a:path w="1892846" h="1214200">
                    <a:moveTo>
                      <a:pt x="26931" y="0"/>
                    </a:moveTo>
                    <a:lnTo>
                      <a:pt x="1865916" y="0"/>
                    </a:lnTo>
                    <a:cubicBezTo>
                      <a:pt x="1873058" y="0"/>
                      <a:pt x="1879908" y="2837"/>
                      <a:pt x="1884959" y="7888"/>
                    </a:cubicBezTo>
                    <a:cubicBezTo>
                      <a:pt x="1890009" y="12938"/>
                      <a:pt x="1892846" y="19788"/>
                      <a:pt x="1892846" y="26931"/>
                    </a:cubicBezTo>
                    <a:lnTo>
                      <a:pt x="1892846" y="1187269"/>
                    </a:lnTo>
                    <a:cubicBezTo>
                      <a:pt x="1892846" y="1194411"/>
                      <a:pt x="1890009" y="1201261"/>
                      <a:pt x="1884959" y="1206312"/>
                    </a:cubicBezTo>
                    <a:cubicBezTo>
                      <a:pt x="1879908" y="1211362"/>
                      <a:pt x="1873058" y="1214200"/>
                      <a:pt x="1865916" y="1214200"/>
                    </a:cubicBezTo>
                    <a:lnTo>
                      <a:pt x="26931" y="1214200"/>
                    </a:lnTo>
                    <a:cubicBezTo>
                      <a:pt x="19788" y="1214200"/>
                      <a:pt x="12938" y="1211362"/>
                      <a:pt x="7888" y="1206312"/>
                    </a:cubicBezTo>
                    <a:cubicBezTo>
                      <a:pt x="2837" y="1201261"/>
                      <a:pt x="0" y="1194411"/>
                      <a:pt x="0" y="1187269"/>
                    </a:cubicBezTo>
                    <a:lnTo>
                      <a:pt x="0" y="26931"/>
                    </a:lnTo>
                    <a:cubicBezTo>
                      <a:pt x="0" y="19788"/>
                      <a:pt x="2837" y="12938"/>
                      <a:pt x="7888" y="7888"/>
                    </a:cubicBezTo>
                    <a:cubicBezTo>
                      <a:pt x="12938" y="2837"/>
                      <a:pt x="19788" y="0"/>
                      <a:pt x="26931" y="0"/>
                    </a:cubicBezTo>
                    <a:close/>
                  </a:path>
                </a:pathLst>
              </a:custGeom>
              <a:solidFill>
                <a:srgbClr val="FFDE59"/>
              </a:solidFill>
            </p:spPr>
            <p:txBody>
              <a:bodyPr/>
              <a:lstStyle/>
              <a:p>
                <a:endParaRPr lang="en-US"/>
              </a:p>
            </p:txBody>
          </p:sp>
          <p:sp>
            <p:nvSpPr>
              <p:cNvPr id="25" name="TextBox 8">
                <a:extLst>
                  <a:ext uri="{FF2B5EF4-FFF2-40B4-BE49-F238E27FC236}">
                    <a16:creationId xmlns:a16="http://schemas.microsoft.com/office/drawing/2014/main" id="{04ADACB7-06F5-11B6-1B42-6938BEAC490C}"/>
                  </a:ext>
                </a:extLst>
              </p:cNvPr>
              <p:cNvSpPr txBox="1"/>
              <p:nvPr/>
            </p:nvSpPr>
            <p:spPr>
              <a:xfrm>
                <a:off x="0" y="-38100"/>
                <a:ext cx="1892847" cy="1252300"/>
              </a:xfrm>
              <a:prstGeom prst="rect">
                <a:avLst/>
              </a:prstGeom>
            </p:spPr>
            <p:txBody>
              <a:bodyPr lIns="50800" tIns="50800" rIns="50800" bIns="50800" rtlCol="0" anchor="ctr"/>
              <a:lstStyle/>
              <a:p>
                <a:pPr algn="ctr">
                  <a:lnSpc>
                    <a:spcPts val="2659"/>
                  </a:lnSpc>
                </a:pPr>
                <a:endParaRPr/>
              </a:p>
            </p:txBody>
          </p:sp>
        </p:grpSp>
        <p:sp>
          <p:nvSpPr>
            <p:cNvPr id="30" name="TextBox 14">
              <a:extLst>
                <a:ext uri="{FF2B5EF4-FFF2-40B4-BE49-F238E27FC236}">
                  <a16:creationId xmlns:a16="http://schemas.microsoft.com/office/drawing/2014/main" id="{C98F60F4-39E5-2447-EFDF-A72223D0B22E}"/>
                </a:ext>
              </a:extLst>
            </p:cNvPr>
            <p:cNvSpPr txBox="1"/>
            <p:nvPr/>
          </p:nvSpPr>
          <p:spPr>
            <a:xfrm>
              <a:off x="6573558" y="2320112"/>
              <a:ext cx="3785687" cy="454740"/>
            </a:xfrm>
            <a:prstGeom prst="rect">
              <a:avLst/>
            </a:prstGeom>
          </p:spPr>
          <p:txBody>
            <a:bodyPr wrap="square" lIns="0" tIns="0" rIns="0" bIns="0" rtlCol="0" anchor="t">
              <a:spAutoFit/>
            </a:bodyPr>
            <a:lstStyle/>
            <a:p>
              <a:pPr algn="ctr">
                <a:lnSpc>
                  <a:spcPts val="4011"/>
                </a:lnSpc>
              </a:pPr>
              <a:r>
                <a:rPr lang="en-US" sz="2000" b="1" spc="16">
                  <a:solidFill>
                    <a:srgbClr val="093F6D"/>
                  </a:solidFill>
                  <a:latin typeface="Codec Pro Bold"/>
                  <a:ea typeface="Codec Pro Bold"/>
                  <a:cs typeface="Codec Pro Bold"/>
                  <a:sym typeface="Codec Pro Bold"/>
                </a:rPr>
                <a:t>PHẠM VI NGHIÊN CỨU</a:t>
              </a:r>
            </a:p>
          </p:txBody>
        </p:sp>
        <p:sp>
          <p:nvSpPr>
            <p:cNvPr id="31" name="TextBox 15">
              <a:extLst>
                <a:ext uri="{FF2B5EF4-FFF2-40B4-BE49-F238E27FC236}">
                  <a16:creationId xmlns:a16="http://schemas.microsoft.com/office/drawing/2014/main" id="{A35F89F7-A5E5-66B0-7583-496DEB9BC2CD}"/>
                </a:ext>
              </a:extLst>
            </p:cNvPr>
            <p:cNvSpPr txBox="1"/>
            <p:nvPr/>
          </p:nvSpPr>
          <p:spPr>
            <a:xfrm>
              <a:off x="6505477" y="2857923"/>
              <a:ext cx="3921848" cy="2822568"/>
            </a:xfrm>
            <a:prstGeom prst="rect">
              <a:avLst/>
            </a:prstGeom>
          </p:spPr>
          <p:txBody>
            <a:bodyPr wrap="square" lIns="0" tIns="0" rIns="0" bIns="0" rtlCol="0" anchor="t">
              <a:spAutoFit/>
            </a:bodyPr>
            <a:lstStyle/>
            <a:p>
              <a:pPr marL="285750" indent="-285750" algn="just">
                <a:lnSpc>
                  <a:spcPts val="3246"/>
                </a:lnSpc>
                <a:buFontTx/>
                <a:buChar char="-"/>
              </a:pPr>
              <a:r>
                <a:rPr lang="vi-VN"/>
                <a:t>Dữ liệu thảo dược, bệnh, hợp chất và protein từ các cơ sở dữ liệu uy tín như HERB và TCMSP</a:t>
              </a:r>
              <a:r>
                <a:rPr lang="en-US"/>
                <a:t>.</a:t>
              </a:r>
            </a:p>
            <a:p>
              <a:pPr marL="285750" indent="-285750" algn="just">
                <a:lnSpc>
                  <a:spcPts val="3246"/>
                </a:lnSpc>
                <a:buFontTx/>
                <a:buChar char="-"/>
              </a:pPr>
              <a:r>
                <a:rPr lang="vi-VN"/>
                <a:t>Các phương pháp học sâu, học biểu diễn trên đồ thị và các phương pháp dự đoán liên kết trong mạng sinh học</a:t>
              </a:r>
              <a:r>
                <a:rPr lang="en-US"/>
                <a:t>.</a:t>
              </a:r>
              <a:endParaRPr lang="en-US" spc="13">
                <a:solidFill>
                  <a:srgbClr val="093F6D"/>
                </a:solidFill>
                <a:latin typeface="Codec Pro"/>
                <a:ea typeface="Codec Pro"/>
                <a:cs typeface="Codec Pro"/>
                <a:sym typeface="Codec Pro"/>
              </a:endParaRPr>
            </a:p>
          </p:txBody>
        </p:sp>
      </p:grpSp>
      <p:grpSp>
        <p:nvGrpSpPr>
          <p:cNvPr id="37" name="Group 36">
            <a:extLst>
              <a:ext uri="{FF2B5EF4-FFF2-40B4-BE49-F238E27FC236}">
                <a16:creationId xmlns:a16="http://schemas.microsoft.com/office/drawing/2014/main" id="{41001C03-7A03-C150-CDB0-3D8D67FAE7CA}"/>
              </a:ext>
            </a:extLst>
          </p:cNvPr>
          <p:cNvGrpSpPr/>
          <p:nvPr/>
        </p:nvGrpSpPr>
        <p:grpSpPr>
          <a:xfrm>
            <a:off x="1733341" y="2235469"/>
            <a:ext cx="4288895" cy="3528476"/>
            <a:chOff x="1733341" y="2235469"/>
            <a:chExt cx="4288895" cy="3528476"/>
          </a:xfrm>
        </p:grpSpPr>
        <p:sp>
          <p:nvSpPr>
            <p:cNvPr id="36" name="Rectangle: Rounded Corners 35">
              <a:extLst>
                <a:ext uri="{FF2B5EF4-FFF2-40B4-BE49-F238E27FC236}">
                  <a16:creationId xmlns:a16="http://schemas.microsoft.com/office/drawing/2014/main" id="{B009CEC9-92D1-03DB-B7AB-DFE5D5B725B7}"/>
                </a:ext>
              </a:extLst>
            </p:cNvPr>
            <p:cNvSpPr/>
            <p:nvPr/>
          </p:nvSpPr>
          <p:spPr>
            <a:xfrm>
              <a:off x="1733341" y="2235469"/>
              <a:ext cx="4288895" cy="3528476"/>
            </a:xfrm>
            <a:prstGeom prst="roundRect">
              <a:avLst>
                <a:gd name="adj" fmla="val 2090"/>
              </a:avLst>
            </a:prstGeom>
            <a:solidFill>
              <a:srgbClr val="4F81B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12">
              <a:extLst>
                <a:ext uri="{FF2B5EF4-FFF2-40B4-BE49-F238E27FC236}">
                  <a16:creationId xmlns:a16="http://schemas.microsoft.com/office/drawing/2014/main" id="{87E8E08E-961D-3A90-FAA3-671E82554E63}"/>
                </a:ext>
              </a:extLst>
            </p:cNvPr>
            <p:cNvSpPr txBox="1"/>
            <p:nvPr/>
          </p:nvSpPr>
          <p:spPr>
            <a:xfrm>
              <a:off x="1990482" y="2320112"/>
              <a:ext cx="3774612" cy="454740"/>
            </a:xfrm>
            <a:prstGeom prst="rect">
              <a:avLst/>
            </a:prstGeom>
          </p:spPr>
          <p:txBody>
            <a:bodyPr wrap="square" lIns="0" tIns="0" rIns="0" bIns="0" rtlCol="0" anchor="t">
              <a:spAutoFit/>
            </a:bodyPr>
            <a:lstStyle/>
            <a:p>
              <a:pPr algn="ctr">
                <a:lnSpc>
                  <a:spcPts val="4011"/>
                </a:lnSpc>
              </a:pPr>
              <a:r>
                <a:rPr lang="en-US" sz="2000" b="1" spc="16">
                  <a:solidFill>
                    <a:srgbClr val="FFFFFF"/>
                  </a:solidFill>
                  <a:latin typeface="Codec Pro Bold"/>
                  <a:ea typeface="Codec Pro Bold"/>
                  <a:cs typeface="Codec Pro Bold"/>
                  <a:sym typeface="Codec Pro Bold"/>
                </a:rPr>
                <a:t>ĐỐI TƯỢNG NGHIÊN CỨU</a:t>
              </a:r>
            </a:p>
          </p:txBody>
        </p:sp>
        <p:sp>
          <p:nvSpPr>
            <p:cNvPr id="28" name="TextBox 13">
              <a:extLst>
                <a:ext uri="{FF2B5EF4-FFF2-40B4-BE49-F238E27FC236}">
                  <a16:creationId xmlns:a16="http://schemas.microsoft.com/office/drawing/2014/main" id="{F0232961-981E-ED6E-E433-195DC7990CA1}"/>
                </a:ext>
              </a:extLst>
            </p:cNvPr>
            <p:cNvSpPr txBox="1"/>
            <p:nvPr/>
          </p:nvSpPr>
          <p:spPr>
            <a:xfrm>
              <a:off x="1916864" y="2857923"/>
              <a:ext cx="3921848" cy="1591461"/>
            </a:xfrm>
            <a:prstGeom prst="rect">
              <a:avLst/>
            </a:prstGeom>
          </p:spPr>
          <p:txBody>
            <a:bodyPr wrap="square" lIns="0" tIns="0" rIns="0" bIns="0" rtlCol="0" anchor="t">
              <a:spAutoFit/>
            </a:bodyPr>
            <a:lstStyle/>
            <a:p>
              <a:pPr algn="just">
                <a:lnSpc>
                  <a:spcPts val="3246"/>
                </a:lnSpc>
              </a:pPr>
              <a:r>
                <a:rPr lang="en-US" sz="2000">
                  <a:solidFill>
                    <a:schemeClr val="bg1"/>
                  </a:solidFill>
                </a:rPr>
                <a:t>C</a:t>
              </a:r>
              <a:r>
                <a:rPr lang="vi-VN" sz="2000">
                  <a:solidFill>
                    <a:schemeClr val="bg1"/>
                  </a:solidFill>
                </a:rPr>
                <a:t>ác mối quan hệ giữa thảo dược và bệnh, được biểu diễn dưới dạng các cặp tương tác trong không gian dữ liệu sinh học.</a:t>
              </a:r>
              <a:endParaRPr lang="en-US" sz="2000" spc="13">
                <a:solidFill>
                  <a:schemeClr val="bg1"/>
                </a:solidFill>
                <a:latin typeface="Codec Pro"/>
                <a:ea typeface="Codec Pro"/>
                <a:cs typeface="Codec Pro"/>
                <a:sym typeface="Codec Pro"/>
              </a:endParaRPr>
            </a:p>
          </p:txBody>
        </p:sp>
      </p:grpSp>
    </p:spTree>
    <p:extLst>
      <p:ext uri="{BB962C8B-B14F-4D97-AF65-F5344CB8AC3E}">
        <p14:creationId xmlns:p14="http://schemas.microsoft.com/office/powerpoint/2010/main" val="215187852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up)">
                                      <p:cBhvr>
                                        <p:cTn id="7" dur="500"/>
                                        <p:tgtEl>
                                          <p:spTgt spid="3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up)">
                                      <p:cBhvr>
                                        <p:cTn id="1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54C7A73-D144-44C6-963C-0C00BEEF09BF}"/>
              </a:ext>
            </a:extLst>
          </p:cNvPr>
          <p:cNvSpPr/>
          <p:nvPr/>
        </p:nvSpPr>
        <p:spPr>
          <a:xfrm>
            <a:off x="-600" y="1973943"/>
            <a:ext cx="12193201" cy="3414420"/>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85">
              <a:cs typeface="+mn-ea"/>
              <a:sym typeface="+mn-lt"/>
            </a:endParaRPr>
          </a:p>
        </p:txBody>
      </p:sp>
      <p:sp>
        <p:nvSpPr>
          <p:cNvPr id="7" name="椭圆 6">
            <a:extLst>
              <a:ext uri="{FF2B5EF4-FFF2-40B4-BE49-F238E27FC236}">
                <a16:creationId xmlns:a16="http://schemas.microsoft.com/office/drawing/2014/main" id="{BE079EE6-C7CF-4A53-BEC9-E9E7DDFA3233}"/>
              </a:ext>
            </a:extLst>
          </p:cNvPr>
          <p:cNvSpPr/>
          <p:nvPr/>
        </p:nvSpPr>
        <p:spPr>
          <a:xfrm>
            <a:off x="5112204" y="828740"/>
            <a:ext cx="1967594" cy="1967594"/>
          </a:xfrm>
          <a:prstGeom prst="ellipse">
            <a:avLst/>
          </a:prstGeom>
          <a:solidFill>
            <a:srgbClr val="F5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a:solidFill>
                  <a:schemeClr val="bg1"/>
                </a:solidFill>
                <a:cs typeface="+mn-ea"/>
                <a:sym typeface="+mn-lt"/>
              </a:rPr>
              <a:t>02</a:t>
            </a:r>
            <a:endParaRPr lang="zh-CN" altLang="en-US" sz="8000">
              <a:solidFill>
                <a:schemeClr val="bg1"/>
              </a:solidFill>
              <a:cs typeface="+mn-ea"/>
              <a:sym typeface="+mn-lt"/>
            </a:endParaRPr>
          </a:p>
        </p:txBody>
      </p:sp>
      <p:sp>
        <p:nvSpPr>
          <p:cNvPr id="8" name="文本框 7">
            <a:extLst>
              <a:ext uri="{FF2B5EF4-FFF2-40B4-BE49-F238E27FC236}">
                <a16:creationId xmlns:a16="http://schemas.microsoft.com/office/drawing/2014/main" id="{D2F84EC4-4857-42A7-B414-FC8D7392F7AB}"/>
              </a:ext>
            </a:extLst>
          </p:cNvPr>
          <p:cNvSpPr txBox="1"/>
          <p:nvPr/>
        </p:nvSpPr>
        <p:spPr>
          <a:xfrm>
            <a:off x="1561755" y="3107571"/>
            <a:ext cx="9068508" cy="923330"/>
          </a:xfrm>
          <a:prstGeom prst="rect">
            <a:avLst/>
          </a:prstGeom>
          <a:noFill/>
        </p:spPr>
        <p:txBody>
          <a:bodyPr wrap="none" rtlCol="0">
            <a:spAutoFit/>
          </a:bodyPr>
          <a:lstStyle/>
          <a:p>
            <a:pPr algn="ctr"/>
            <a:r>
              <a:rPr lang="en-US" altLang="zh-CN" sz="5400" b="1">
                <a:solidFill>
                  <a:schemeClr val="bg1"/>
                </a:solidFill>
                <a:cs typeface="+mn-ea"/>
                <a:sym typeface="+mn-lt"/>
              </a:rPr>
              <a:t>TỔNG QUAN NGHIÊN CỨU</a:t>
            </a:r>
            <a:endParaRPr lang="zh-CN" altLang="en-US" sz="5400" b="1">
              <a:solidFill>
                <a:schemeClr val="bg1"/>
              </a:solidFill>
              <a:cs typeface="+mn-ea"/>
              <a:sym typeface="+mn-lt"/>
            </a:endParaRPr>
          </a:p>
        </p:txBody>
      </p:sp>
      <p:sp>
        <p:nvSpPr>
          <p:cNvPr id="3" name="TextBox 2">
            <a:extLst>
              <a:ext uri="{FF2B5EF4-FFF2-40B4-BE49-F238E27FC236}">
                <a16:creationId xmlns:a16="http://schemas.microsoft.com/office/drawing/2014/main" id="{436AE12C-EC80-97F5-8318-C7EFCB09B108}"/>
              </a:ext>
            </a:extLst>
          </p:cNvPr>
          <p:cNvSpPr txBox="1"/>
          <p:nvPr/>
        </p:nvSpPr>
        <p:spPr>
          <a:xfrm>
            <a:off x="11840443" y="6533145"/>
            <a:ext cx="263214" cy="261610"/>
          </a:xfrm>
          <a:prstGeom prst="rect">
            <a:avLst/>
          </a:prstGeom>
          <a:noFill/>
        </p:spPr>
        <p:txBody>
          <a:bodyPr wrap="none" rtlCol="0">
            <a:spAutoFit/>
          </a:bodyPr>
          <a:lstStyle/>
          <a:p>
            <a:pPr algn="ctr"/>
            <a:r>
              <a:rPr lang="en-US" sz="1100"/>
              <a:t>7</a:t>
            </a:r>
          </a:p>
        </p:txBody>
      </p:sp>
    </p:spTree>
    <p:extLst>
      <p:ext uri="{BB962C8B-B14F-4D97-AF65-F5344CB8AC3E}">
        <p14:creationId xmlns:p14="http://schemas.microsoft.com/office/powerpoint/2010/main" val="3931004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8F7A3-5FA5-0944-7D68-5C203D3E1616}"/>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AC005B7A-89CF-F25E-972F-99101082CA03}"/>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12FA0AD8-220F-E67C-A67C-D6F59C56832E}"/>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C33567F9-7CBD-609C-04DB-8665BB0B8758}"/>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0329AFA5-1739-EC3E-744D-21384E4BB27D}"/>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2. TỔNG QUAN NGHIÊN CỨU</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46C93939-DF56-069B-127F-E76387780C7E}"/>
              </a:ext>
            </a:extLst>
          </p:cNvPr>
          <p:cNvSpPr txBox="1"/>
          <p:nvPr/>
        </p:nvSpPr>
        <p:spPr>
          <a:xfrm>
            <a:off x="11840443" y="6533145"/>
            <a:ext cx="263214" cy="261610"/>
          </a:xfrm>
          <a:prstGeom prst="rect">
            <a:avLst/>
          </a:prstGeom>
          <a:noFill/>
        </p:spPr>
        <p:txBody>
          <a:bodyPr wrap="none" rtlCol="0">
            <a:spAutoFit/>
          </a:bodyPr>
          <a:lstStyle/>
          <a:p>
            <a:pPr algn="ctr"/>
            <a:r>
              <a:rPr lang="en-US" sz="1100"/>
              <a:t>8</a:t>
            </a:r>
          </a:p>
        </p:txBody>
      </p:sp>
      <p:sp>
        <p:nvSpPr>
          <p:cNvPr id="3" name="Title 1">
            <a:extLst>
              <a:ext uri="{FF2B5EF4-FFF2-40B4-BE49-F238E27FC236}">
                <a16:creationId xmlns:a16="http://schemas.microsoft.com/office/drawing/2014/main" id="{503410D1-ABE5-273F-0817-61405D4092FF}"/>
              </a:ext>
            </a:extLst>
          </p:cNvPr>
          <p:cNvSpPr txBox="1">
            <a:spLocks/>
          </p:cNvSpPr>
          <p:nvPr/>
        </p:nvSpPr>
        <p:spPr>
          <a:xfrm>
            <a:off x="389413" y="1307625"/>
            <a:ext cx="49160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2.1. Tổng quan nghiên cứu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D3784A94-86F5-DDEE-B452-ADD64EE20AEE}"/>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4">
            <a:extLst>
              <a:ext uri="{FF2B5EF4-FFF2-40B4-BE49-F238E27FC236}">
                <a16:creationId xmlns:a16="http://schemas.microsoft.com/office/drawing/2014/main" id="{B8B411A5-61F6-958C-8C54-97F479A46C94}"/>
              </a:ext>
            </a:extLst>
          </p:cNvPr>
          <p:cNvSpPr txBox="1"/>
          <p:nvPr/>
        </p:nvSpPr>
        <p:spPr>
          <a:xfrm>
            <a:off x="876300" y="1806830"/>
            <a:ext cx="10487026" cy="4613058"/>
          </a:xfrm>
          <a:prstGeom prst="rect">
            <a:avLst/>
          </a:prstGeom>
          <a:noFill/>
        </p:spPr>
        <p:txBody>
          <a:bodyPr wrap="square" rtlCol="0">
            <a:spAutoFit/>
          </a:bodyPr>
          <a:lstStyle/>
          <a:p>
            <a:pPr algn="just">
              <a:lnSpc>
                <a:spcPct val="150000"/>
              </a:lnSpc>
            </a:pPr>
            <a:r>
              <a:rPr lang="en-US">
                <a:latin typeface="Times New Roman" panose="02020603050405020304" pitchFamily="18" charset="0"/>
                <a:cs typeface="Times New Roman" panose="02020603050405020304" pitchFamily="18" charset="0"/>
              </a:rPr>
              <a:t>C</a:t>
            </a:r>
            <a:r>
              <a:rPr lang="vi-VN">
                <a:latin typeface="Times New Roman" panose="02020603050405020304" pitchFamily="18" charset="0"/>
                <a:cs typeface="Times New Roman" panose="02020603050405020304" pitchFamily="18" charset="0"/>
              </a:rPr>
              <a:t>ác phương pháp tiếp cận bài toán này có thể được chia thành ba nhóm chính</a:t>
            </a:r>
            <a:r>
              <a:rPr lang="en-US">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q"/>
            </a:pPr>
            <a:r>
              <a:rPr lang="vi-VN" b="1">
                <a:latin typeface="Times New Roman" panose="02020603050405020304" pitchFamily="18" charset="0"/>
                <a:cs typeface="Times New Roman" panose="02020603050405020304" pitchFamily="18" charset="0"/>
              </a:rPr>
              <a:t>Phương pháp dựa trên tính tương đồng (Similarity-based methods):</a:t>
            </a:r>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điển hình là mô hình NCP (Network Consistency Projection) của Chen và các cộng sự (2025). Phương pháp này </a:t>
            </a:r>
            <a:r>
              <a:rPr lang="vi-VN">
                <a:latin typeface="Times New Roman" panose="02020603050405020304" pitchFamily="18" charset="0"/>
                <a:cs typeface="Times New Roman" panose="02020603050405020304" pitchFamily="18" charset="0"/>
              </a:rPr>
              <a:t>khai thác độ tương đồng về mặt sinh học như cấu trúc hợp chất hoặc đặc trưng protein mục tiêu để suy ra các liên kết mới</a:t>
            </a:r>
            <a:r>
              <a:rPr lang="en-US">
                <a:latin typeface="Times New Roman" panose="02020603050405020304" pitchFamily="18" charset="0"/>
                <a:cs typeface="Times New Roman" panose="02020603050405020304" pitchFamily="18" charset="0"/>
              </a:rPr>
              <a:t>. Tuy nghiên mô hình này </a:t>
            </a:r>
            <a:r>
              <a:rPr lang="vi-VN">
                <a:latin typeface="Times New Roman" panose="02020603050405020304" pitchFamily="18" charset="0"/>
                <a:cs typeface="Times New Roman" panose="02020603050405020304" pitchFamily="18" charset="0"/>
              </a:rPr>
              <a:t>không có khả năng tự học các biểu diễn đặc trưng tiềm ẩn của thực thể</a:t>
            </a:r>
            <a:r>
              <a:rPr lang="en-US">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q"/>
            </a:pPr>
            <a:r>
              <a:rPr lang="vi-VN" b="1">
                <a:latin typeface="Times New Roman" panose="02020603050405020304" pitchFamily="18" charset="0"/>
                <a:cs typeface="Times New Roman" panose="02020603050405020304" pitchFamily="18" charset="0"/>
              </a:rPr>
              <a:t>Phương pháp dựa trên Học sâu truyền thống (Deep Learning)</a:t>
            </a:r>
            <a:r>
              <a:rPr lang="en-US" b="1">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điển hình là phương pháp MNNMDA (2023)</a:t>
            </a:r>
            <a:r>
              <a:rPr lang="en-US">
                <a:latin typeface="Times New Roman" panose="02020603050405020304" pitchFamily="18" charset="0"/>
                <a:cs typeface="Times New Roman" panose="02020603050405020304" pitchFamily="18" charset="0"/>
              </a:rPr>
              <a:t>. Phương pháp này dung kỹ thuật tối thiểu hóa chuẩn hạt nhân ma trận kết hợp đa mạng để dự đoán. Tuy nhiên phương pháp này không khai thác được </a:t>
            </a:r>
            <a:r>
              <a:rPr lang="vi-VN">
                <a:latin typeface="Times New Roman" panose="02020603050405020304" pitchFamily="18" charset="0"/>
                <a:cs typeface="Times New Roman" panose="02020603050405020304" pitchFamily="18" charset="0"/>
              </a:rPr>
              <a:t>cấu trúc tô-pô phức tạp của mạng lưới sinh học</a:t>
            </a:r>
            <a:r>
              <a:rPr lang="en-US">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q"/>
            </a:pPr>
            <a:r>
              <a:rPr lang="vi-VN" b="1">
                <a:latin typeface="Times New Roman" panose="02020603050405020304" pitchFamily="18" charset="0"/>
                <a:cs typeface="Times New Roman" panose="02020603050405020304" pitchFamily="18" charset="0"/>
              </a:rPr>
              <a:t>Phương pháp dựa trên Mạng nơ-ron đồ thị (Graph Neural Networks - GNN)</a:t>
            </a:r>
            <a:r>
              <a:rPr lang="en-US" b="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gần đây nhất là mô hình iCAM-Net (Zheng và cộng sự, 2025). Mô hình này </a:t>
            </a:r>
            <a:r>
              <a:rPr lang="vi-VN">
                <a:latin typeface="Times New Roman" panose="02020603050405020304" pitchFamily="18" charset="0"/>
                <a:cs typeface="Times New Roman" panose="02020603050405020304" pitchFamily="18" charset="0"/>
              </a:rPr>
              <a:t>sử dụng cơ chế chú ý đa kênh kết hợp với tín hiệu tương tác phân tử</a:t>
            </a:r>
            <a:r>
              <a:rPr lang="en-US">
                <a:latin typeface="Times New Roman" panose="02020603050405020304" pitchFamily="18" charset="0"/>
                <a:cs typeface="Times New Roman" panose="02020603050405020304" pitchFamily="18" charset="0"/>
              </a:rPr>
              <a:t> đã đạt hiệu suất rất cao</a:t>
            </a:r>
            <a:r>
              <a:rPr lang="vi-VN">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09572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7FF5-BF64-B39E-5B1F-7991BF576792}"/>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A5EB66CA-CA17-B1EB-C790-23906F1BDA00}"/>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405481BB-AC03-A13F-DD2E-B01B9277D93C}"/>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DC406093-D54C-FD3C-D8C4-C057AD879C83}"/>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48D5A535-15F5-9F31-B149-D94E1586763B}"/>
              </a:ext>
            </a:extLst>
          </p:cNvPr>
          <p:cNvSpPr txBox="1"/>
          <p:nvPr/>
        </p:nvSpPr>
        <p:spPr>
          <a:xfrm>
            <a:off x="3048000" y="291713"/>
            <a:ext cx="6096000" cy="584775"/>
          </a:xfrm>
          <a:prstGeom prst="rect">
            <a:avLst/>
          </a:prstGeom>
          <a:noFill/>
        </p:spPr>
        <p:txBody>
          <a:bodyPr wrap="square">
            <a:spAutoFit/>
          </a:bodyPr>
          <a:lstStyle/>
          <a:p>
            <a:pPr algn="ctr"/>
            <a:r>
              <a:rPr lang="en-US" altLang="zh-CN" sz="3200" b="1">
                <a:solidFill>
                  <a:schemeClr val="bg1"/>
                </a:solidFill>
                <a:cs typeface="+mn-ea"/>
                <a:sym typeface="+mn-lt"/>
              </a:rPr>
              <a:t>2. TỔNG QUAN NGHIÊN CỨU</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0052496B-7BB4-2735-584D-B2EFE778141E}"/>
              </a:ext>
            </a:extLst>
          </p:cNvPr>
          <p:cNvSpPr txBox="1"/>
          <p:nvPr/>
        </p:nvSpPr>
        <p:spPr>
          <a:xfrm>
            <a:off x="11840443" y="6533145"/>
            <a:ext cx="263214" cy="261610"/>
          </a:xfrm>
          <a:prstGeom prst="rect">
            <a:avLst/>
          </a:prstGeom>
          <a:noFill/>
        </p:spPr>
        <p:txBody>
          <a:bodyPr wrap="none" rtlCol="0">
            <a:spAutoFit/>
          </a:bodyPr>
          <a:lstStyle/>
          <a:p>
            <a:pPr algn="ctr"/>
            <a:r>
              <a:rPr lang="en-US" sz="1100"/>
              <a:t>9</a:t>
            </a:r>
          </a:p>
        </p:txBody>
      </p:sp>
      <p:sp>
        <p:nvSpPr>
          <p:cNvPr id="3" name="Title 1">
            <a:extLst>
              <a:ext uri="{FF2B5EF4-FFF2-40B4-BE49-F238E27FC236}">
                <a16:creationId xmlns:a16="http://schemas.microsoft.com/office/drawing/2014/main" id="{59C0145E-E3FC-F9E3-CBFC-32433C45F60C}"/>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2.2. Khoảng trống nghiên cứu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9405B467-2192-978E-ECFE-6D634D041E7D}"/>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8" name="Group 17">
            <a:extLst>
              <a:ext uri="{FF2B5EF4-FFF2-40B4-BE49-F238E27FC236}">
                <a16:creationId xmlns:a16="http://schemas.microsoft.com/office/drawing/2014/main" id="{D408620F-8EF0-DD70-7DDE-852A27A872D2}"/>
              </a:ext>
            </a:extLst>
          </p:cNvPr>
          <p:cNvGrpSpPr/>
          <p:nvPr/>
        </p:nvGrpSpPr>
        <p:grpSpPr>
          <a:xfrm>
            <a:off x="2500369" y="1931009"/>
            <a:ext cx="2171387" cy="3644299"/>
            <a:chOff x="172954" y="2151664"/>
            <a:chExt cx="2171387" cy="3644299"/>
          </a:xfrm>
        </p:grpSpPr>
        <p:sp>
          <p:nvSpPr>
            <p:cNvPr id="21" name="Freeform 5">
              <a:extLst>
                <a:ext uri="{FF2B5EF4-FFF2-40B4-BE49-F238E27FC236}">
                  <a16:creationId xmlns:a16="http://schemas.microsoft.com/office/drawing/2014/main" id="{ABFB1041-4179-1711-3D43-FFB9EFF8F358}"/>
                </a:ext>
              </a:extLst>
            </p:cNvPr>
            <p:cNvSpPr>
              <a:spLocks/>
            </p:cNvSpPr>
            <p:nvPr/>
          </p:nvSpPr>
          <p:spPr bwMode="auto">
            <a:xfrm>
              <a:off x="376238"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4F81BD"/>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01</a:t>
              </a:r>
              <a:endParaRPr lang="zh-CN" altLang="en-US" sz="4400">
                <a:solidFill>
                  <a:schemeClr val="bg1"/>
                </a:solidFill>
                <a:cs typeface="+mn-ea"/>
                <a:sym typeface="+mn-lt"/>
              </a:endParaRPr>
            </a:p>
          </p:txBody>
        </p:sp>
        <p:sp>
          <p:nvSpPr>
            <p:cNvPr id="22" name="Freeform 6">
              <a:extLst>
                <a:ext uri="{FF2B5EF4-FFF2-40B4-BE49-F238E27FC236}">
                  <a16:creationId xmlns:a16="http://schemas.microsoft.com/office/drawing/2014/main" id="{5DBCEBDB-C167-DF87-D926-3FE39A575E88}"/>
                </a:ext>
              </a:extLst>
            </p:cNvPr>
            <p:cNvSpPr>
              <a:spLocks/>
            </p:cNvSpPr>
            <p:nvPr/>
          </p:nvSpPr>
          <p:spPr bwMode="auto">
            <a:xfrm>
              <a:off x="172954"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4F81B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矩形 3">
              <a:extLst>
                <a:ext uri="{FF2B5EF4-FFF2-40B4-BE49-F238E27FC236}">
                  <a16:creationId xmlns:a16="http://schemas.microsoft.com/office/drawing/2014/main" id="{E7EA55ED-ED2E-BAEB-879C-C0D9FB494025}"/>
                </a:ext>
              </a:extLst>
            </p:cNvPr>
            <p:cNvSpPr/>
            <p:nvPr/>
          </p:nvSpPr>
          <p:spPr>
            <a:xfrm>
              <a:off x="172954" y="3390538"/>
              <a:ext cx="2171387" cy="2400657"/>
            </a:xfrm>
            <a:prstGeom prst="rect">
              <a:avLst/>
            </a:prstGeom>
          </p:spPr>
          <p:txBody>
            <a:bodyPr wrap="square">
              <a:spAutoFit/>
            </a:bodyPr>
            <a:lstStyle/>
            <a:p>
              <a:pPr algn="ctr" fontAlgn="ctr">
                <a:lnSpc>
                  <a:spcPct val="150000"/>
                </a:lnSpc>
              </a:pPr>
              <a:r>
                <a:rPr lang="en-US" sz="2000">
                  <a:latin typeface="Times New Roman" panose="02020603050405020304" pitchFamily="18" charset="0"/>
                  <a:cs typeface="Times New Roman" panose="02020603050405020304" pitchFamily="18" charset="0"/>
                </a:rPr>
                <a:t>T</a:t>
              </a:r>
              <a:r>
                <a:rPr lang="vi-VN" sz="2000">
                  <a:latin typeface="Times New Roman" panose="02020603050405020304" pitchFamily="18" charset="0"/>
                  <a:cs typeface="Times New Roman" panose="02020603050405020304" pitchFamily="18" charset="0"/>
                </a:rPr>
                <a:t>hiếu cơ chế đồng chỉnh và ràng buộc sự nhất quán giữa các góc nhìn đồ thị</a:t>
              </a:r>
              <a:r>
                <a:rPr lang="en-US" sz="2000">
                  <a:latin typeface="Times New Roman" panose="02020603050405020304" pitchFamily="18" charset="0"/>
                  <a:cs typeface="Times New Roman" panose="02020603050405020304" pitchFamily="18" charset="0"/>
                </a:rPr>
                <a:t>.</a:t>
              </a:r>
              <a:endParaRPr lang="en-US" altLang="zh-CN" sz="1400">
                <a:solidFill>
                  <a:schemeClr val="tx1">
                    <a:lumMod val="75000"/>
                    <a:lumOff val="25000"/>
                  </a:schemeClr>
                </a:solidFill>
                <a:cs typeface="+mn-ea"/>
                <a:sym typeface="+mn-lt"/>
              </a:endParaRPr>
            </a:p>
          </p:txBody>
        </p:sp>
      </p:grpSp>
      <p:grpSp>
        <p:nvGrpSpPr>
          <p:cNvPr id="24" name="Group 23">
            <a:extLst>
              <a:ext uri="{FF2B5EF4-FFF2-40B4-BE49-F238E27FC236}">
                <a16:creationId xmlns:a16="http://schemas.microsoft.com/office/drawing/2014/main" id="{54E8AA97-D23D-5775-BC9E-596D9C4D9B9D}"/>
              </a:ext>
            </a:extLst>
          </p:cNvPr>
          <p:cNvGrpSpPr/>
          <p:nvPr/>
        </p:nvGrpSpPr>
        <p:grpSpPr>
          <a:xfrm>
            <a:off x="4895850" y="1931009"/>
            <a:ext cx="2171387" cy="3644299"/>
            <a:chOff x="2725683" y="2151664"/>
            <a:chExt cx="2171387" cy="3644299"/>
          </a:xfrm>
        </p:grpSpPr>
        <p:sp>
          <p:nvSpPr>
            <p:cNvPr id="25" name="Freeform 5">
              <a:extLst>
                <a:ext uri="{FF2B5EF4-FFF2-40B4-BE49-F238E27FC236}">
                  <a16:creationId xmlns:a16="http://schemas.microsoft.com/office/drawing/2014/main" id="{5CB18EAD-F455-01D0-CBAC-03593E10DF1F}"/>
                </a:ext>
              </a:extLst>
            </p:cNvPr>
            <p:cNvSpPr>
              <a:spLocks/>
            </p:cNvSpPr>
            <p:nvPr/>
          </p:nvSpPr>
          <p:spPr bwMode="auto">
            <a:xfrm>
              <a:off x="2928967"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F5C700"/>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02</a:t>
              </a:r>
              <a:endParaRPr lang="zh-CN" altLang="en-US" sz="4400">
                <a:solidFill>
                  <a:schemeClr val="bg1"/>
                </a:solidFill>
                <a:cs typeface="+mn-ea"/>
                <a:sym typeface="+mn-lt"/>
              </a:endParaRPr>
            </a:p>
          </p:txBody>
        </p:sp>
        <p:sp>
          <p:nvSpPr>
            <p:cNvPr id="27" name="Freeform 6">
              <a:extLst>
                <a:ext uri="{FF2B5EF4-FFF2-40B4-BE49-F238E27FC236}">
                  <a16:creationId xmlns:a16="http://schemas.microsoft.com/office/drawing/2014/main" id="{3E78A5F0-0D6D-9D3D-D21C-1830858D3E26}"/>
                </a:ext>
              </a:extLst>
            </p:cNvPr>
            <p:cNvSpPr>
              <a:spLocks/>
            </p:cNvSpPr>
            <p:nvPr/>
          </p:nvSpPr>
          <p:spPr bwMode="auto">
            <a:xfrm>
              <a:off x="2725683"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F5C700"/>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矩形 7">
              <a:extLst>
                <a:ext uri="{FF2B5EF4-FFF2-40B4-BE49-F238E27FC236}">
                  <a16:creationId xmlns:a16="http://schemas.microsoft.com/office/drawing/2014/main" id="{9222FF0B-666C-7AD4-E952-8C4FC48FFA35}"/>
                </a:ext>
              </a:extLst>
            </p:cNvPr>
            <p:cNvSpPr/>
            <p:nvPr/>
          </p:nvSpPr>
          <p:spPr>
            <a:xfrm>
              <a:off x="2820934" y="3390538"/>
              <a:ext cx="1990724" cy="2345322"/>
            </a:xfrm>
            <a:prstGeom prst="rect">
              <a:avLst/>
            </a:prstGeom>
          </p:spPr>
          <p:txBody>
            <a:bodyPr wrap="square">
              <a:spAutoFit/>
            </a:bodyPr>
            <a:lstStyle/>
            <a:p>
              <a:pPr algn="ctr">
                <a:lnSpc>
                  <a:spcPct val="150000"/>
                </a:lnSpc>
              </a:pPr>
              <a:r>
                <a:rPr lang="en-US" sz="2000">
                  <a:latin typeface="Times New Roman" panose="02020603050405020304" pitchFamily="18" charset="0"/>
                  <a:cs typeface="Times New Roman" panose="02020603050405020304" pitchFamily="18" charset="0"/>
                </a:rPr>
                <a:t>H</a:t>
              </a:r>
              <a:r>
                <a:rPr lang="vi-VN" sz="2000">
                  <a:latin typeface="Times New Roman" panose="02020603050405020304" pitchFamily="18" charset="0"/>
                  <a:cs typeface="Times New Roman" panose="02020603050405020304" pitchFamily="18" charset="0"/>
                </a:rPr>
                <a:t>ạn chế </a:t>
              </a:r>
              <a:r>
                <a:rPr lang="en-US" sz="2000">
                  <a:latin typeface="Times New Roman" panose="02020603050405020304" pitchFamily="18" charset="0"/>
                  <a:cs typeface="Times New Roman" panose="02020603050405020304" pitchFamily="18" charset="0"/>
                </a:rPr>
                <a:t>khi </a:t>
              </a:r>
              <a:r>
                <a:rPr lang="vi-VN" sz="2000">
                  <a:latin typeface="Times New Roman" panose="02020603050405020304" pitchFamily="18" charset="0"/>
                  <a:cs typeface="Times New Roman" panose="02020603050405020304" pitchFamily="18" charset="0"/>
                </a:rPr>
                <a:t>kết hợp đặc trưng cố định hoặc thiếu tính thích nghi cục bộ</a:t>
              </a:r>
              <a:r>
                <a:rPr lang="en-US" sz="2000">
                  <a:latin typeface="Times New Roman" panose="02020603050405020304" pitchFamily="18" charset="0"/>
                  <a:cs typeface="Times New Roman" panose="02020603050405020304" pitchFamily="18" charset="0"/>
                </a:rPr>
                <a:t>.</a:t>
              </a:r>
            </a:p>
          </p:txBody>
        </p:sp>
      </p:grpSp>
      <p:grpSp>
        <p:nvGrpSpPr>
          <p:cNvPr id="30" name="Group 29">
            <a:extLst>
              <a:ext uri="{FF2B5EF4-FFF2-40B4-BE49-F238E27FC236}">
                <a16:creationId xmlns:a16="http://schemas.microsoft.com/office/drawing/2014/main" id="{B48FD9B5-C638-7EB4-BD02-FD5772744556}"/>
              </a:ext>
            </a:extLst>
          </p:cNvPr>
          <p:cNvGrpSpPr/>
          <p:nvPr/>
        </p:nvGrpSpPr>
        <p:grpSpPr>
          <a:xfrm>
            <a:off x="7291331" y="1931009"/>
            <a:ext cx="2171387" cy="3644299"/>
            <a:chOff x="5278412" y="2151664"/>
            <a:chExt cx="2171387" cy="3644299"/>
          </a:xfrm>
        </p:grpSpPr>
        <p:sp>
          <p:nvSpPr>
            <p:cNvPr id="31" name="Freeform 5">
              <a:extLst>
                <a:ext uri="{FF2B5EF4-FFF2-40B4-BE49-F238E27FC236}">
                  <a16:creationId xmlns:a16="http://schemas.microsoft.com/office/drawing/2014/main" id="{DB484046-2EC5-57BB-81C7-1DF08AFA588E}"/>
                </a:ext>
              </a:extLst>
            </p:cNvPr>
            <p:cNvSpPr>
              <a:spLocks/>
            </p:cNvSpPr>
            <p:nvPr/>
          </p:nvSpPr>
          <p:spPr bwMode="auto">
            <a:xfrm>
              <a:off x="5481696" y="2151664"/>
              <a:ext cx="1784990" cy="1268796"/>
            </a:xfrm>
            <a:custGeom>
              <a:avLst/>
              <a:gdLst>
                <a:gd name="T0" fmla="*/ 808 w 808"/>
                <a:gd name="T1" fmla="*/ 508 h 508"/>
                <a:gd name="T2" fmla="*/ 808 w 808"/>
                <a:gd name="T3" fmla="*/ 48 h 508"/>
                <a:gd name="T4" fmla="*/ 760 w 808"/>
                <a:gd name="T5" fmla="*/ 0 h 508"/>
                <a:gd name="T6" fmla="*/ 48 w 808"/>
                <a:gd name="T7" fmla="*/ 0 h 508"/>
                <a:gd name="T8" fmla="*/ 0 w 808"/>
                <a:gd name="T9" fmla="*/ 48 h 508"/>
                <a:gd name="T10" fmla="*/ 0 w 808"/>
                <a:gd name="T11" fmla="*/ 508 h 508"/>
                <a:gd name="T12" fmla="*/ 808 w 808"/>
                <a:gd name="T13" fmla="*/ 508 h 508"/>
              </a:gdLst>
              <a:ahLst/>
              <a:cxnLst>
                <a:cxn ang="0">
                  <a:pos x="T0" y="T1"/>
                </a:cxn>
                <a:cxn ang="0">
                  <a:pos x="T2" y="T3"/>
                </a:cxn>
                <a:cxn ang="0">
                  <a:pos x="T4" y="T5"/>
                </a:cxn>
                <a:cxn ang="0">
                  <a:pos x="T6" y="T7"/>
                </a:cxn>
                <a:cxn ang="0">
                  <a:pos x="T8" y="T9"/>
                </a:cxn>
                <a:cxn ang="0">
                  <a:pos x="T10" y="T11"/>
                </a:cxn>
                <a:cxn ang="0">
                  <a:pos x="T12" y="T13"/>
                </a:cxn>
              </a:cxnLst>
              <a:rect l="0" t="0" r="r" b="b"/>
              <a:pathLst>
                <a:path w="808" h="508">
                  <a:moveTo>
                    <a:pt x="808" y="508"/>
                  </a:moveTo>
                  <a:cubicBezTo>
                    <a:pt x="808" y="48"/>
                    <a:pt x="808" y="48"/>
                    <a:pt x="808" y="48"/>
                  </a:cubicBezTo>
                  <a:cubicBezTo>
                    <a:pt x="808" y="22"/>
                    <a:pt x="786" y="0"/>
                    <a:pt x="760" y="0"/>
                  </a:cubicBezTo>
                  <a:cubicBezTo>
                    <a:pt x="48" y="0"/>
                    <a:pt x="48" y="0"/>
                    <a:pt x="48" y="0"/>
                  </a:cubicBezTo>
                  <a:cubicBezTo>
                    <a:pt x="22" y="0"/>
                    <a:pt x="0" y="22"/>
                    <a:pt x="0" y="48"/>
                  </a:cubicBezTo>
                  <a:cubicBezTo>
                    <a:pt x="0" y="508"/>
                    <a:pt x="0" y="508"/>
                    <a:pt x="0" y="508"/>
                  </a:cubicBezTo>
                  <a:lnTo>
                    <a:pt x="808" y="508"/>
                  </a:lnTo>
                  <a:close/>
                </a:path>
              </a:pathLst>
            </a:custGeom>
            <a:solidFill>
              <a:srgbClr val="4F81BD"/>
            </a:solidFill>
            <a:ln>
              <a:noFill/>
            </a:ln>
          </p:spPr>
          <p:txBody>
            <a:bodyPr vert="horz" wrap="square" lIns="0" tIns="0" rIns="0" bIns="216000" numCol="1" anchor="ctr" anchorCtr="0" compatLnSpc="1">
              <a:prstTxWarp prst="textNoShape">
                <a:avLst/>
              </a:prstTxWarp>
            </a:bodyPr>
            <a:lstStyle/>
            <a:p>
              <a:pPr algn="ctr"/>
              <a:r>
                <a:rPr lang="en-US" altLang="zh-CN" sz="4400">
                  <a:solidFill>
                    <a:schemeClr val="bg1"/>
                  </a:solidFill>
                  <a:cs typeface="+mn-ea"/>
                  <a:sym typeface="+mn-lt"/>
                </a:rPr>
                <a:t>03</a:t>
              </a:r>
              <a:endParaRPr lang="zh-CN" altLang="en-US" sz="4400">
                <a:solidFill>
                  <a:schemeClr val="bg1"/>
                </a:solidFill>
                <a:cs typeface="+mn-ea"/>
                <a:sym typeface="+mn-lt"/>
              </a:endParaRPr>
            </a:p>
          </p:txBody>
        </p:sp>
        <p:sp>
          <p:nvSpPr>
            <p:cNvPr id="32" name="Freeform 6">
              <a:extLst>
                <a:ext uri="{FF2B5EF4-FFF2-40B4-BE49-F238E27FC236}">
                  <a16:creationId xmlns:a16="http://schemas.microsoft.com/office/drawing/2014/main" id="{527D98F0-EBEC-E097-517B-4B676D1A1D57}"/>
                </a:ext>
              </a:extLst>
            </p:cNvPr>
            <p:cNvSpPr>
              <a:spLocks/>
            </p:cNvSpPr>
            <p:nvPr/>
          </p:nvSpPr>
          <p:spPr bwMode="auto">
            <a:xfrm>
              <a:off x="5278412" y="3098209"/>
              <a:ext cx="2171387" cy="2697754"/>
            </a:xfrm>
            <a:custGeom>
              <a:avLst/>
              <a:gdLst>
                <a:gd name="T0" fmla="*/ 501 w 808"/>
                <a:gd name="T1" fmla="*/ 0 h 888"/>
                <a:gd name="T2" fmla="*/ 404 w 808"/>
                <a:gd name="T3" fmla="*/ 97 h 888"/>
                <a:gd name="T4" fmla="*/ 307 w 808"/>
                <a:gd name="T5" fmla="*/ 0 h 888"/>
                <a:gd name="T6" fmla="*/ 0 w 808"/>
                <a:gd name="T7" fmla="*/ 0 h 888"/>
                <a:gd name="T8" fmla="*/ 0 w 808"/>
                <a:gd name="T9" fmla="*/ 840 h 888"/>
                <a:gd name="T10" fmla="*/ 48 w 808"/>
                <a:gd name="T11" fmla="*/ 888 h 888"/>
                <a:gd name="T12" fmla="*/ 760 w 808"/>
                <a:gd name="T13" fmla="*/ 888 h 888"/>
                <a:gd name="T14" fmla="*/ 808 w 808"/>
                <a:gd name="T15" fmla="*/ 840 h 888"/>
                <a:gd name="T16" fmla="*/ 808 w 808"/>
                <a:gd name="T17" fmla="*/ 0 h 888"/>
                <a:gd name="T18" fmla="*/ 501 w 808"/>
                <a:gd name="T19"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8" h="888">
                  <a:moveTo>
                    <a:pt x="501" y="0"/>
                  </a:moveTo>
                  <a:cubicBezTo>
                    <a:pt x="501" y="54"/>
                    <a:pt x="458" y="97"/>
                    <a:pt x="404" y="97"/>
                  </a:cubicBezTo>
                  <a:cubicBezTo>
                    <a:pt x="350" y="97"/>
                    <a:pt x="307" y="54"/>
                    <a:pt x="307" y="0"/>
                  </a:cubicBezTo>
                  <a:cubicBezTo>
                    <a:pt x="0" y="0"/>
                    <a:pt x="0" y="0"/>
                    <a:pt x="0" y="0"/>
                  </a:cubicBezTo>
                  <a:cubicBezTo>
                    <a:pt x="0" y="840"/>
                    <a:pt x="0" y="840"/>
                    <a:pt x="0" y="840"/>
                  </a:cubicBezTo>
                  <a:cubicBezTo>
                    <a:pt x="0" y="867"/>
                    <a:pt x="22" y="888"/>
                    <a:pt x="48" y="888"/>
                  </a:cubicBezTo>
                  <a:cubicBezTo>
                    <a:pt x="760" y="888"/>
                    <a:pt x="760" y="888"/>
                    <a:pt x="760" y="888"/>
                  </a:cubicBezTo>
                  <a:cubicBezTo>
                    <a:pt x="786" y="888"/>
                    <a:pt x="808" y="867"/>
                    <a:pt x="808" y="840"/>
                  </a:cubicBezTo>
                  <a:cubicBezTo>
                    <a:pt x="808" y="0"/>
                    <a:pt x="808" y="0"/>
                    <a:pt x="808" y="0"/>
                  </a:cubicBezTo>
                  <a:lnTo>
                    <a:pt x="501" y="0"/>
                  </a:lnTo>
                  <a:close/>
                </a:path>
              </a:pathLst>
            </a:custGeom>
            <a:solidFill>
              <a:srgbClr val="FFFFFF"/>
            </a:solidFill>
            <a:ln w="25400" cap="flat">
              <a:solidFill>
                <a:srgbClr val="4F81BD"/>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矩形 11">
              <a:extLst>
                <a:ext uri="{FF2B5EF4-FFF2-40B4-BE49-F238E27FC236}">
                  <a16:creationId xmlns:a16="http://schemas.microsoft.com/office/drawing/2014/main" id="{66AC79E6-B57A-01CE-AACE-606574A2A21B}"/>
                </a:ext>
              </a:extLst>
            </p:cNvPr>
            <p:cNvSpPr/>
            <p:nvPr/>
          </p:nvSpPr>
          <p:spPr>
            <a:xfrm>
              <a:off x="5298582" y="3384657"/>
              <a:ext cx="2151217" cy="2345322"/>
            </a:xfrm>
            <a:prstGeom prst="rect">
              <a:avLst/>
            </a:prstGeom>
          </p:spPr>
          <p:txBody>
            <a:bodyPr wrap="square">
              <a:spAutoFit/>
            </a:bodyPr>
            <a:lstStyle/>
            <a:p>
              <a:pPr algn="ctr">
                <a:lnSpc>
                  <a:spcPct val="150000"/>
                </a:lnSpc>
              </a:pPr>
              <a:r>
                <a:rPr lang="en-US" sz="2000">
                  <a:latin typeface="Times New Roman" panose="02020603050405020304" pitchFamily="18" charset="0"/>
                  <a:cs typeface="Times New Roman" panose="02020603050405020304" pitchFamily="18" charset="0"/>
                </a:rPr>
                <a:t>S</a:t>
              </a:r>
              <a:r>
                <a:rPr lang="vi-VN" sz="2000">
                  <a:latin typeface="Times New Roman" panose="02020603050405020304" pitchFamily="18" charset="0"/>
                  <a:cs typeface="Times New Roman" panose="02020603050405020304" pitchFamily="18" charset="0"/>
                </a:rPr>
                <a:t>ự suy giảm khả năng phân biệt đặc trưng trong không gian mẫu âm khổng lồ</a:t>
              </a:r>
              <a:r>
                <a:rPr lang="en-US" sz="2000">
                  <a:latin typeface="Times New Roman" panose="02020603050405020304" pitchFamily="18" charset="0"/>
                  <a:cs typeface="Times New Roman" panose="02020603050405020304" pitchFamily="18" charset="0"/>
                </a:rPr>
                <a:t>.</a:t>
              </a:r>
            </a:p>
          </p:txBody>
        </p:sp>
      </p:grpSp>
      <p:sp>
        <p:nvSpPr>
          <p:cNvPr id="34" name="TextBox 33">
            <a:extLst>
              <a:ext uri="{FF2B5EF4-FFF2-40B4-BE49-F238E27FC236}">
                <a16:creationId xmlns:a16="http://schemas.microsoft.com/office/drawing/2014/main" id="{BC3AEAD3-8739-FC30-180C-4C775EAF7F98}"/>
              </a:ext>
            </a:extLst>
          </p:cNvPr>
          <p:cNvSpPr txBox="1"/>
          <p:nvPr/>
        </p:nvSpPr>
        <p:spPr>
          <a:xfrm>
            <a:off x="1092544" y="5689747"/>
            <a:ext cx="10385082" cy="830997"/>
          </a:xfrm>
          <a:prstGeom prst="rect">
            <a:avLst/>
          </a:prstGeom>
          <a:noFill/>
        </p:spPr>
        <p:txBody>
          <a:bodyPr wrap="square" rtlCol="0">
            <a:spAutoFit/>
          </a:bodyPr>
          <a:lstStyle/>
          <a:p>
            <a:pPr marL="342900" indent="-342900">
              <a:buFont typeface="Symbol" panose="05050102010706020507" pitchFamily="18" charset="2"/>
              <a:buChar char="Þ"/>
            </a:pPr>
            <a:r>
              <a:rPr lang="en-US" sz="2400">
                <a:latin typeface="Times New Roman" panose="02020603050405020304" pitchFamily="18" charset="0"/>
                <a:cs typeface="Times New Roman" panose="02020603050405020304" pitchFamily="18" charset="0"/>
              </a:rPr>
              <a:t>Đề tài tập trung xây dựng mô hình dự đoán quan hệ giữa thảo dược và bệnh đảm bảo độ chính xác cao và hạn chế được những khoảng trống trên.</a:t>
            </a:r>
          </a:p>
        </p:txBody>
      </p:sp>
    </p:spTree>
    <p:extLst>
      <p:ext uri="{BB962C8B-B14F-4D97-AF65-F5344CB8AC3E}">
        <p14:creationId xmlns:p14="http://schemas.microsoft.com/office/powerpoint/2010/main" val="362498335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up)">
                                      <p:cBhvr>
                                        <p:cTn id="11" dur="500"/>
                                        <p:tgtEl>
                                          <p:spTgt spid="2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up)">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left)">
                                      <p:cBhvr>
                                        <p:cTn id="2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965A4A4-AE7E-45B0-939C-FFFAEC0DD02F}"/>
              </a:ext>
            </a:extLst>
          </p:cNvPr>
          <p:cNvSpPr/>
          <p:nvPr/>
        </p:nvSpPr>
        <p:spPr>
          <a:xfrm>
            <a:off x="-600" y="1973943"/>
            <a:ext cx="12193201" cy="3414420"/>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85">
              <a:cs typeface="+mn-ea"/>
              <a:sym typeface="+mn-lt"/>
            </a:endParaRPr>
          </a:p>
        </p:txBody>
      </p:sp>
      <p:sp>
        <p:nvSpPr>
          <p:cNvPr id="7" name="椭圆 6">
            <a:extLst>
              <a:ext uri="{FF2B5EF4-FFF2-40B4-BE49-F238E27FC236}">
                <a16:creationId xmlns:a16="http://schemas.microsoft.com/office/drawing/2014/main" id="{0F35B969-E7E9-4159-A7F1-7A89CD08B871}"/>
              </a:ext>
            </a:extLst>
          </p:cNvPr>
          <p:cNvSpPr/>
          <p:nvPr/>
        </p:nvSpPr>
        <p:spPr>
          <a:xfrm>
            <a:off x="5112204" y="828740"/>
            <a:ext cx="1967594" cy="1967594"/>
          </a:xfrm>
          <a:prstGeom prst="ellipse">
            <a:avLst/>
          </a:prstGeom>
          <a:solidFill>
            <a:srgbClr val="F5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a:solidFill>
                  <a:schemeClr val="bg1"/>
                </a:solidFill>
                <a:cs typeface="+mn-ea"/>
                <a:sym typeface="+mn-lt"/>
              </a:rPr>
              <a:t>03</a:t>
            </a:r>
            <a:endParaRPr lang="zh-CN" altLang="en-US" sz="8000">
              <a:solidFill>
                <a:schemeClr val="bg1"/>
              </a:solidFill>
              <a:cs typeface="+mn-ea"/>
              <a:sym typeface="+mn-lt"/>
            </a:endParaRPr>
          </a:p>
        </p:txBody>
      </p:sp>
      <p:sp>
        <p:nvSpPr>
          <p:cNvPr id="8" name="文本框 7">
            <a:extLst>
              <a:ext uri="{FF2B5EF4-FFF2-40B4-BE49-F238E27FC236}">
                <a16:creationId xmlns:a16="http://schemas.microsoft.com/office/drawing/2014/main" id="{A2B31B88-BE57-490B-82DE-066909155A9B}"/>
              </a:ext>
            </a:extLst>
          </p:cNvPr>
          <p:cNvSpPr txBox="1"/>
          <p:nvPr/>
        </p:nvSpPr>
        <p:spPr>
          <a:xfrm>
            <a:off x="1267609" y="3107571"/>
            <a:ext cx="9656811" cy="1754326"/>
          </a:xfrm>
          <a:prstGeom prst="rect">
            <a:avLst/>
          </a:prstGeom>
          <a:noFill/>
        </p:spPr>
        <p:txBody>
          <a:bodyPr wrap="none" rtlCol="0">
            <a:spAutoFit/>
          </a:bodyPr>
          <a:lstStyle/>
          <a:p>
            <a:pPr algn="ctr"/>
            <a:r>
              <a:rPr lang="en-US" altLang="zh-CN" sz="5400" b="1">
                <a:solidFill>
                  <a:schemeClr val="bg1"/>
                </a:solidFill>
                <a:cs typeface="+mn-ea"/>
                <a:sym typeface="+mn-lt"/>
              </a:rPr>
              <a:t>DỮ LIỆU VÀ PHƯƠNG PHÁP</a:t>
            </a:r>
          </a:p>
          <a:p>
            <a:pPr algn="ctr"/>
            <a:r>
              <a:rPr lang="en-US" altLang="zh-CN" sz="5400" b="1">
                <a:solidFill>
                  <a:schemeClr val="bg1"/>
                </a:solidFill>
                <a:cs typeface="+mn-ea"/>
                <a:sym typeface="+mn-lt"/>
              </a:rPr>
              <a:t>NGHIÊN CỨU</a:t>
            </a:r>
            <a:endParaRPr lang="zh-CN" altLang="en-US" sz="5400" b="1">
              <a:solidFill>
                <a:schemeClr val="bg1"/>
              </a:solidFill>
              <a:cs typeface="+mn-ea"/>
              <a:sym typeface="+mn-lt"/>
            </a:endParaRPr>
          </a:p>
        </p:txBody>
      </p:sp>
      <p:sp>
        <p:nvSpPr>
          <p:cNvPr id="3" name="TextBox 2">
            <a:extLst>
              <a:ext uri="{FF2B5EF4-FFF2-40B4-BE49-F238E27FC236}">
                <a16:creationId xmlns:a16="http://schemas.microsoft.com/office/drawing/2014/main" id="{C718DBAF-DB53-5EC1-FD2B-30572421BC46}"/>
              </a:ext>
            </a:extLst>
          </p:cNvPr>
          <p:cNvSpPr txBox="1"/>
          <p:nvPr/>
        </p:nvSpPr>
        <p:spPr>
          <a:xfrm>
            <a:off x="11801170" y="6533145"/>
            <a:ext cx="341760" cy="261610"/>
          </a:xfrm>
          <a:prstGeom prst="rect">
            <a:avLst/>
          </a:prstGeom>
          <a:noFill/>
        </p:spPr>
        <p:txBody>
          <a:bodyPr wrap="none" rtlCol="0">
            <a:spAutoFit/>
          </a:bodyPr>
          <a:lstStyle/>
          <a:p>
            <a:pPr algn="ctr"/>
            <a:r>
              <a:rPr lang="en-US" sz="1100"/>
              <a:t>10</a:t>
            </a:r>
          </a:p>
        </p:txBody>
      </p:sp>
    </p:spTree>
    <p:extLst>
      <p:ext uri="{BB962C8B-B14F-4D97-AF65-F5344CB8AC3E}">
        <p14:creationId xmlns:p14="http://schemas.microsoft.com/office/powerpoint/2010/main" val="1630530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E096A-6075-2820-AC26-C523CC83707C}"/>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E579B026-8D2F-7C5B-D7F2-856CA1FCEA83}"/>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A5A1C743-ABE5-63DD-6ED8-951CECB06E43}"/>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5E5927A7-566E-8B42-D847-38144ACC2398}"/>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8BC35773-1E6A-0D40-85EC-17079484CE56}"/>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3. DỮ LIỆU VÀ PHƯƠNG PHÁP NGHIÊN CỨU</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D9AB92B0-1C8A-306E-3862-9128EA5F10D7}"/>
              </a:ext>
            </a:extLst>
          </p:cNvPr>
          <p:cNvSpPr txBox="1"/>
          <p:nvPr/>
        </p:nvSpPr>
        <p:spPr>
          <a:xfrm>
            <a:off x="11801170" y="6533145"/>
            <a:ext cx="341760" cy="261610"/>
          </a:xfrm>
          <a:prstGeom prst="rect">
            <a:avLst/>
          </a:prstGeom>
          <a:noFill/>
        </p:spPr>
        <p:txBody>
          <a:bodyPr wrap="none" rtlCol="0">
            <a:spAutoFit/>
          </a:bodyPr>
          <a:lstStyle/>
          <a:p>
            <a:pPr algn="ctr"/>
            <a:r>
              <a:rPr lang="en-US" sz="1100"/>
              <a:t>11</a:t>
            </a:r>
          </a:p>
        </p:txBody>
      </p:sp>
      <p:sp>
        <p:nvSpPr>
          <p:cNvPr id="3" name="Title 1">
            <a:extLst>
              <a:ext uri="{FF2B5EF4-FFF2-40B4-BE49-F238E27FC236}">
                <a16:creationId xmlns:a16="http://schemas.microsoft.com/office/drawing/2014/main" id="{4D3D0C31-D6E2-7F4D-944F-C79A1DC53681}"/>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3.1. Bộ dữ liệu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6C413B24-8C10-5ECA-6649-FCF4FA9E4515}"/>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Rectangle 4">
            <a:extLst>
              <a:ext uri="{FF2B5EF4-FFF2-40B4-BE49-F238E27FC236}">
                <a16:creationId xmlns:a16="http://schemas.microsoft.com/office/drawing/2014/main" id="{1B24DDCD-E07D-2520-A336-A6C1794825BE}"/>
              </a:ext>
            </a:extLst>
          </p:cNvPr>
          <p:cNvSpPr/>
          <p:nvPr/>
        </p:nvSpPr>
        <p:spPr>
          <a:xfrm>
            <a:off x="847749" y="1884335"/>
            <a:ext cx="10611822" cy="212006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Bộ dữ liệu được kế thừa từ repository công khai của mô hình iCAM-Net – một công trình gần đây khai thác cơ chế attention đa kênh kết hợp tín hiệu tương tác phân tử trong miền y sinh.</a:t>
            </a:r>
          </a:p>
          <a:p>
            <a:pPr marL="285750" indent="-285750" algn="just">
              <a:lnSpc>
                <a:spcPct val="150000"/>
              </a:lnSpc>
              <a:buFont typeface="Arial" panose="020B0604020202020204" pitchFamily="34" charset="0"/>
              <a:buChar char="•"/>
            </a:pPr>
            <a:r>
              <a:rPr lang="en-US">
                <a:latin typeface="Times New Roman" panose="02020603050405020304" pitchFamily="18" charset="0"/>
                <a:cs typeface="Times New Roman" panose="02020603050405020304" pitchFamily="18" charset="0"/>
              </a:rPr>
              <a:t>Nguồn dữ liệu gốc thuộc nhóm TCM (Traditional Chinese Medicine), tích hợp thông tin từ nhiều cơ sở dữ liệu sinh học khác nhau. Thay vì chỉ tập trung vào một loại thực thể, bộ dữ liệu này mô hình hóa đồng thời các thành phần chính gồm: thảo dược, hợp chất hóa học, protein đích và bệnh lý.</a:t>
            </a:r>
            <a:endParaRPr lang="en-US" sz="1600" dirty="0">
              <a:latin typeface="Times New Roman" panose="02020603050405020304" pitchFamily="18" charset="0"/>
              <a:cs typeface="Times New Roman" panose="02020603050405020304" pitchFamily="18" charset="0"/>
            </a:endParaRPr>
          </a:p>
        </p:txBody>
      </p:sp>
      <p:sp>
        <p:nvSpPr>
          <p:cNvPr id="6" name="Right Arrow 7">
            <a:extLst>
              <a:ext uri="{FF2B5EF4-FFF2-40B4-BE49-F238E27FC236}">
                <a16:creationId xmlns:a16="http://schemas.microsoft.com/office/drawing/2014/main" id="{A249D3A8-BBBF-0D8E-7F3F-58550D51F0A3}"/>
              </a:ext>
            </a:extLst>
          </p:cNvPr>
          <p:cNvSpPr/>
          <p:nvPr/>
        </p:nvSpPr>
        <p:spPr>
          <a:xfrm>
            <a:off x="3740460" y="5105369"/>
            <a:ext cx="879376" cy="432048"/>
          </a:xfrm>
          <a:prstGeom prst="rightArrow">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Magnetic Disk 6">
            <a:extLst>
              <a:ext uri="{FF2B5EF4-FFF2-40B4-BE49-F238E27FC236}">
                <a16:creationId xmlns:a16="http://schemas.microsoft.com/office/drawing/2014/main" id="{0F359D27-0C06-0DCD-467C-9B055697311A}"/>
              </a:ext>
            </a:extLst>
          </p:cNvPr>
          <p:cNvSpPr/>
          <p:nvPr/>
        </p:nvSpPr>
        <p:spPr>
          <a:xfrm>
            <a:off x="5000856" y="4228381"/>
            <a:ext cx="2305608" cy="2120068"/>
          </a:xfrm>
          <a:prstGeom prst="flowChartMagneticDisk">
            <a:avLst/>
          </a:prstGeom>
          <a:solidFill>
            <a:schemeClr val="tx2">
              <a:lumMod val="40000"/>
              <a:lumOff val="60000"/>
            </a:schemeClr>
          </a:solidFill>
          <a:ln>
            <a:solidFill>
              <a:schemeClr val="tx2">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t>1.008 thực thể</a:t>
            </a:r>
            <a:r>
              <a:rPr lang="en-US"/>
              <a:t> </a:t>
            </a:r>
          </a:p>
          <a:p>
            <a:pPr algn="ctr"/>
            <a:r>
              <a:rPr lang="en-US"/>
              <a:t>thảo dược</a:t>
            </a:r>
          </a:p>
          <a:p>
            <a:pPr algn="ctr"/>
            <a:r>
              <a:rPr lang="vi-VN"/>
              <a:t>10.890 thực thể</a:t>
            </a:r>
            <a:r>
              <a:rPr lang="en-US"/>
              <a:t> bệnh</a:t>
            </a:r>
            <a:endParaRPr lang="en-US" sz="1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28115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5C18-4C30-6DB8-904F-58C6CA6CD91A}"/>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BD74A0FA-4A5D-57EF-0721-BD3FBA282E4F}"/>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4650661E-EE7D-C3AE-4333-D6A4AEB153C9}"/>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172DBDEF-EE48-B820-86C3-C9697F275C6E}"/>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BFE0CEBF-1F89-792F-ABBA-867D5EE56920}"/>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3. DỮ LIỆU VÀ PHƯƠNG PHÁP NGHIÊN CỨU</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4AFBEE66-F00B-49B5-78F8-553E02368221}"/>
              </a:ext>
            </a:extLst>
          </p:cNvPr>
          <p:cNvSpPr txBox="1"/>
          <p:nvPr/>
        </p:nvSpPr>
        <p:spPr>
          <a:xfrm>
            <a:off x="11801170" y="6533145"/>
            <a:ext cx="341760" cy="261610"/>
          </a:xfrm>
          <a:prstGeom prst="rect">
            <a:avLst/>
          </a:prstGeom>
          <a:noFill/>
        </p:spPr>
        <p:txBody>
          <a:bodyPr wrap="none" rtlCol="0">
            <a:spAutoFit/>
          </a:bodyPr>
          <a:lstStyle/>
          <a:p>
            <a:pPr algn="ctr"/>
            <a:r>
              <a:rPr lang="en-US" sz="1100"/>
              <a:t>12</a:t>
            </a:r>
          </a:p>
        </p:txBody>
      </p:sp>
      <p:sp>
        <p:nvSpPr>
          <p:cNvPr id="3" name="Title 1">
            <a:extLst>
              <a:ext uri="{FF2B5EF4-FFF2-40B4-BE49-F238E27FC236}">
                <a16:creationId xmlns:a16="http://schemas.microsoft.com/office/drawing/2014/main" id="{970F9D7C-845F-621A-E73D-A2AF757C89B9}"/>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3.2. Tiền xử lí dữ liệu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F1CB1AF6-727D-82E2-8B61-EAE3F7F13E02}"/>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F410A764-833B-F620-D1C2-9A11A8CAB110}"/>
                  </a:ext>
                </a:extLst>
              </p:cNvPr>
              <p:cNvSpPr/>
              <p:nvPr/>
            </p:nvSpPr>
            <p:spPr>
              <a:xfrm>
                <a:off x="847749" y="1884335"/>
                <a:ext cx="10611822" cy="4653646"/>
              </a:xfrm>
              <a:prstGeom prst="rect">
                <a:avLst/>
              </a:prstGeom>
            </p:spPr>
            <p:txBody>
              <a:bodyPr wrap="square">
                <a:spAutoFit/>
              </a:bodyPr>
              <a:lstStyle/>
              <a:p>
                <a:pPr algn="just">
                  <a:lnSpc>
                    <a:spcPct val="150000"/>
                  </a:lnSpc>
                </a:pPr>
                <a:r>
                  <a:rPr lang="en-US" sz="2000">
                    <a:latin typeface="Times New Roman" panose="02020603050405020304" pitchFamily="18" charset="0"/>
                    <a:cs typeface="Times New Roman" panose="02020603050405020304" pitchFamily="18" charset="0"/>
                  </a:rPr>
                  <a:t>Các bước chính trong việc tiền xử lí dữ liệu:</a:t>
                </a:r>
              </a:p>
              <a:p>
                <a:pPr marL="342900" lvl="0" indent="-34290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Chuẩn hóa định danh: toàn bộ ID thảo dược và bệnh được ánh xạ về dạng chỉ số liên tiếp</a:t>
                </a:r>
              </a:p>
              <a:p>
                <a:pPr marL="342900" lvl="0" indent="-34290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Xây dựng ma trận tương tác: từ các cặp liên kết H–D, ma trận </a:t>
                </a:r>
                <a14:m>
                  <m:oMath xmlns:m="http://schemas.openxmlformats.org/officeDocument/2006/math">
                    <m:r>
                      <a:rPr lang="en-US" sz="2000" b="1" i="1"/>
                      <m:t>𝑹</m:t>
                    </m:r>
                    <m:r>
                      <a:rPr lang="en-US" sz="2000" i="1"/>
                      <m:t> </m:t>
                    </m:r>
                  </m:oMath>
                </a14:m>
                <a:r>
                  <a:rPr lang="en-US" sz="2000">
                    <a:latin typeface="Times New Roman" panose="02020603050405020304" pitchFamily="18" charset="0"/>
                    <a:cs typeface="Times New Roman" panose="02020603050405020304" pitchFamily="18" charset="0"/>
                  </a:rPr>
                  <a:t>được tạo dưới dạng sparse matrix. </a:t>
                </a:r>
              </a:p>
              <a:p>
                <a:pPr marL="342900" lvl="0" indent="-34290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Sinh đặc trưng biểu diễn (feature construction): </a:t>
                </a:r>
              </a:p>
              <a:p>
                <a:pPr marL="800100" lvl="1" indent="-342900">
                  <a:lnSpc>
                    <a:spcPct val="150000"/>
                  </a:lnSpc>
                  <a:buFont typeface="Wingdings" panose="05000000000000000000" pitchFamily="2" charset="2"/>
                  <a:buChar char="ü"/>
                </a:pPr>
                <a:r>
                  <a:rPr lang="en-US" sz="2000">
                    <a:latin typeface="Times New Roman" panose="02020603050405020304" pitchFamily="18" charset="0"/>
                    <a:cs typeface="Times New Roman" panose="02020603050405020304" pitchFamily="18" charset="0"/>
                  </a:rPr>
                  <a:t>Mỗi thảo dược được biểu diễn bằng vector nhị phân dựa trên tập hợp các hợp chất liên quan. </a:t>
                </a:r>
              </a:p>
              <a:p>
                <a:pPr marL="800100" lvl="1" indent="-342900">
                  <a:lnSpc>
                    <a:spcPct val="150000"/>
                  </a:lnSpc>
                  <a:buFont typeface="Wingdings" panose="05000000000000000000" pitchFamily="2" charset="2"/>
                  <a:buChar char="ü"/>
                </a:pPr>
                <a:r>
                  <a:rPr lang="en-US" sz="2000">
                    <a:latin typeface="Times New Roman" panose="02020603050405020304" pitchFamily="18" charset="0"/>
                    <a:cs typeface="Times New Roman" panose="02020603050405020304" pitchFamily="18" charset="0"/>
                  </a:rPr>
                  <a:t>Mỗi bệnh được biểu diễn tương tự thông qua tập protein mục tiêu. </a:t>
                </a:r>
              </a:p>
              <a:p>
                <a:pPr marL="342900" lvl="0" indent="-34290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Xây dựng đồ thị tương tự (similarity graph): từ các vector đặc trưng, độ tương đồng cosine được tính toán để tạo các cạnh trong đồ thị.</a:t>
                </a:r>
              </a:p>
              <a:p>
                <a:pPr marL="342900" lvl="0" indent="-342900">
                  <a:lnSpc>
                    <a:spcPct val="150000"/>
                  </a:lnSpc>
                  <a:buFont typeface="Arial" panose="020B0604020202020204" pitchFamily="34" charset="0"/>
                  <a:buChar char="•"/>
                </a:pPr>
                <a:r>
                  <a:rPr lang="en-US" sz="2000">
                    <a:latin typeface="Times New Roman" panose="02020603050405020304" pitchFamily="18" charset="0"/>
                    <a:cs typeface="Times New Roman" panose="02020603050405020304" pitchFamily="18" charset="0"/>
                  </a:rPr>
                  <a:t>Lưu trữ và tái lập thực nghiệm: các thống kê và siêu dữ liệu được tổng hợp trong tệp dataset_summary.json, giúp đảm bảo khả năng tái tạo kết quả và kiểm chứng độc lập.</a:t>
                </a:r>
              </a:p>
            </p:txBody>
          </p:sp>
        </mc:Choice>
        <mc:Fallback>
          <p:sp>
            <p:nvSpPr>
              <p:cNvPr id="5" name="Rectangle 4">
                <a:extLst>
                  <a:ext uri="{FF2B5EF4-FFF2-40B4-BE49-F238E27FC236}">
                    <a16:creationId xmlns:a16="http://schemas.microsoft.com/office/drawing/2014/main" id="{F410A764-833B-F620-D1C2-9A11A8CAB110}"/>
                  </a:ext>
                </a:extLst>
              </p:cNvPr>
              <p:cNvSpPr>
                <a:spLocks noRot="1" noChangeAspect="1" noMove="1" noResize="1" noEditPoints="1" noAdjustHandles="1" noChangeArrowheads="1" noChangeShapeType="1" noTextEdit="1"/>
              </p:cNvSpPr>
              <p:nvPr/>
            </p:nvSpPr>
            <p:spPr>
              <a:xfrm>
                <a:off x="847749" y="1884335"/>
                <a:ext cx="10611822" cy="4653646"/>
              </a:xfrm>
              <a:prstGeom prst="rect">
                <a:avLst/>
              </a:prstGeom>
              <a:blipFill>
                <a:blip r:embed="rId6"/>
                <a:stretch>
                  <a:fillRect l="-574" r="-747" b="-1309"/>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FBCF0E49-ED2C-5D1F-4FBE-DEFA8A3758F4}"/>
              </a:ext>
            </a:extLst>
          </p:cNvPr>
          <p:cNvGraphicFramePr>
            <a:graphicFrameLocks noGrp="1"/>
          </p:cNvGraphicFramePr>
          <p:nvPr>
            <p:extLst>
              <p:ext uri="{D42A27DB-BD31-4B8C-83A1-F6EECF244321}">
                <p14:modId xmlns:p14="http://schemas.microsoft.com/office/powerpoint/2010/main" val="883540891"/>
              </p:ext>
            </p:extLst>
          </p:nvPr>
        </p:nvGraphicFramePr>
        <p:xfrm>
          <a:off x="1185863" y="2544092"/>
          <a:ext cx="9820275" cy="1303814"/>
        </p:xfrm>
        <a:graphic>
          <a:graphicData uri="http://schemas.openxmlformats.org/drawingml/2006/table">
            <a:tbl>
              <a:tblPr firstRow="1" firstCol="1" bandRow="1">
                <a:tableStyleId>{5C22544A-7EE6-4342-B048-85BDC9FD1C3A}</a:tableStyleId>
              </a:tblPr>
              <a:tblGrid>
                <a:gridCol w="1562240">
                  <a:extLst>
                    <a:ext uri="{9D8B030D-6E8A-4147-A177-3AD203B41FA5}">
                      <a16:colId xmlns:a16="http://schemas.microsoft.com/office/drawing/2014/main" val="249770882"/>
                    </a:ext>
                  </a:extLst>
                </a:gridCol>
                <a:gridCol w="1758221">
                  <a:extLst>
                    <a:ext uri="{9D8B030D-6E8A-4147-A177-3AD203B41FA5}">
                      <a16:colId xmlns:a16="http://schemas.microsoft.com/office/drawing/2014/main" val="3841443535"/>
                    </a:ext>
                  </a:extLst>
                </a:gridCol>
                <a:gridCol w="1310266">
                  <a:extLst>
                    <a:ext uri="{9D8B030D-6E8A-4147-A177-3AD203B41FA5}">
                      <a16:colId xmlns:a16="http://schemas.microsoft.com/office/drawing/2014/main" val="387262088"/>
                    </a:ext>
                  </a:extLst>
                </a:gridCol>
                <a:gridCol w="2519742">
                  <a:extLst>
                    <a:ext uri="{9D8B030D-6E8A-4147-A177-3AD203B41FA5}">
                      <a16:colId xmlns:a16="http://schemas.microsoft.com/office/drawing/2014/main" val="3912335447"/>
                    </a:ext>
                  </a:extLst>
                </a:gridCol>
                <a:gridCol w="2669806">
                  <a:extLst>
                    <a:ext uri="{9D8B030D-6E8A-4147-A177-3AD203B41FA5}">
                      <a16:colId xmlns:a16="http://schemas.microsoft.com/office/drawing/2014/main" val="2567839315"/>
                    </a:ext>
                  </a:extLst>
                </a:gridCol>
              </a:tblGrid>
              <a:tr h="850313">
                <a:tc>
                  <a:txBody>
                    <a:bodyPr/>
                    <a:lstStyle/>
                    <a:p>
                      <a:pPr marL="0" marR="0" algn="ctr" fontAlgn="b">
                        <a:buNone/>
                      </a:pPr>
                      <a:r>
                        <a:rPr lang="en-US" sz="1400">
                          <a:effectLst/>
                        </a:rPr>
                        <a:t>Bộ dữ liệu</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Số thảo dược</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Số bệnh</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Số cặp tương tác dương tính</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Mật độ ma trận R</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extLst>
                  <a:ext uri="{0D108BD9-81ED-4DB2-BD59-A6C34878D82A}">
                    <a16:rowId xmlns:a16="http://schemas.microsoft.com/office/drawing/2014/main" val="767536436"/>
                  </a:ext>
                </a:extLst>
              </a:tr>
              <a:tr h="453501">
                <a:tc>
                  <a:txBody>
                    <a:bodyPr/>
                    <a:lstStyle/>
                    <a:p>
                      <a:pPr marL="0" marR="0" algn="ctr" fontAlgn="b">
                        <a:buNone/>
                      </a:pPr>
                      <a:r>
                        <a:rPr lang="en-US" sz="1400">
                          <a:effectLst/>
                        </a:rPr>
                        <a:t>TCM</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1.008</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10.890</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2.342.544</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tc>
                  <a:txBody>
                    <a:bodyPr/>
                    <a:lstStyle/>
                    <a:p>
                      <a:pPr marL="0" marR="0" algn="ctr" fontAlgn="b">
                        <a:buNone/>
                      </a:pPr>
                      <a:r>
                        <a:rPr lang="en-US" sz="1400">
                          <a:effectLst/>
                        </a:rPr>
                        <a:t>21.3%</a:t>
                      </a:r>
                      <a:endParaRPr lang="en-US" sz="1200">
                        <a:effectLst/>
                        <a:latin typeface="Times New Roman" panose="02020603050405020304" pitchFamily="18" charset="0"/>
                        <a:ea typeface="Times New Roman" panose="02020603050405020304" pitchFamily="18" charset="0"/>
                      </a:endParaRPr>
                    </a:p>
                  </a:txBody>
                  <a:tcPr marL="22860" marR="22860" marT="15240" marB="15240" anchor="ctr"/>
                </a:tc>
                <a:extLst>
                  <a:ext uri="{0D108BD9-81ED-4DB2-BD59-A6C34878D82A}">
                    <a16:rowId xmlns:a16="http://schemas.microsoft.com/office/drawing/2014/main" val="282244910"/>
                  </a:ext>
                </a:extLst>
              </a:tr>
            </a:tbl>
          </a:graphicData>
        </a:graphic>
      </p:graphicFrame>
    </p:spTree>
    <p:extLst>
      <p:ext uri="{BB962C8B-B14F-4D97-AF65-F5344CB8AC3E}">
        <p14:creationId xmlns:p14="http://schemas.microsoft.com/office/powerpoint/2010/main" val="26269629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xit" presetSubtype="0" fill="hold" grpId="0"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E8D6B-EF01-B89E-5DE0-5D6ED0698FCF}"/>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D8A6AEE1-BC07-3E2A-D47F-9AAC51565C62}"/>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BCA9BE3D-0DC7-8C43-EFFE-4532119A4ECD}"/>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6F6FEB9F-D53F-2971-593F-7897CD144F00}"/>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63075464-06BC-5A1E-4D20-16FD02470D91}"/>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3. DỮ LIỆU VÀ PHƯƠNG PHÁP NGHIÊN CỨU</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5DF274A4-1EC6-A7BA-FC31-0AC58ECAD235}"/>
              </a:ext>
            </a:extLst>
          </p:cNvPr>
          <p:cNvSpPr txBox="1"/>
          <p:nvPr/>
        </p:nvSpPr>
        <p:spPr>
          <a:xfrm>
            <a:off x="11801170" y="6533145"/>
            <a:ext cx="341760" cy="261610"/>
          </a:xfrm>
          <a:prstGeom prst="rect">
            <a:avLst/>
          </a:prstGeom>
          <a:noFill/>
        </p:spPr>
        <p:txBody>
          <a:bodyPr wrap="none" rtlCol="0">
            <a:spAutoFit/>
          </a:bodyPr>
          <a:lstStyle/>
          <a:p>
            <a:pPr algn="ctr"/>
            <a:r>
              <a:rPr lang="en-US" sz="1100"/>
              <a:t>13</a:t>
            </a:r>
          </a:p>
        </p:txBody>
      </p:sp>
      <p:sp>
        <p:nvSpPr>
          <p:cNvPr id="3" name="Title 1">
            <a:extLst>
              <a:ext uri="{FF2B5EF4-FFF2-40B4-BE49-F238E27FC236}">
                <a16:creationId xmlns:a16="http://schemas.microsoft.com/office/drawing/2014/main" id="{1BAA7271-51F9-6449-C3B0-2CAB812376A3}"/>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3.3. Phương pháp nghiên cứu</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B954701E-5E60-6185-74E3-527988F7DEAD}"/>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6">
            <a:extLst>
              <a:ext uri="{FF2B5EF4-FFF2-40B4-BE49-F238E27FC236}">
                <a16:creationId xmlns:a16="http://schemas.microsoft.com/office/drawing/2014/main" id="{2727838D-918E-A078-B074-194D9A2DE708}"/>
              </a:ext>
            </a:extLst>
          </p:cNvPr>
          <p:cNvSpPr txBox="1"/>
          <p:nvPr/>
        </p:nvSpPr>
        <p:spPr>
          <a:xfrm>
            <a:off x="389413" y="1789859"/>
            <a:ext cx="11411757" cy="923330"/>
          </a:xfrm>
          <a:prstGeom prst="rect">
            <a:avLst/>
          </a:prstGeom>
          <a:noFill/>
        </p:spPr>
        <p:txBody>
          <a:bodyPr wrap="square">
            <a:spAutoFit/>
          </a:bodyPr>
          <a:lstStyle/>
          <a:p>
            <a:pPr algn="just"/>
            <a:r>
              <a:rPr lang="en-US">
                <a:effectLst/>
                <a:latin typeface="Times New Roman" panose="02020603050405020304" pitchFamily="18" charset="0"/>
                <a:ea typeface="Times New Roman" panose="02020603050405020304" pitchFamily="18" charset="0"/>
              </a:rPr>
              <a:t>Phương pháp được đề xuất GATHDA-DVCL dựa trên nền tảng dữ liệu đa thực thể đã được chuẩn hóa để giải quyết vấn đề dự đoán quan hệ thảo dược – bệnh. Phương pháp được thực hiện thông qua việc kết hợp sức mạnh của mạng chú trọng đồ thị (GAT) và chiến lược học tương phản đa góc nhìn (Dual-view Contrastive Learning). </a:t>
            </a:r>
            <a:endParaRPr lang="en-US"/>
          </a:p>
        </p:txBody>
      </p:sp>
      <p:pic>
        <p:nvPicPr>
          <p:cNvPr id="10" name="Picture 9">
            <a:extLst>
              <a:ext uri="{FF2B5EF4-FFF2-40B4-BE49-F238E27FC236}">
                <a16:creationId xmlns:a16="http://schemas.microsoft.com/office/drawing/2014/main" id="{19FF5F92-D982-454E-BA93-246BF82E0D79}"/>
              </a:ext>
            </a:extLst>
          </p:cNvPr>
          <p:cNvPicPr>
            <a:picLocks noChangeAspect="1"/>
          </p:cNvPicPr>
          <p:nvPr/>
        </p:nvPicPr>
        <p:blipFill>
          <a:blip r:embed="rId6">
            <a:extLst>
              <a:ext uri="{28A0092B-C50C-407E-A947-70E740481C1C}">
                <a14:useLocalDpi xmlns:a14="http://schemas.microsoft.com/office/drawing/2010/main" val="0"/>
              </a:ext>
            </a:extLst>
          </a:blip>
          <a:srcRect t="25914" b="13093"/>
          <a:stretch>
            <a:fillRect/>
          </a:stretch>
        </p:blipFill>
        <p:spPr>
          <a:xfrm>
            <a:off x="1351416" y="2703723"/>
            <a:ext cx="9652000" cy="3311525"/>
          </a:xfrm>
          <a:prstGeom prst="rect">
            <a:avLst/>
          </a:prstGeom>
        </p:spPr>
      </p:pic>
      <p:sp>
        <p:nvSpPr>
          <p:cNvPr id="12" name="TextBox 11">
            <a:extLst>
              <a:ext uri="{FF2B5EF4-FFF2-40B4-BE49-F238E27FC236}">
                <a16:creationId xmlns:a16="http://schemas.microsoft.com/office/drawing/2014/main" id="{8B95E4CE-9ADA-68C6-4425-154BE7D0575C}"/>
              </a:ext>
            </a:extLst>
          </p:cNvPr>
          <p:cNvSpPr txBox="1"/>
          <p:nvPr/>
        </p:nvSpPr>
        <p:spPr>
          <a:xfrm>
            <a:off x="3962400" y="6047170"/>
            <a:ext cx="6096000" cy="338554"/>
          </a:xfrm>
          <a:prstGeom prst="rect">
            <a:avLst/>
          </a:prstGeom>
          <a:noFill/>
        </p:spPr>
        <p:txBody>
          <a:bodyPr wrap="square">
            <a:spAutoFit/>
          </a:bodyPr>
          <a:lstStyle/>
          <a:p>
            <a:r>
              <a:rPr lang="en-US" sz="1600" i="1">
                <a:effectLst/>
                <a:latin typeface="Times New Roman" panose="02020603050405020304" pitchFamily="18" charset="0"/>
                <a:ea typeface="Times New Roman" panose="02020603050405020304" pitchFamily="18" charset="0"/>
              </a:rPr>
              <a:t>Sơ đồ tổng quát mô hình GATHDA-DVCL</a:t>
            </a:r>
            <a:endParaRPr lang="en-US" sz="1600"/>
          </a:p>
        </p:txBody>
      </p:sp>
    </p:spTree>
    <p:extLst>
      <p:ext uri="{BB962C8B-B14F-4D97-AF65-F5344CB8AC3E}">
        <p14:creationId xmlns:p14="http://schemas.microsoft.com/office/powerpoint/2010/main" val="240036727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D44561C-BEEF-4590-9D24-5D9CF43A7094}"/>
              </a:ext>
            </a:extLst>
          </p:cNvPr>
          <p:cNvSpPr/>
          <p:nvPr/>
        </p:nvSpPr>
        <p:spPr>
          <a:xfrm>
            <a:off x="-600" y="1973943"/>
            <a:ext cx="12193201" cy="3414420"/>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85">
              <a:cs typeface="+mn-ea"/>
              <a:sym typeface="+mn-lt"/>
            </a:endParaRPr>
          </a:p>
        </p:txBody>
      </p:sp>
      <p:sp>
        <p:nvSpPr>
          <p:cNvPr id="7" name="椭圆 6">
            <a:extLst>
              <a:ext uri="{FF2B5EF4-FFF2-40B4-BE49-F238E27FC236}">
                <a16:creationId xmlns:a16="http://schemas.microsoft.com/office/drawing/2014/main" id="{11B8B4CC-665C-4A9E-9E7B-6727C81D9480}"/>
              </a:ext>
            </a:extLst>
          </p:cNvPr>
          <p:cNvSpPr/>
          <p:nvPr/>
        </p:nvSpPr>
        <p:spPr>
          <a:xfrm>
            <a:off x="5112204" y="828740"/>
            <a:ext cx="1967594" cy="1967594"/>
          </a:xfrm>
          <a:prstGeom prst="ellipse">
            <a:avLst/>
          </a:prstGeom>
          <a:solidFill>
            <a:srgbClr val="F5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a:solidFill>
                  <a:schemeClr val="bg1"/>
                </a:solidFill>
                <a:cs typeface="+mn-ea"/>
                <a:sym typeface="+mn-lt"/>
              </a:rPr>
              <a:t>04</a:t>
            </a:r>
            <a:endParaRPr lang="zh-CN" altLang="en-US" sz="8000">
              <a:solidFill>
                <a:schemeClr val="bg1"/>
              </a:solidFill>
              <a:cs typeface="+mn-ea"/>
              <a:sym typeface="+mn-lt"/>
            </a:endParaRPr>
          </a:p>
        </p:txBody>
      </p:sp>
      <p:sp>
        <p:nvSpPr>
          <p:cNvPr id="8" name="文本框 7">
            <a:extLst>
              <a:ext uri="{FF2B5EF4-FFF2-40B4-BE49-F238E27FC236}">
                <a16:creationId xmlns:a16="http://schemas.microsoft.com/office/drawing/2014/main" id="{8A3D7E42-3E79-47B4-9598-D9EDCC4A16F2}"/>
              </a:ext>
            </a:extLst>
          </p:cNvPr>
          <p:cNvSpPr txBox="1"/>
          <p:nvPr/>
        </p:nvSpPr>
        <p:spPr>
          <a:xfrm>
            <a:off x="1292453" y="3107571"/>
            <a:ext cx="9607117" cy="923330"/>
          </a:xfrm>
          <a:prstGeom prst="rect">
            <a:avLst/>
          </a:prstGeom>
          <a:noFill/>
        </p:spPr>
        <p:txBody>
          <a:bodyPr wrap="none" rtlCol="0">
            <a:spAutoFit/>
          </a:bodyPr>
          <a:lstStyle/>
          <a:p>
            <a:pPr algn="ctr"/>
            <a:r>
              <a:rPr lang="en-US" altLang="zh-CN" sz="5400" b="1">
                <a:solidFill>
                  <a:schemeClr val="bg1"/>
                </a:solidFill>
                <a:cs typeface="+mn-ea"/>
                <a:sym typeface="+mn-lt"/>
              </a:rPr>
              <a:t>THỰC NGHIỆM VÀ KẾT QUẢ</a:t>
            </a:r>
            <a:endParaRPr lang="zh-CN" altLang="en-US" sz="5400" b="1">
              <a:solidFill>
                <a:schemeClr val="bg1"/>
              </a:solidFill>
              <a:cs typeface="+mn-ea"/>
              <a:sym typeface="+mn-lt"/>
            </a:endParaRPr>
          </a:p>
        </p:txBody>
      </p:sp>
      <p:sp>
        <p:nvSpPr>
          <p:cNvPr id="3" name="TextBox 2">
            <a:extLst>
              <a:ext uri="{FF2B5EF4-FFF2-40B4-BE49-F238E27FC236}">
                <a16:creationId xmlns:a16="http://schemas.microsoft.com/office/drawing/2014/main" id="{A293DDCC-9D8C-1A53-9C09-9175A2ABC033}"/>
              </a:ext>
            </a:extLst>
          </p:cNvPr>
          <p:cNvSpPr txBox="1"/>
          <p:nvPr/>
        </p:nvSpPr>
        <p:spPr>
          <a:xfrm>
            <a:off x="11801170" y="6533145"/>
            <a:ext cx="341760" cy="261610"/>
          </a:xfrm>
          <a:prstGeom prst="rect">
            <a:avLst/>
          </a:prstGeom>
          <a:noFill/>
        </p:spPr>
        <p:txBody>
          <a:bodyPr wrap="none" rtlCol="0">
            <a:spAutoFit/>
          </a:bodyPr>
          <a:lstStyle/>
          <a:p>
            <a:pPr algn="ctr"/>
            <a:r>
              <a:rPr lang="en-US" sz="1100"/>
              <a:t>14</a:t>
            </a:r>
          </a:p>
        </p:txBody>
      </p:sp>
    </p:spTree>
    <p:extLst>
      <p:ext uri="{BB962C8B-B14F-4D97-AF65-F5344CB8AC3E}">
        <p14:creationId xmlns:p14="http://schemas.microsoft.com/office/powerpoint/2010/main" val="276261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0704-2386-952A-48F8-A3EE80EE10BB}"/>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8A09C1E3-7B6E-556A-3867-5D5B3F40C764}"/>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9E331A19-38DA-8697-2BA0-571B52CF714A}"/>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E11CEC0A-4147-328A-F23A-269D9F4C8A06}"/>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A9B1748A-3A3B-680C-ACD6-550042D11A7C}"/>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A2B5285B-A6E3-C392-724E-3D69DAC883E4}"/>
              </a:ext>
            </a:extLst>
          </p:cNvPr>
          <p:cNvSpPr txBox="1"/>
          <p:nvPr/>
        </p:nvSpPr>
        <p:spPr>
          <a:xfrm>
            <a:off x="11801170" y="6533145"/>
            <a:ext cx="341760" cy="261610"/>
          </a:xfrm>
          <a:prstGeom prst="rect">
            <a:avLst/>
          </a:prstGeom>
          <a:noFill/>
        </p:spPr>
        <p:txBody>
          <a:bodyPr wrap="none" rtlCol="0">
            <a:spAutoFit/>
          </a:bodyPr>
          <a:lstStyle/>
          <a:p>
            <a:pPr algn="ctr"/>
            <a:r>
              <a:rPr lang="en-US" sz="1100"/>
              <a:t>15</a:t>
            </a:r>
          </a:p>
        </p:txBody>
      </p:sp>
      <p:sp>
        <p:nvSpPr>
          <p:cNvPr id="3" name="Title 1">
            <a:extLst>
              <a:ext uri="{FF2B5EF4-FFF2-40B4-BE49-F238E27FC236}">
                <a16:creationId xmlns:a16="http://schemas.microsoft.com/office/drawing/2014/main" id="{F4FFA86E-1578-EDD8-44E9-610D5BB5716D}"/>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4.1. Môi trường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C5C7530C-2D57-E93C-60EF-A4E6C7153EB5}"/>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pic>
        <p:nvPicPr>
          <p:cNvPr id="5" name="Picture 4">
            <a:extLst>
              <a:ext uri="{FF2B5EF4-FFF2-40B4-BE49-F238E27FC236}">
                <a16:creationId xmlns:a16="http://schemas.microsoft.com/office/drawing/2014/main" id="{AC623897-1F15-F508-7CA1-D6240773C6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3941" y="5233278"/>
            <a:ext cx="2103011" cy="1399458"/>
          </a:xfrm>
          <a:prstGeom prst="rect">
            <a:avLst/>
          </a:prstGeom>
          <a:ln>
            <a:noFill/>
          </a:ln>
        </p:spPr>
      </p:pic>
      <p:sp>
        <p:nvSpPr>
          <p:cNvPr id="18" name="TextBox 17">
            <a:extLst>
              <a:ext uri="{FF2B5EF4-FFF2-40B4-BE49-F238E27FC236}">
                <a16:creationId xmlns:a16="http://schemas.microsoft.com/office/drawing/2014/main" id="{9785D5FF-1B58-7E44-800C-D7923DB2311F}"/>
              </a:ext>
            </a:extLst>
          </p:cNvPr>
          <p:cNvSpPr txBox="1"/>
          <p:nvPr/>
        </p:nvSpPr>
        <p:spPr>
          <a:xfrm>
            <a:off x="802464" y="1739363"/>
            <a:ext cx="10998706" cy="3268652"/>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Đề tài sử dụng ngôn ngữ lập trình chính: Python.</a:t>
            </a:r>
          </a:p>
          <a:p>
            <a:pPr marL="342900" indent="-342900" algn="just">
              <a:lnSpc>
                <a:spcPct val="150000"/>
              </a:lnSpc>
              <a:buFont typeface="Wingdings" panose="05000000000000000000" pitchFamily="2" charset="2"/>
              <a:buChar char="q"/>
            </a:pPr>
            <a:r>
              <a:rPr lang="vi-VN" sz="2000">
                <a:latin typeface="Times New Roman" panose="02020603050405020304" pitchFamily="18" charset="0"/>
                <a:cs typeface="Times New Roman" panose="02020603050405020304" pitchFamily="18" charset="0"/>
              </a:rPr>
              <a:t>Thư viện Deep Learning: PyTorch và PyTorch Geometric (chuyên dụng cho mạng đồ thị).</a:t>
            </a:r>
            <a:endParaRPr 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vi-VN" sz="2000">
                <a:latin typeface="Times New Roman" panose="02020603050405020304" pitchFamily="18" charset="0"/>
                <a:cs typeface="Times New Roman" panose="02020603050405020304" pitchFamily="18" charset="0"/>
              </a:rPr>
              <a:t>Thuật toán tối ưu hóa: Adam kết hợp kỹ thuật giảm gradient theo cụm nhỏ (mini-batch gradient descent).</a:t>
            </a:r>
            <a:endParaRPr 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vi-VN" sz="2000">
                <a:latin typeface="Times New Roman" panose="02020603050405020304" pitchFamily="18" charset="0"/>
                <a:cs typeface="Times New Roman" panose="02020603050405020304" pitchFamily="18" charset="0"/>
              </a:rPr>
              <a:t>Tăng tốc phần cứng: Sử dụng GPU kết hợp kỹ thuật Automatic Mixed Precision (AMP) nhằm tối ưu hóa bộ nhớ và tăng tốc độ huấn luyện.</a:t>
            </a:r>
            <a:endParaRPr 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q"/>
            </a:pPr>
            <a:r>
              <a:rPr lang="en-US" sz="2000">
                <a:latin typeface="Times New Roman" panose="02020603050405020304" pitchFamily="18" charset="0"/>
                <a:cs typeface="Times New Roman" panose="02020603050405020304" pitchFamily="18" charset="0"/>
              </a:rPr>
              <a:t>Giao thức đánh giá (Evaluation Protocol): Áp dụng kiểm định chéo 5-fold cross-validation.</a:t>
            </a:r>
          </a:p>
        </p:txBody>
      </p:sp>
    </p:spTree>
    <p:extLst>
      <p:ext uri="{BB962C8B-B14F-4D97-AF65-F5344CB8AC3E}">
        <p14:creationId xmlns:p14="http://schemas.microsoft.com/office/powerpoint/2010/main" val="156900190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3676-8ED0-D303-5C8A-301BB795D0EE}"/>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BAB2AE61-52E9-786C-11C9-755A5BF0E664}"/>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4CC74C5B-6C21-8EEB-B066-3EFB7C12952E}"/>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F4C1862D-3B1E-085F-0FE2-75BA3F53D990}"/>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BBF21D31-F4B1-5638-5688-D4810B843F60}"/>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5095927C-B261-A917-3CAA-4342504F2CC5}"/>
              </a:ext>
            </a:extLst>
          </p:cNvPr>
          <p:cNvSpPr txBox="1"/>
          <p:nvPr/>
        </p:nvSpPr>
        <p:spPr>
          <a:xfrm>
            <a:off x="11801170" y="6533145"/>
            <a:ext cx="341760" cy="261610"/>
          </a:xfrm>
          <a:prstGeom prst="rect">
            <a:avLst/>
          </a:prstGeom>
          <a:noFill/>
        </p:spPr>
        <p:txBody>
          <a:bodyPr wrap="none" rtlCol="0">
            <a:spAutoFit/>
          </a:bodyPr>
          <a:lstStyle/>
          <a:p>
            <a:pPr algn="ctr"/>
            <a:r>
              <a:rPr lang="en-US" sz="1100"/>
              <a:t>16</a:t>
            </a:r>
          </a:p>
        </p:txBody>
      </p:sp>
      <p:sp>
        <p:nvSpPr>
          <p:cNvPr id="3" name="Title 1">
            <a:extLst>
              <a:ext uri="{FF2B5EF4-FFF2-40B4-BE49-F238E27FC236}">
                <a16:creationId xmlns:a16="http://schemas.microsoft.com/office/drawing/2014/main" id="{8C3192B4-9C02-DA5F-A6EE-151F881826A4}"/>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4.2. Input/Output của đề tài</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99AF66E0-1B1F-21D0-816A-3ECB234A875B}"/>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7">
            <a:extLst>
              <a:ext uri="{FF2B5EF4-FFF2-40B4-BE49-F238E27FC236}">
                <a16:creationId xmlns:a16="http://schemas.microsoft.com/office/drawing/2014/main" id="{3EF9A9E5-500A-EC51-9A93-0E4DA56CAA52}"/>
              </a:ext>
            </a:extLst>
          </p:cNvPr>
          <p:cNvSpPr txBox="1"/>
          <p:nvPr/>
        </p:nvSpPr>
        <p:spPr>
          <a:xfrm>
            <a:off x="1635694" y="2032606"/>
            <a:ext cx="4198161" cy="1883657"/>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Dữ liệu đầu vào (Input)</a:t>
            </a:r>
          </a:p>
          <a:p>
            <a:pPr marL="342900" indent="-342900" algn="just">
              <a:lnSpc>
                <a:spcPct val="150000"/>
              </a:lnSpc>
              <a:buFont typeface="Wingdings" panose="05000000000000000000" pitchFamily="2" charset="2"/>
              <a:buChar char="Ø"/>
            </a:pPr>
            <a:r>
              <a:rPr lang="vi-VN" sz="2000">
                <a:latin typeface="Times New Roman" panose="02020603050405020304" pitchFamily="18" charset="0"/>
                <a:cs typeface="Times New Roman" panose="02020603050405020304" pitchFamily="18" charset="0"/>
              </a:rPr>
              <a:t>Ma trận tương tác đã biết</a:t>
            </a:r>
            <a:endParaRPr 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vi-VN" sz="2000">
                <a:latin typeface="Times New Roman" panose="02020603050405020304" pitchFamily="18" charset="0"/>
                <a:cs typeface="Times New Roman" panose="02020603050405020304" pitchFamily="18" charset="0"/>
              </a:rPr>
              <a:t>Profile thảo dược (Herb profile)</a:t>
            </a:r>
            <a:endParaRPr lang="en-US" sz="200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Profile bệnh (Disease profile)</a:t>
            </a:r>
          </a:p>
        </p:txBody>
      </p:sp>
      <p:sp>
        <p:nvSpPr>
          <p:cNvPr id="10" name="TextBox 9">
            <a:extLst>
              <a:ext uri="{FF2B5EF4-FFF2-40B4-BE49-F238E27FC236}">
                <a16:creationId xmlns:a16="http://schemas.microsoft.com/office/drawing/2014/main" id="{2B5B8C2E-2412-4D34-E6CA-F3B9622BDF28}"/>
              </a:ext>
            </a:extLst>
          </p:cNvPr>
          <p:cNvSpPr txBox="1"/>
          <p:nvPr/>
        </p:nvSpPr>
        <p:spPr>
          <a:xfrm>
            <a:off x="6282767" y="2032606"/>
            <a:ext cx="4432858" cy="27084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Dữ liệu đầu ra (Output)</a:t>
            </a:r>
          </a:p>
          <a:p>
            <a:pPr marL="342900" indent="-342900" algn="just">
              <a:lnSpc>
                <a:spcPct val="15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Hàm dự đoán: f : H×D→[0,1]</a:t>
            </a:r>
          </a:p>
          <a:p>
            <a:pPr marL="342900" indent="-342900" algn="just">
              <a:lnSpc>
                <a:spcPct val="150000"/>
              </a:lnSpc>
              <a:buFont typeface="Wingdings" panose="05000000000000000000" pitchFamily="2" charset="2"/>
              <a:buChar char="Ø"/>
            </a:pPr>
            <a:r>
              <a:rPr lang="vi-VN" sz="2000" i="1">
                <a:latin typeface="Times New Roman" panose="02020603050405020304" pitchFamily="18" charset="0"/>
                <a:cs typeface="Times New Roman" panose="02020603050405020304" pitchFamily="18" charset="0"/>
              </a:rPr>
              <a:t>Ý nghĩa kết quả:</a:t>
            </a:r>
            <a:r>
              <a:rPr lang="vi-VN" sz="2000">
                <a:latin typeface="Times New Roman" panose="02020603050405020304" pitchFamily="18" charset="0"/>
                <a:cs typeface="Times New Roman" panose="02020603050405020304" pitchFamily="18" charset="0"/>
              </a:rPr>
              <a:t> Giá trị đầu ra xấp xỉ xác suất tồn tại quan hệ điều trị tiềm năng giữa thảo dược và bệnh.</a:t>
            </a:r>
            <a:endParaRPr lang="en-US" sz="2000">
              <a:latin typeface="Times New Roman" panose="02020603050405020304" pitchFamily="18" charset="0"/>
              <a:cs typeface="Times New Roman" panose="02020603050405020304" pitchFamily="18" charset="0"/>
            </a:endParaRPr>
          </a:p>
          <a:p>
            <a:endParaRPr lang="en-US" sz="2000"/>
          </a:p>
        </p:txBody>
      </p:sp>
    </p:spTree>
    <p:extLst>
      <p:ext uri="{BB962C8B-B14F-4D97-AF65-F5344CB8AC3E}">
        <p14:creationId xmlns:p14="http://schemas.microsoft.com/office/powerpoint/2010/main" val="338784584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D76A6-212E-4929-2C66-6796A231C244}"/>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97E2FB3E-6AD2-76E9-2B7E-C5041233568A}"/>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5F2CC645-D908-A9B8-1694-7B5D070CFBE1}"/>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6DE92BA-D1BD-3706-EF78-A9665C7FD3D6}"/>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BF78158B-9F96-CB2A-E564-ADD687906418}"/>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1C3B1B5A-4725-D7F5-DA79-601B5E50C05B}"/>
              </a:ext>
            </a:extLst>
          </p:cNvPr>
          <p:cNvSpPr txBox="1"/>
          <p:nvPr/>
        </p:nvSpPr>
        <p:spPr>
          <a:xfrm>
            <a:off x="11801170" y="6533145"/>
            <a:ext cx="341760" cy="261610"/>
          </a:xfrm>
          <a:prstGeom prst="rect">
            <a:avLst/>
          </a:prstGeom>
          <a:noFill/>
        </p:spPr>
        <p:txBody>
          <a:bodyPr wrap="none" rtlCol="0">
            <a:spAutoFit/>
          </a:bodyPr>
          <a:lstStyle/>
          <a:p>
            <a:pPr algn="ctr"/>
            <a:r>
              <a:rPr lang="en-US" sz="1100"/>
              <a:t>17</a:t>
            </a:r>
          </a:p>
        </p:txBody>
      </p:sp>
      <p:sp>
        <p:nvSpPr>
          <p:cNvPr id="3" name="Title 1">
            <a:extLst>
              <a:ext uri="{FF2B5EF4-FFF2-40B4-BE49-F238E27FC236}">
                <a16:creationId xmlns:a16="http://schemas.microsoft.com/office/drawing/2014/main" id="{05CBDB85-B8AD-D7B3-F5F2-46AE5F02CD58}"/>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4.3. Kết quả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BC327335-119A-4B10-82F7-6DFA30FE670A}"/>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itle 1">
            <a:extLst>
              <a:ext uri="{FF2B5EF4-FFF2-40B4-BE49-F238E27FC236}">
                <a16:creationId xmlns:a16="http://schemas.microsoft.com/office/drawing/2014/main" id="{121A6751-E0A8-C3FD-16C1-F7F8167094DF}"/>
              </a:ext>
            </a:extLst>
          </p:cNvPr>
          <p:cNvSpPr txBox="1">
            <a:spLocks/>
          </p:cNvSpPr>
          <p:nvPr/>
        </p:nvSpPr>
        <p:spPr>
          <a:xfrm>
            <a:off x="389413" y="1723324"/>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2400">
                <a:latin typeface="Times New Roman" panose="02020603050405020304" pitchFamily="18" charset="0"/>
              </a:rPr>
              <a:t>4.3.1. Biểu đồ ROC và PR</a:t>
            </a:r>
            <a:endParaRPr lang="en-US" sz="2400" dirty="0">
              <a:latin typeface="Times New Roman" panose="02020603050405020304" pitchFamily="18" charset="0"/>
            </a:endParaRPr>
          </a:p>
        </p:txBody>
      </p:sp>
      <p:pic>
        <p:nvPicPr>
          <p:cNvPr id="7" name="Picture 6">
            <a:extLst>
              <a:ext uri="{FF2B5EF4-FFF2-40B4-BE49-F238E27FC236}">
                <a16:creationId xmlns:a16="http://schemas.microsoft.com/office/drawing/2014/main" id="{C1CF3C80-94C1-C1BE-E19B-2A54AC00C4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2543" y="2244467"/>
            <a:ext cx="4708977" cy="3531733"/>
          </a:xfrm>
          <a:prstGeom prst="rect">
            <a:avLst/>
          </a:prstGeom>
        </p:spPr>
      </p:pic>
      <p:pic>
        <p:nvPicPr>
          <p:cNvPr id="9" name="Picture 8">
            <a:extLst>
              <a:ext uri="{FF2B5EF4-FFF2-40B4-BE49-F238E27FC236}">
                <a16:creationId xmlns:a16="http://schemas.microsoft.com/office/drawing/2014/main" id="{D77B3E1F-407F-4FB7-4FDE-FACB549420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0354" y="2303348"/>
            <a:ext cx="4706451" cy="3472852"/>
          </a:xfrm>
          <a:prstGeom prst="rect">
            <a:avLst/>
          </a:prstGeom>
        </p:spPr>
      </p:pic>
    </p:spTree>
    <p:extLst>
      <p:ext uri="{BB962C8B-B14F-4D97-AF65-F5344CB8AC3E}">
        <p14:creationId xmlns:p14="http://schemas.microsoft.com/office/powerpoint/2010/main" val="113220475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01433-2931-15AD-B615-F440BB032426}"/>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5753C2F1-62A5-DD98-9B0F-03748E1698EB}"/>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2E1DC5BD-9B34-672C-03F6-B2D2D12C0B45}"/>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5B95AE73-638B-E827-AFDB-6B38BC8AFA93}"/>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85183C7C-2B49-0B6D-485C-47E8926BC3EB}"/>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6D5B05FC-8710-2860-EC91-227804512F36}"/>
              </a:ext>
            </a:extLst>
          </p:cNvPr>
          <p:cNvSpPr txBox="1"/>
          <p:nvPr/>
        </p:nvSpPr>
        <p:spPr>
          <a:xfrm>
            <a:off x="11801170" y="6533145"/>
            <a:ext cx="341760" cy="261610"/>
          </a:xfrm>
          <a:prstGeom prst="rect">
            <a:avLst/>
          </a:prstGeom>
          <a:noFill/>
        </p:spPr>
        <p:txBody>
          <a:bodyPr wrap="none" rtlCol="0">
            <a:spAutoFit/>
          </a:bodyPr>
          <a:lstStyle/>
          <a:p>
            <a:pPr algn="ctr"/>
            <a:r>
              <a:rPr lang="en-US" sz="1100"/>
              <a:t>18</a:t>
            </a:r>
          </a:p>
        </p:txBody>
      </p:sp>
      <p:sp>
        <p:nvSpPr>
          <p:cNvPr id="3" name="Title 1">
            <a:extLst>
              <a:ext uri="{FF2B5EF4-FFF2-40B4-BE49-F238E27FC236}">
                <a16:creationId xmlns:a16="http://schemas.microsoft.com/office/drawing/2014/main" id="{E7FEEE1C-61D6-E71B-20D1-8EEAE20EBC4F}"/>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4.3. Kết quả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CA7C7C45-892F-A386-2E75-F0FCFD03E130}"/>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itle 1">
            <a:extLst>
              <a:ext uri="{FF2B5EF4-FFF2-40B4-BE49-F238E27FC236}">
                <a16:creationId xmlns:a16="http://schemas.microsoft.com/office/drawing/2014/main" id="{DC13F6BB-8BE3-A251-CFAD-A1BBE392894A}"/>
              </a:ext>
            </a:extLst>
          </p:cNvPr>
          <p:cNvSpPr txBox="1">
            <a:spLocks/>
          </p:cNvSpPr>
          <p:nvPr/>
        </p:nvSpPr>
        <p:spPr>
          <a:xfrm>
            <a:off x="389413" y="1723324"/>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2400">
                <a:latin typeface="Times New Roman" panose="02020603050405020304" pitchFamily="18" charset="0"/>
              </a:rPr>
              <a:t>4.3.2. Nghiên cứu loại bỏ</a:t>
            </a:r>
            <a:endParaRPr lang="en-US" sz="2400" dirty="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7E94FA91-5A04-F802-CF34-24DAA8074A0C}"/>
              </a:ext>
            </a:extLst>
          </p:cNvPr>
          <p:cNvGraphicFramePr>
            <a:graphicFrameLocks noGrp="1"/>
          </p:cNvGraphicFramePr>
          <p:nvPr>
            <p:extLst>
              <p:ext uri="{D42A27DB-BD31-4B8C-83A1-F6EECF244321}">
                <p14:modId xmlns:p14="http://schemas.microsoft.com/office/powerpoint/2010/main" val="3558701857"/>
              </p:ext>
            </p:extLst>
          </p:nvPr>
        </p:nvGraphicFramePr>
        <p:xfrm>
          <a:off x="1177938" y="2266985"/>
          <a:ext cx="10240208" cy="3754476"/>
        </p:xfrm>
        <a:graphic>
          <a:graphicData uri="http://schemas.openxmlformats.org/drawingml/2006/table">
            <a:tbl>
              <a:tblPr firstRow="1" firstCol="1" bandRow="1">
                <a:tableStyleId>{5C22544A-7EE6-4342-B048-85BDC9FD1C3A}</a:tableStyleId>
              </a:tblPr>
              <a:tblGrid>
                <a:gridCol w="1928020">
                  <a:extLst>
                    <a:ext uri="{9D8B030D-6E8A-4147-A177-3AD203B41FA5}">
                      <a16:colId xmlns:a16="http://schemas.microsoft.com/office/drawing/2014/main" val="815855872"/>
                    </a:ext>
                  </a:extLst>
                </a:gridCol>
                <a:gridCol w="1422847">
                  <a:extLst>
                    <a:ext uri="{9D8B030D-6E8A-4147-A177-3AD203B41FA5}">
                      <a16:colId xmlns:a16="http://schemas.microsoft.com/office/drawing/2014/main" val="1667859702"/>
                    </a:ext>
                  </a:extLst>
                </a:gridCol>
                <a:gridCol w="1423978">
                  <a:extLst>
                    <a:ext uri="{9D8B030D-6E8A-4147-A177-3AD203B41FA5}">
                      <a16:colId xmlns:a16="http://schemas.microsoft.com/office/drawing/2014/main" val="635060220"/>
                    </a:ext>
                  </a:extLst>
                </a:gridCol>
                <a:gridCol w="1423978">
                  <a:extLst>
                    <a:ext uri="{9D8B030D-6E8A-4147-A177-3AD203B41FA5}">
                      <a16:colId xmlns:a16="http://schemas.microsoft.com/office/drawing/2014/main" val="1094285919"/>
                    </a:ext>
                  </a:extLst>
                </a:gridCol>
                <a:gridCol w="1423978">
                  <a:extLst>
                    <a:ext uri="{9D8B030D-6E8A-4147-A177-3AD203B41FA5}">
                      <a16:colId xmlns:a16="http://schemas.microsoft.com/office/drawing/2014/main" val="3969973690"/>
                    </a:ext>
                  </a:extLst>
                </a:gridCol>
                <a:gridCol w="1322265">
                  <a:extLst>
                    <a:ext uri="{9D8B030D-6E8A-4147-A177-3AD203B41FA5}">
                      <a16:colId xmlns:a16="http://schemas.microsoft.com/office/drawing/2014/main" val="3227155559"/>
                    </a:ext>
                  </a:extLst>
                </a:gridCol>
                <a:gridCol w="1295142">
                  <a:extLst>
                    <a:ext uri="{9D8B030D-6E8A-4147-A177-3AD203B41FA5}">
                      <a16:colId xmlns:a16="http://schemas.microsoft.com/office/drawing/2014/main" val="457860894"/>
                    </a:ext>
                  </a:extLst>
                </a:gridCol>
              </a:tblGrid>
              <a:tr h="433974">
                <a:tc>
                  <a:txBody>
                    <a:bodyPr/>
                    <a:lstStyle/>
                    <a:p>
                      <a:pPr marL="0" marR="0" algn="ctr" fontAlgn="b">
                        <a:spcBef>
                          <a:spcPts val="600"/>
                        </a:spcBef>
                        <a:spcAft>
                          <a:spcPts val="600"/>
                        </a:spcAft>
                        <a:buNone/>
                      </a:pPr>
                      <a:r>
                        <a:rPr lang="en-US" sz="2500">
                          <a:effectLst/>
                        </a:rPr>
                        <a:t>Cấu hình</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ACC</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F1</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Prec.</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Rec.</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AUPR</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AUC</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297058310"/>
                  </a:ext>
                </a:extLst>
              </a:tr>
              <a:tr h="433974">
                <a:tc>
                  <a:txBody>
                    <a:bodyPr/>
                    <a:lstStyle/>
                    <a:p>
                      <a:pPr marL="0" marR="0" algn="ctr" fontAlgn="b">
                        <a:spcBef>
                          <a:spcPts val="600"/>
                        </a:spcBef>
                        <a:spcAft>
                          <a:spcPts val="600"/>
                        </a:spcAft>
                        <a:buNone/>
                      </a:pPr>
                      <a:r>
                        <a:rPr lang="en-US" sz="2500">
                          <a:effectLst/>
                        </a:rPr>
                        <a:t>Baseline</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0.82421</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0.8466</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0.8233</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0.8712</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0.9194</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0.9240</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1498663678"/>
                  </a:ext>
                </a:extLst>
              </a:tr>
              <a:tr h="433974">
                <a:tc>
                  <a:txBody>
                    <a:bodyPr/>
                    <a:lstStyle/>
                    <a:p>
                      <a:pPr marL="0" marR="0" algn="ctr" fontAlgn="b">
                        <a:spcBef>
                          <a:spcPts val="600"/>
                        </a:spcBef>
                        <a:spcAft>
                          <a:spcPts val="600"/>
                        </a:spcAft>
                        <a:buNone/>
                      </a:pPr>
                      <a:r>
                        <a:rPr lang="en-US" sz="2500">
                          <a:effectLst/>
                        </a:rPr>
                        <a:t>Extra only</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0.8643</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0.8667</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0.8516</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0.8824</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0.9363</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0.9404</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2072205373"/>
                  </a:ext>
                </a:extLst>
              </a:tr>
              <a:tr h="813701">
                <a:tc>
                  <a:txBody>
                    <a:bodyPr/>
                    <a:lstStyle/>
                    <a:p>
                      <a:pPr marL="0" marR="0" algn="ctr" fontAlgn="b">
                        <a:spcBef>
                          <a:spcPts val="600"/>
                        </a:spcBef>
                        <a:spcAft>
                          <a:spcPts val="600"/>
                        </a:spcAft>
                        <a:buNone/>
                      </a:pPr>
                      <a:r>
                        <a:rPr lang="en-US" sz="2500">
                          <a:effectLst/>
                        </a:rPr>
                        <a:t>Dual-view only</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0.8953</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0.8966</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0.8856</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0.9080</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0.9624</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0.9624</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108868720"/>
                  </a:ext>
                </a:extLst>
              </a:tr>
              <a:tr h="813701">
                <a:tc>
                  <a:txBody>
                    <a:bodyPr/>
                    <a:lstStyle/>
                    <a:p>
                      <a:pPr marL="0" marR="0" algn="ctr" fontAlgn="b">
                        <a:spcBef>
                          <a:spcPts val="600"/>
                        </a:spcBef>
                        <a:spcAft>
                          <a:spcPts val="600"/>
                        </a:spcAft>
                        <a:buNone/>
                      </a:pPr>
                      <a:r>
                        <a:rPr lang="en-US" sz="2500">
                          <a:effectLst/>
                        </a:rPr>
                        <a:t>Attention only</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0.8911</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0.8924</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0.8825</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0.9024</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0.9603</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0.9604</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1127190671"/>
                  </a:ext>
                </a:extLst>
              </a:tr>
              <a:tr h="813701">
                <a:tc>
                  <a:txBody>
                    <a:bodyPr/>
                    <a:lstStyle/>
                    <a:p>
                      <a:pPr marL="0" marR="0" algn="ctr" fontAlgn="b">
                        <a:spcBef>
                          <a:spcPts val="600"/>
                        </a:spcBef>
                        <a:spcAft>
                          <a:spcPts val="600"/>
                        </a:spcAft>
                        <a:buNone/>
                      </a:pPr>
                      <a:r>
                        <a:rPr lang="en-US" sz="2500">
                          <a:effectLst/>
                        </a:rPr>
                        <a:t>Full proposed</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0.9148</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0.9153</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0.9099</a:t>
                      </a:r>
                      <a:endParaRPr lang="en-US" sz="2100">
                        <a:effectLst/>
                        <a:latin typeface="Times New Roman" panose="02020603050405020304" pitchFamily="18" charset="0"/>
                        <a:ea typeface="Times New Roman" panose="02020603050405020304" pitchFamily="18" charset="0"/>
                      </a:endParaRPr>
                    </a:p>
                  </a:txBody>
                  <a:tcPr marL="0" marR="0" marT="0" marB="0" anchor="ctr"/>
                </a:tc>
                <a:tc>
                  <a:txBody>
                    <a:bodyPr/>
                    <a:lstStyle/>
                    <a:p>
                      <a:pPr marL="0" marR="0" algn="ctr" fontAlgn="b">
                        <a:spcBef>
                          <a:spcPts val="600"/>
                        </a:spcBef>
                        <a:spcAft>
                          <a:spcPts val="600"/>
                        </a:spcAft>
                        <a:buNone/>
                      </a:pPr>
                      <a:r>
                        <a:rPr lang="en-US" sz="2500">
                          <a:effectLst/>
                        </a:rPr>
                        <a:t>0.9208</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0.9739</a:t>
                      </a:r>
                      <a:endParaRPr lang="en-US" sz="2100">
                        <a:effectLst/>
                        <a:latin typeface="Times New Roman" panose="02020603050405020304" pitchFamily="18" charset="0"/>
                        <a:ea typeface="Times New Roman" panose="02020603050405020304" pitchFamily="18" charset="0"/>
                      </a:endParaRPr>
                    </a:p>
                  </a:txBody>
                  <a:tcPr marL="40686" marR="40686" marT="27123" marB="27123" anchor="ctr"/>
                </a:tc>
                <a:tc>
                  <a:txBody>
                    <a:bodyPr/>
                    <a:lstStyle/>
                    <a:p>
                      <a:pPr marL="0" marR="0" algn="ctr" fontAlgn="b">
                        <a:spcBef>
                          <a:spcPts val="600"/>
                        </a:spcBef>
                        <a:spcAft>
                          <a:spcPts val="600"/>
                        </a:spcAft>
                        <a:buNone/>
                      </a:pPr>
                      <a:r>
                        <a:rPr lang="en-US" sz="2500">
                          <a:effectLst/>
                        </a:rPr>
                        <a:t>0.9741</a:t>
                      </a:r>
                      <a:endParaRPr lang="en-US" sz="2100">
                        <a:effectLst/>
                        <a:latin typeface="Times New Roman" panose="02020603050405020304" pitchFamily="18" charset="0"/>
                        <a:ea typeface="Times New Roman" panose="02020603050405020304" pitchFamily="18" charset="0"/>
                      </a:endParaRPr>
                    </a:p>
                  </a:txBody>
                  <a:tcPr marL="0" marR="0" marT="0" marB="0" anchor="ctr"/>
                </a:tc>
                <a:extLst>
                  <a:ext uri="{0D108BD9-81ED-4DB2-BD59-A6C34878D82A}">
                    <a16:rowId xmlns:a16="http://schemas.microsoft.com/office/drawing/2014/main" val="1139443356"/>
                  </a:ext>
                </a:extLst>
              </a:tr>
            </a:tbl>
          </a:graphicData>
        </a:graphic>
      </p:graphicFrame>
    </p:spTree>
    <p:extLst>
      <p:ext uri="{BB962C8B-B14F-4D97-AF65-F5344CB8AC3E}">
        <p14:creationId xmlns:p14="http://schemas.microsoft.com/office/powerpoint/2010/main" val="384520680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3B2F-7429-16FE-2F92-B0756D0AC6C1}"/>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A3571FB5-37FA-89F2-CAFD-E0859E7677E1}"/>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933DA52D-B275-4E7F-F4CC-458803C5DE3D}"/>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6E12DEC5-3F5F-58B0-618C-66C2AC370966}"/>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3C3BE87E-D343-B98B-860F-D780CE79AB65}"/>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62ABB111-E380-E5EE-3E02-9CC0C0A9CD93}"/>
              </a:ext>
            </a:extLst>
          </p:cNvPr>
          <p:cNvSpPr txBox="1"/>
          <p:nvPr/>
        </p:nvSpPr>
        <p:spPr>
          <a:xfrm>
            <a:off x="11801170" y="6533145"/>
            <a:ext cx="341760" cy="261610"/>
          </a:xfrm>
          <a:prstGeom prst="rect">
            <a:avLst/>
          </a:prstGeom>
          <a:noFill/>
        </p:spPr>
        <p:txBody>
          <a:bodyPr wrap="none" rtlCol="0">
            <a:spAutoFit/>
          </a:bodyPr>
          <a:lstStyle/>
          <a:p>
            <a:pPr algn="ctr"/>
            <a:r>
              <a:rPr lang="en-US" sz="1100"/>
              <a:t>19</a:t>
            </a:r>
          </a:p>
        </p:txBody>
      </p:sp>
      <p:sp>
        <p:nvSpPr>
          <p:cNvPr id="3" name="Title 1">
            <a:extLst>
              <a:ext uri="{FF2B5EF4-FFF2-40B4-BE49-F238E27FC236}">
                <a16:creationId xmlns:a16="http://schemas.microsoft.com/office/drawing/2014/main" id="{400F1A35-B693-0A58-BF51-11A92F9D34B4}"/>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4.3. Kết quả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58E0D7F1-A956-930E-31D5-C5B8B2617B52}"/>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itle 1">
            <a:extLst>
              <a:ext uri="{FF2B5EF4-FFF2-40B4-BE49-F238E27FC236}">
                <a16:creationId xmlns:a16="http://schemas.microsoft.com/office/drawing/2014/main" id="{4A316A2E-CD05-BD8F-DC93-D8346E2330B5}"/>
              </a:ext>
            </a:extLst>
          </p:cNvPr>
          <p:cNvSpPr txBox="1">
            <a:spLocks/>
          </p:cNvSpPr>
          <p:nvPr/>
        </p:nvSpPr>
        <p:spPr>
          <a:xfrm>
            <a:off x="389413" y="1723324"/>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2400">
                <a:latin typeface="Times New Roman" panose="02020603050405020304" pitchFamily="18" charset="0"/>
              </a:rPr>
              <a:t>4.3.2. Tuning siêu tham số</a:t>
            </a:r>
            <a:endParaRPr lang="en-US" sz="2400" dirty="0">
              <a:latin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E4A5D91C-4009-6C9B-7126-636B6A7D85C1}"/>
                  </a:ext>
                </a:extLst>
              </p:cNvPr>
              <p:cNvGraphicFramePr>
                <a:graphicFrameLocks noGrp="1"/>
              </p:cNvGraphicFramePr>
              <p:nvPr>
                <p:extLst>
                  <p:ext uri="{D42A27DB-BD31-4B8C-83A1-F6EECF244321}">
                    <p14:modId xmlns:p14="http://schemas.microsoft.com/office/powerpoint/2010/main" val="2975138193"/>
                  </p:ext>
                </p:extLst>
              </p:nvPr>
            </p:nvGraphicFramePr>
            <p:xfrm>
              <a:off x="1435746" y="2206139"/>
              <a:ext cx="10337516" cy="4001109"/>
            </p:xfrm>
            <a:graphic>
              <a:graphicData uri="http://schemas.openxmlformats.org/drawingml/2006/table">
                <a:tbl>
                  <a:tblPr firstRow="1" firstCol="1" bandRow="1">
                    <a:tableStyleId>{5C22544A-7EE6-4342-B048-85BDC9FD1C3A}</a:tableStyleId>
                  </a:tblPr>
                  <a:tblGrid>
                    <a:gridCol w="1722729">
                      <a:extLst>
                        <a:ext uri="{9D8B030D-6E8A-4147-A177-3AD203B41FA5}">
                          <a16:colId xmlns:a16="http://schemas.microsoft.com/office/drawing/2014/main" val="3166779355"/>
                        </a:ext>
                      </a:extLst>
                    </a:gridCol>
                    <a:gridCol w="1722729">
                      <a:extLst>
                        <a:ext uri="{9D8B030D-6E8A-4147-A177-3AD203B41FA5}">
                          <a16:colId xmlns:a16="http://schemas.microsoft.com/office/drawing/2014/main" val="2260931556"/>
                        </a:ext>
                      </a:extLst>
                    </a:gridCol>
                    <a:gridCol w="1722729">
                      <a:extLst>
                        <a:ext uri="{9D8B030D-6E8A-4147-A177-3AD203B41FA5}">
                          <a16:colId xmlns:a16="http://schemas.microsoft.com/office/drawing/2014/main" val="421578352"/>
                        </a:ext>
                      </a:extLst>
                    </a:gridCol>
                    <a:gridCol w="1722729">
                      <a:extLst>
                        <a:ext uri="{9D8B030D-6E8A-4147-A177-3AD203B41FA5}">
                          <a16:colId xmlns:a16="http://schemas.microsoft.com/office/drawing/2014/main" val="1328677234"/>
                        </a:ext>
                      </a:extLst>
                    </a:gridCol>
                    <a:gridCol w="1722729">
                      <a:extLst>
                        <a:ext uri="{9D8B030D-6E8A-4147-A177-3AD203B41FA5}">
                          <a16:colId xmlns:a16="http://schemas.microsoft.com/office/drawing/2014/main" val="3235971849"/>
                        </a:ext>
                      </a:extLst>
                    </a:gridCol>
                    <a:gridCol w="1723871">
                      <a:extLst>
                        <a:ext uri="{9D8B030D-6E8A-4147-A177-3AD203B41FA5}">
                          <a16:colId xmlns:a16="http://schemas.microsoft.com/office/drawing/2014/main" val="1289814597"/>
                        </a:ext>
                      </a:extLst>
                    </a:gridCol>
                  </a:tblGrid>
                  <a:tr h="520242">
                    <a:tc>
                      <a:txBody>
                        <a:bodyPr/>
                        <a:lstStyle/>
                        <a:p>
                          <a:pPr marL="0" marR="0" algn="ctr">
                            <a:spcBef>
                              <a:spcPts val="600"/>
                            </a:spcBef>
                            <a:spcAft>
                              <a:spcPts val="600"/>
                            </a:spcAft>
                            <a:buNone/>
                          </a:pPr>
                          <a14:m>
                            <m:oMathPara xmlns:m="http://schemas.openxmlformats.org/officeDocument/2006/math">
                              <m:oMathParaPr>
                                <m:jc m:val="centerGroup"/>
                              </m:oMathParaPr>
                              <m:oMath xmlns:m="http://schemas.openxmlformats.org/officeDocument/2006/math">
                                <m:r>
                                  <a:rPr lang="en-US" sz="2500">
                                    <a:effectLst/>
                                  </a:rPr>
                                  <m:t>𝑘</m:t>
                                </m:r>
                              </m:oMath>
                            </m:oMathPara>
                          </a14:m>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14:m>
                            <m:oMathPara xmlns:m="http://schemas.openxmlformats.org/officeDocument/2006/math">
                              <m:oMathParaPr>
                                <m:jc m:val="centerGroup"/>
                              </m:oMathParaPr>
                              <m:oMath xmlns:m="http://schemas.openxmlformats.org/officeDocument/2006/math">
                                <m:sSub>
                                  <m:sSubPr>
                                    <m:ctrlPr>
                                      <a:rPr lang="en-US" sz="2500">
                                        <a:effectLst/>
                                      </a:rPr>
                                    </m:ctrlPr>
                                  </m:sSubPr>
                                  <m:e>
                                    <m:r>
                                      <a:rPr lang="en-US" sz="2500">
                                        <a:effectLst/>
                                      </a:rPr>
                                      <m:t>𝜆</m:t>
                                    </m:r>
                                  </m:e>
                                  <m:sub>
                                    <m:r>
                                      <a:rPr lang="en-US" sz="2500">
                                        <a:effectLst/>
                                      </a:rPr>
                                      <m:t>𝑐</m:t>
                                    </m:r>
                                  </m:sub>
                                </m:sSub>
                              </m:oMath>
                            </m:oMathPara>
                          </a14:m>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Acc</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F1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AUPR</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AUC</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643225066"/>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0,9148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0,9153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0,9739</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0,9741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073376835"/>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316289836"/>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004595418"/>
                      </a:ext>
                    </a:extLst>
                  </a:tr>
                  <a:tr h="386763">
                    <a:tc>
                      <a:txBody>
                        <a:bodyPr/>
                        <a:lstStyle/>
                        <a:p>
                          <a:pPr marL="0" marR="0" algn="ctr">
                            <a:spcBef>
                              <a:spcPts val="600"/>
                            </a:spcBef>
                            <a:spcAft>
                              <a:spcPts val="600"/>
                            </a:spcAft>
                            <a:buNone/>
                          </a:pPr>
                          <a:r>
                            <a:rPr lang="en-US" sz="2500">
                              <a:effectLst/>
                            </a:rPr>
                            <a:t>15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0,9659</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162897017"/>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0,8995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563152485"/>
                      </a:ext>
                    </a:extLst>
                  </a:tr>
                  <a:tr h="386763">
                    <a:tc>
                      <a:txBody>
                        <a:bodyPr/>
                        <a:lstStyle/>
                        <a:p>
                          <a:pPr marL="0" marR="0" algn="ctr">
                            <a:spcBef>
                              <a:spcPts val="600"/>
                            </a:spcBef>
                            <a:spcAft>
                              <a:spcPts val="600"/>
                            </a:spcAft>
                            <a:buNone/>
                          </a:pPr>
                          <a:r>
                            <a:rPr lang="en-US" sz="2500">
                              <a:effectLst/>
                            </a:rPr>
                            <a:t>25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0,8972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0,8983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0,9642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0,9641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3949491209"/>
                      </a:ext>
                    </a:extLst>
                  </a:tr>
                  <a:tr h="386763">
                    <a:tc>
                      <a:txBody>
                        <a:bodyPr/>
                        <a:lstStyle/>
                        <a:p>
                          <a:pPr marL="0" marR="0" algn="ctr">
                            <a:spcBef>
                              <a:spcPts val="600"/>
                            </a:spcBef>
                            <a:spcAft>
                              <a:spcPts val="600"/>
                            </a:spcAft>
                            <a:buNone/>
                          </a:pPr>
                          <a:r>
                            <a:rPr lang="en-US" sz="2500">
                              <a:effectLst/>
                            </a:rPr>
                            <a:t>30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0,8947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0,8956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0,9623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0,9623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4186801115"/>
                      </a:ext>
                    </a:extLst>
                  </a:tr>
                  <a:tr h="386763">
                    <a:tc>
                      <a:txBody>
                        <a:bodyPr/>
                        <a:lstStyle/>
                        <a:p>
                          <a:pPr marL="0" marR="0" algn="ctr">
                            <a:spcBef>
                              <a:spcPts val="600"/>
                            </a:spcBef>
                            <a:spcAft>
                              <a:spcPts val="600"/>
                            </a:spcAft>
                            <a:buNone/>
                          </a:pPr>
                          <a:r>
                            <a:rPr lang="en-US" sz="2500">
                              <a:effectLst/>
                            </a:rPr>
                            <a:t>35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0,8903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0,8914</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0,9600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0,9600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570916784"/>
                      </a:ext>
                    </a:extLst>
                  </a:tr>
                  <a:tr h="386763">
                    <a:tc>
                      <a:txBody>
                        <a:bodyPr/>
                        <a:lstStyle/>
                        <a:p>
                          <a:pPr marL="0" marR="0" algn="ctr">
                            <a:spcBef>
                              <a:spcPts val="600"/>
                            </a:spcBef>
                            <a:spcAft>
                              <a:spcPts val="600"/>
                            </a:spcAft>
                            <a:buNone/>
                          </a:pPr>
                          <a:r>
                            <a:rPr lang="en-US" sz="2500">
                              <a:effectLst/>
                            </a:rPr>
                            <a:t>40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0,8897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0,9596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0,9597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642016071"/>
                      </a:ext>
                    </a:extLst>
                  </a:tr>
                </a:tbl>
              </a:graphicData>
            </a:graphic>
          </p:graphicFrame>
        </mc:Choice>
        <mc:Fallback>
          <p:graphicFrame>
            <p:nvGraphicFramePr>
              <p:cNvPr id="7" name="Table 6">
                <a:extLst>
                  <a:ext uri="{FF2B5EF4-FFF2-40B4-BE49-F238E27FC236}">
                    <a16:creationId xmlns:a16="http://schemas.microsoft.com/office/drawing/2014/main" id="{E4A5D91C-4009-6C9B-7126-636B6A7D85C1}"/>
                  </a:ext>
                </a:extLst>
              </p:cNvPr>
              <p:cNvGraphicFramePr>
                <a:graphicFrameLocks noGrp="1"/>
              </p:cNvGraphicFramePr>
              <p:nvPr>
                <p:extLst>
                  <p:ext uri="{D42A27DB-BD31-4B8C-83A1-F6EECF244321}">
                    <p14:modId xmlns:p14="http://schemas.microsoft.com/office/powerpoint/2010/main" val="2975138193"/>
                  </p:ext>
                </p:extLst>
              </p:nvPr>
            </p:nvGraphicFramePr>
            <p:xfrm>
              <a:off x="1435746" y="2206139"/>
              <a:ext cx="10337516" cy="4001109"/>
            </p:xfrm>
            <a:graphic>
              <a:graphicData uri="http://schemas.openxmlformats.org/drawingml/2006/table">
                <a:tbl>
                  <a:tblPr firstRow="1" firstCol="1" bandRow="1">
                    <a:tableStyleId>{5C22544A-7EE6-4342-B048-85BDC9FD1C3A}</a:tableStyleId>
                  </a:tblPr>
                  <a:tblGrid>
                    <a:gridCol w="1722729">
                      <a:extLst>
                        <a:ext uri="{9D8B030D-6E8A-4147-A177-3AD203B41FA5}">
                          <a16:colId xmlns:a16="http://schemas.microsoft.com/office/drawing/2014/main" val="3166779355"/>
                        </a:ext>
                      </a:extLst>
                    </a:gridCol>
                    <a:gridCol w="1722729">
                      <a:extLst>
                        <a:ext uri="{9D8B030D-6E8A-4147-A177-3AD203B41FA5}">
                          <a16:colId xmlns:a16="http://schemas.microsoft.com/office/drawing/2014/main" val="2260931556"/>
                        </a:ext>
                      </a:extLst>
                    </a:gridCol>
                    <a:gridCol w="1722729">
                      <a:extLst>
                        <a:ext uri="{9D8B030D-6E8A-4147-A177-3AD203B41FA5}">
                          <a16:colId xmlns:a16="http://schemas.microsoft.com/office/drawing/2014/main" val="421578352"/>
                        </a:ext>
                      </a:extLst>
                    </a:gridCol>
                    <a:gridCol w="1722729">
                      <a:extLst>
                        <a:ext uri="{9D8B030D-6E8A-4147-A177-3AD203B41FA5}">
                          <a16:colId xmlns:a16="http://schemas.microsoft.com/office/drawing/2014/main" val="1328677234"/>
                        </a:ext>
                      </a:extLst>
                    </a:gridCol>
                    <a:gridCol w="1722729">
                      <a:extLst>
                        <a:ext uri="{9D8B030D-6E8A-4147-A177-3AD203B41FA5}">
                          <a16:colId xmlns:a16="http://schemas.microsoft.com/office/drawing/2014/main" val="3235971849"/>
                        </a:ext>
                      </a:extLst>
                    </a:gridCol>
                    <a:gridCol w="1723871">
                      <a:extLst>
                        <a:ext uri="{9D8B030D-6E8A-4147-A177-3AD203B41FA5}">
                          <a16:colId xmlns:a16="http://schemas.microsoft.com/office/drawing/2014/main" val="1289814597"/>
                        </a:ext>
                      </a:extLst>
                    </a:gridCol>
                  </a:tblGrid>
                  <a:tr h="520242">
                    <a:tc>
                      <a:txBody>
                        <a:bodyPr/>
                        <a:lstStyle/>
                        <a:p>
                          <a:endParaRPr lang="en-US"/>
                        </a:p>
                      </a:txBody>
                      <a:tcPr marL="123216" marR="123216" marT="0" marB="0" anchor="ctr">
                        <a:blipFill>
                          <a:blip r:embed="rId6"/>
                          <a:stretch>
                            <a:fillRect l="-353" t="-4651" r="-501060" b="-700000"/>
                          </a:stretch>
                        </a:blipFill>
                      </a:tcPr>
                    </a:tc>
                    <a:tc>
                      <a:txBody>
                        <a:bodyPr/>
                        <a:lstStyle/>
                        <a:p>
                          <a:endParaRPr lang="en-US"/>
                        </a:p>
                      </a:txBody>
                      <a:tcPr marL="123216" marR="123216" marT="0" marB="0" anchor="ctr">
                        <a:blipFill>
                          <a:blip r:embed="rId6"/>
                          <a:stretch>
                            <a:fillRect l="-100353" t="-4651" r="-401060" b="-700000"/>
                          </a:stretch>
                        </a:blipFill>
                      </a:tcPr>
                    </a:tc>
                    <a:tc>
                      <a:txBody>
                        <a:bodyPr/>
                        <a:lstStyle/>
                        <a:p>
                          <a:pPr marL="0" marR="0" algn="ctr">
                            <a:spcBef>
                              <a:spcPts val="600"/>
                            </a:spcBef>
                            <a:spcAft>
                              <a:spcPts val="600"/>
                            </a:spcAft>
                            <a:buNone/>
                          </a:pPr>
                          <a:r>
                            <a:rPr lang="en-US" sz="2500">
                              <a:effectLst/>
                            </a:rPr>
                            <a:t>Acc</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F1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AUPR</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AUC</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643225066"/>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0,9148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0,9153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0,9739</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0,9741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073376835"/>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316289836"/>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004595418"/>
                      </a:ext>
                    </a:extLst>
                  </a:tr>
                  <a:tr h="386763">
                    <a:tc>
                      <a:txBody>
                        <a:bodyPr/>
                        <a:lstStyle/>
                        <a:p>
                          <a:pPr marL="0" marR="0" algn="ctr">
                            <a:spcBef>
                              <a:spcPts val="600"/>
                            </a:spcBef>
                            <a:spcAft>
                              <a:spcPts val="600"/>
                            </a:spcAft>
                            <a:buNone/>
                          </a:pPr>
                          <a:r>
                            <a:rPr lang="en-US" sz="2500">
                              <a:effectLst/>
                            </a:rPr>
                            <a:t>15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0,9011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0,9659</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0,9660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162897017"/>
                      </a:ext>
                    </a:extLst>
                  </a:tr>
                  <a:tr h="386763">
                    <a:tc>
                      <a:txBody>
                        <a:bodyPr/>
                        <a:lstStyle/>
                        <a:p>
                          <a:pPr marL="0" marR="0" algn="ctr">
                            <a:spcBef>
                              <a:spcPts val="600"/>
                            </a:spcBef>
                            <a:spcAft>
                              <a:spcPts val="600"/>
                            </a:spcAft>
                            <a:buNone/>
                          </a:pPr>
                          <a:r>
                            <a:rPr lang="en-US" sz="2500">
                              <a:effectLst/>
                            </a:rPr>
                            <a:t>20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0,08</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0,8995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0,9006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0,9652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1563152485"/>
                      </a:ext>
                    </a:extLst>
                  </a:tr>
                  <a:tr h="386763">
                    <a:tc>
                      <a:txBody>
                        <a:bodyPr/>
                        <a:lstStyle/>
                        <a:p>
                          <a:pPr marL="0" marR="0" algn="ctr">
                            <a:spcBef>
                              <a:spcPts val="600"/>
                            </a:spcBef>
                            <a:spcAft>
                              <a:spcPts val="600"/>
                            </a:spcAft>
                            <a:buNone/>
                          </a:pPr>
                          <a:r>
                            <a:rPr lang="en-US" sz="2500">
                              <a:effectLst/>
                            </a:rPr>
                            <a:t>25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0,8972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0,8983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0,9642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0,9641</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3949491209"/>
                      </a:ext>
                    </a:extLst>
                  </a:tr>
                  <a:tr h="386763">
                    <a:tc>
                      <a:txBody>
                        <a:bodyPr/>
                        <a:lstStyle/>
                        <a:p>
                          <a:pPr marL="0" marR="0" algn="ctr">
                            <a:spcBef>
                              <a:spcPts val="600"/>
                            </a:spcBef>
                            <a:spcAft>
                              <a:spcPts val="600"/>
                            </a:spcAft>
                            <a:buNone/>
                          </a:pPr>
                          <a:r>
                            <a:rPr lang="en-US" sz="2500">
                              <a:effectLst/>
                            </a:rPr>
                            <a:t>30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0,8947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0,8956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0,9623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0,9623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4186801115"/>
                      </a:ext>
                    </a:extLst>
                  </a:tr>
                  <a:tr h="386763">
                    <a:tc>
                      <a:txBody>
                        <a:bodyPr/>
                        <a:lstStyle/>
                        <a:p>
                          <a:pPr marL="0" marR="0" algn="ctr">
                            <a:spcBef>
                              <a:spcPts val="600"/>
                            </a:spcBef>
                            <a:spcAft>
                              <a:spcPts val="600"/>
                            </a:spcAft>
                            <a:buNone/>
                          </a:pPr>
                          <a:r>
                            <a:rPr lang="en-US" sz="2500">
                              <a:effectLst/>
                            </a:rPr>
                            <a:t>35</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0,8903</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0,8914</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0,9600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0,9600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570916784"/>
                      </a:ext>
                    </a:extLst>
                  </a:tr>
                  <a:tr h="386763">
                    <a:tc>
                      <a:txBody>
                        <a:bodyPr/>
                        <a:lstStyle/>
                        <a:p>
                          <a:pPr marL="0" marR="0" algn="ctr">
                            <a:spcBef>
                              <a:spcPts val="600"/>
                            </a:spcBef>
                            <a:spcAft>
                              <a:spcPts val="600"/>
                            </a:spcAft>
                            <a:buNone/>
                          </a:pPr>
                          <a:r>
                            <a:rPr lang="en-US" sz="2500">
                              <a:effectLst/>
                            </a:rPr>
                            <a:t>40</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0,8897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0,8912</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0,9596</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tc>
                      <a:txBody>
                        <a:bodyPr/>
                        <a:lstStyle/>
                        <a:p>
                          <a:pPr marL="0" marR="0" algn="ctr">
                            <a:spcBef>
                              <a:spcPts val="600"/>
                            </a:spcBef>
                            <a:spcAft>
                              <a:spcPts val="600"/>
                            </a:spcAft>
                            <a:buNone/>
                          </a:pPr>
                          <a:r>
                            <a:rPr lang="en-US" sz="2500">
                              <a:effectLst/>
                            </a:rPr>
                            <a:t>0,9597</a:t>
                          </a:r>
                          <a:endParaRPr lang="en-US" sz="2200">
                            <a:effectLst/>
                            <a:latin typeface="Times New Roman" panose="02020603050405020304" pitchFamily="18" charset="0"/>
                            <a:ea typeface="Times New Roman" panose="02020603050405020304" pitchFamily="18" charset="0"/>
                          </a:endParaRPr>
                        </a:p>
                      </a:txBody>
                      <a:tcPr marL="123216" marR="123216" marT="0" marB="0" anchor="ctr"/>
                    </a:tc>
                    <a:extLst>
                      <a:ext uri="{0D108BD9-81ED-4DB2-BD59-A6C34878D82A}">
                        <a16:rowId xmlns:a16="http://schemas.microsoft.com/office/drawing/2014/main" val="2642016071"/>
                      </a:ext>
                    </a:extLst>
                  </a:tr>
                </a:tbl>
              </a:graphicData>
            </a:graphic>
          </p:graphicFrame>
        </mc:Fallback>
      </mc:AlternateContent>
    </p:spTree>
    <p:extLst>
      <p:ext uri="{BB962C8B-B14F-4D97-AF65-F5344CB8AC3E}">
        <p14:creationId xmlns:p14="http://schemas.microsoft.com/office/powerpoint/2010/main" val="13927555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15DA-7A58-BE3C-CDBB-B457A2C08B94}"/>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5E95B974-B412-33E5-247D-CEE41B882622}"/>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E806146F-1AC7-B797-14FC-112CD938062B}"/>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ABCF50A6-51AD-78B8-D575-80D07DCD9E2A}"/>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9050BF3B-1635-591A-7DCD-9F99BFA5F09D}"/>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599B2652-6E0C-AE3A-3EBF-5645AE81C7A7}"/>
              </a:ext>
            </a:extLst>
          </p:cNvPr>
          <p:cNvSpPr txBox="1"/>
          <p:nvPr/>
        </p:nvSpPr>
        <p:spPr>
          <a:xfrm>
            <a:off x="11801170" y="6533145"/>
            <a:ext cx="341760" cy="261610"/>
          </a:xfrm>
          <a:prstGeom prst="rect">
            <a:avLst/>
          </a:prstGeom>
          <a:noFill/>
        </p:spPr>
        <p:txBody>
          <a:bodyPr wrap="none" rtlCol="0">
            <a:spAutoFit/>
          </a:bodyPr>
          <a:lstStyle/>
          <a:p>
            <a:pPr algn="ctr"/>
            <a:r>
              <a:rPr lang="en-US" sz="1100"/>
              <a:t>20</a:t>
            </a:r>
          </a:p>
        </p:txBody>
      </p:sp>
      <p:sp>
        <p:nvSpPr>
          <p:cNvPr id="3" name="Title 1">
            <a:extLst>
              <a:ext uri="{FF2B5EF4-FFF2-40B4-BE49-F238E27FC236}">
                <a16:creationId xmlns:a16="http://schemas.microsoft.com/office/drawing/2014/main" id="{B887F088-7AA2-B6F9-6B45-63EEDE7A5EEB}"/>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4.3. Kết quả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0BEECE8E-9A04-C5E1-4886-6B37E2052F50}"/>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itle 1">
            <a:extLst>
              <a:ext uri="{FF2B5EF4-FFF2-40B4-BE49-F238E27FC236}">
                <a16:creationId xmlns:a16="http://schemas.microsoft.com/office/drawing/2014/main" id="{E52BD710-F301-DF6C-F8EC-F2EA74943763}"/>
              </a:ext>
            </a:extLst>
          </p:cNvPr>
          <p:cNvSpPr txBox="1">
            <a:spLocks/>
          </p:cNvSpPr>
          <p:nvPr/>
        </p:nvSpPr>
        <p:spPr>
          <a:xfrm>
            <a:off x="389412" y="1723324"/>
            <a:ext cx="5916137"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2400">
                <a:latin typeface="Times New Roman" panose="02020603050405020304" pitchFamily="18" charset="0"/>
              </a:rPr>
              <a:t>4.3.3. So sánh với một số phương pháp khác</a:t>
            </a:r>
            <a:endParaRPr lang="en-US" sz="2400" dirty="0">
              <a:latin typeface="Times New Roman" panose="02020603050405020304" pitchFamily="18" charset="0"/>
            </a:endParaRPr>
          </a:p>
        </p:txBody>
      </p:sp>
      <p:graphicFrame>
        <p:nvGraphicFramePr>
          <p:cNvPr id="6" name="Table 5">
            <a:extLst>
              <a:ext uri="{FF2B5EF4-FFF2-40B4-BE49-F238E27FC236}">
                <a16:creationId xmlns:a16="http://schemas.microsoft.com/office/drawing/2014/main" id="{74160F93-B97D-C5C2-E20E-372524CA8286}"/>
              </a:ext>
            </a:extLst>
          </p:cNvPr>
          <p:cNvGraphicFramePr>
            <a:graphicFrameLocks noGrp="1"/>
          </p:cNvGraphicFramePr>
          <p:nvPr>
            <p:extLst>
              <p:ext uri="{D42A27DB-BD31-4B8C-83A1-F6EECF244321}">
                <p14:modId xmlns:p14="http://schemas.microsoft.com/office/powerpoint/2010/main" val="2695353991"/>
              </p:ext>
            </p:extLst>
          </p:nvPr>
        </p:nvGraphicFramePr>
        <p:xfrm>
          <a:off x="1435746" y="2430015"/>
          <a:ext cx="9293315" cy="1997970"/>
        </p:xfrm>
        <a:graphic>
          <a:graphicData uri="http://schemas.openxmlformats.org/drawingml/2006/table">
            <a:tbl>
              <a:tblPr firstRow="1" firstCol="1" bandRow="1">
                <a:tableStyleId>{5C22544A-7EE6-4342-B048-85BDC9FD1C3A}</a:tableStyleId>
              </a:tblPr>
              <a:tblGrid>
                <a:gridCol w="4593977">
                  <a:extLst>
                    <a:ext uri="{9D8B030D-6E8A-4147-A177-3AD203B41FA5}">
                      <a16:colId xmlns:a16="http://schemas.microsoft.com/office/drawing/2014/main" val="1477048839"/>
                    </a:ext>
                  </a:extLst>
                </a:gridCol>
                <a:gridCol w="2305683">
                  <a:extLst>
                    <a:ext uri="{9D8B030D-6E8A-4147-A177-3AD203B41FA5}">
                      <a16:colId xmlns:a16="http://schemas.microsoft.com/office/drawing/2014/main" val="4027949946"/>
                    </a:ext>
                  </a:extLst>
                </a:gridCol>
                <a:gridCol w="2393655">
                  <a:extLst>
                    <a:ext uri="{9D8B030D-6E8A-4147-A177-3AD203B41FA5}">
                      <a16:colId xmlns:a16="http://schemas.microsoft.com/office/drawing/2014/main" val="3725573730"/>
                    </a:ext>
                  </a:extLst>
                </a:gridCol>
              </a:tblGrid>
              <a:tr h="392589">
                <a:tc>
                  <a:txBody>
                    <a:bodyPr/>
                    <a:lstStyle/>
                    <a:p>
                      <a:pPr marL="0" marR="0" algn="ctr" fontAlgn="b">
                        <a:spcBef>
                          <a:spcPts val="600"/>
                        </a:spcBef>
                        <a:spcAft>
                          <a:spcPts val="600"/>
                        </a:spcAft>
                        <a:buNone/>
                      </a:pPr>
                      <a:r>
                        <a:rPr lang="en-US" sz="2300">
                          <a:effectLst/>
                        </a:rPr>
                        <a:t>Phương pháp</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AUPR</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AUC</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extLst>
                  <a:ext uri="{0D108BD9-81ED-4DB2-BD59-A6C34878D82A}">
                    <a16:rowId xmlns:a16="http://schemas.microsoft.com/office/drawing/2014/main" val="138424101"/>
                  </a:ext>
                </a:extLst>
              </a:tr>
              <a:tr h="392589">
                <a:tc>
                  <a:txBody>
                    <a:bodyPr/>
                    <a:lstStyle/>
                    <a:p>
                      <a:pPr marL="0" marR="0" algn="ctr" fontAlgn="b">
                        <a:spcBef>
                          <a:spcPts val="600"/>
                        </a:spcBef>
                        <a:spcAft>
                          <a:spcPts val="600"/>
                        </a:spcAft>
                        <a:buNone/>
                      </a:pPr>
                      <a:r>
                        <a:rPr lang="en-US" sz="2300">
                          <a:effectLst/>
                        </a:rPr>
                        <a:t>MNNMDA</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0,8943 </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0,9012</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extLst>
                  <a:ext uri="{0D108BD9-81ED-4DB2-BD59-A6C34878D82A}">
                    <a16:rowId xmlns:a16="http://schemas.microsoft.com/office/drawing/2014/main" val="244815793"/>
                  </a:ext>
                </a:extLst>
              </a:tr>
              <a:tr h="392589">
                <a:tc>
                  <a:txBody>
                    <a:bodyPr/>
                    <a:lstStyle/>
                    <a:p>
                      <a:pPr marL="0" marR="0" algn="ctr" fontAlgn="b">
                        <a:spcBef>
                          <a:spcPts val="600"/>
                        </a:spcBef>
                        <a:spcAft>
                          <a:spcPts val="600"/>
                        </a:spcAft>
                        <a:buNone/>
                      </a:pPr>
                      <a:r>
                        <a:rPr lang="en-US" sz="2300">
                          <a:effectLst/>
                        </a:rPr>
                        <a:t>NCP</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0,9201</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0,9253</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extLst>
                  <a:ext uri="{0D108BD9-81ED-4DB2-BD59-A6C34878D82A}">
                    <a16:rowId xmlns:a16="http://schemas.microsoft.com/office/drawing/2014/main" val="3970313814"/>
                  </a:ext>
                </a:extLst>
              </a:tr>
              <a:tr h="392589">
                <a:tc>
                  <a:txBody>
                    <a:bodyPr/>
                    <a:lstStyle/>
                    <a:p>
                      <a:pPr marL="0" marR="0" algn="ctr" fontAlgn="b">
                        <a:spcBef>
                          <a:spcPts val="600"/>
                        </a:spcBef>
                        <a:spcAft>
                          <a:spcPts val="600"/>
                        </a:spcAft>
                        <a:buNone/>
                      </a:pPr>
                      <a:r>
                        <a:rPr lang="en-US" sz="2300">
                          <a:effectLst/>
                        </a:rPr>
                        <a:t>iCAM-Net</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0,9412</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0,9438</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extLst>
                  <a:ext uri="{0D108BD9-81ED-4DB2-BD59-A6C34878D82A}">
                    <a16:rowId xmlns:a16="http://schemas.microsoft.com/office/drawing/2014/main" val="101587004"/>
                  </a:ext>
                </a:extLst>
              </a:tr>
              <a:tr h="392589">
                <a:tc>
                  <a:txBody>
                    <a:bodyPr/>
                    <a:lstStyle/>
                    <a:p>
                      <a:pPr marL="0" marR="0" algn="ctr" fontAlgn="b">
                        <a:spcBef>
                          <a:spcPts val="600"/>
                        </a:spcBef>
                        <a:spcAft>
                          <a:spcPts val="600"/>
                        </a:spcAft>
                        <a:buNone/>
                      </a:pPr>
                      <a:r>
                        <a:rPr lang="en-US" sz="2300">
                          <a:effectLst/>
                        </a:rPr>
                        <a:t>GATHDA-DVCL (đề xuất)</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0,9739 </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tc>
                  <a:txBody>
                    <a:bodyPr/>
                    <a:lstStyle/>
                    <a:p>
                      <a:pPr marL="0" marR="0" algn="ctr" fontAlgn="b">
                        <a:spcBef>
                          <a:spcPts val="600"/>
                        </a:spcBef>
                        <a:spcAft>
                          <a:spcPts val="600"/>
                        </a:spcAft>
                        <a:buNone/>
                      </a:pPr>
                      <a:r>
                        <a:rPr lang="en-US" sz="2300">
                          <a:effectLst/>
                        </a:rPr>
                        <a:t>0,9741</a:t>
                      </a:r>
                      <a:endParaRPr lang="en-US" sz="1900">
                        <a:effectLst/>
                        <a:latin typeface="Times New Roman" panose="02020603050405020304" pitchFamily="18" charset="0"/>
                        <a:ea typeface="Times New Roman" panose="02020603050405020304" pitchFamily="18" charset="0"/>
                      </a:endParaRPr>
                    </a:p>
                  </a:txBody>
                  <a:tcPr marL="36805" marR="36805" marT="24537" marB="24537" anchor="ctr"/>
                </a:tc>
                <a:extLst>
                  <a:ext uri="{0D108BD9-81ED-4DB2-BD59-A6C34878D82A}">
                    <a16:rowId xmlns:a16="http://schemas.microsoft.com/office/drawing/2014/main" val="2443628428"/>
                  </a:ext>
                </a:extLst>
              </a:tr>
            </a:tbl>
          </a:graphicData>
        </a:graphic>
      </p:graphicFrame>
    </p:spTree>
    <p:extLst>
      <p:ext uri="{BB962C8B-B14F-4D97-AF65-F5344CB8AC3E}">
        <p14:creationId xmlns:p14="http://schemas.microsoft.com/office/powerpoint/2010/main" val="14553373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F871B-53D8-0753-49BE-CBB4161C12B9}"/>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17B61721-95CB-FD78-8A79-68EB39DCC198}"/>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E532543C-3207-3BC4-8200-707B2AE35127}"/>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B58F179B-139E-CF8B-B9DC-72DD4E552862}"/>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8B2E9DA4-78CE-63B3-F676-00C94DCD94B5}"/>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4. THỰC NGHIỆM VÀ KẾT QUẢ</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EA9EFE16-6DE8-1E72-556F-27C168FE7BA2}"/>
              </a:ext>
            </a:extLst>
          </p:cNvPr>
          <p:cNvSpPr txBox="1"/>
          <p:nvPr/>
        </p:nvSpPr>
        <p:spPr>
          <a:xfrm>
            <a:off x="11801170" y="6533145"/>
            <a:ext cx="341760" cy="261610"/>
          </a:xfrm>
          <a:prstGeom prst="rect">
            <a:avLst/>
          </a:prstGeom>
          <a:noFill/>
        </p:spPr>
        <p:txBody>
          <a:bodyPr wrap="none" rtlCol="0">
            <a:spAutoFit/>
          </a:bodyPr>
          <a:lstStyle/>
          <a:p>
            <a:pPr algn="ctr"/>
            <a:r>
              <a:rPr lang="en-US" sz="1100"/>
              <a:t>21</a:t>
            </a:r>
          </a:p>
        </p:txBody>
      </p:sp>
      <p:sp>
        <p:nvSpPr>
          <p:cNvPr id="3" name="Title 1">
            <a:extLst>
              <a:ext uri="{FF2B5EF4-FFF2-40B4-BE49-F238E27FC236}">
                <a16:creationId xmlns:a16="http://schemas.microsoft.com/office/drawing/2014/main" id="{4CB076B4-558D-7D3E-77D8-181C5F054F08}"/>
              </a:ext>
            </a:extLst>
          </p:cNvPr>
          <p:cNvSpPr txBox="1">
            <a:spLocks/>
          </p:cNvSpPr>
          <p:nvPr/>
        </p:nvSpPr>
        <p:spPr>
          <a:xfrm>
            <a:off x="389413" y="1307625"/>
            <a:ext cx="5373212"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3200">
                <a:latin typeface="Times New Roman" panose="02020603050405020304" pitchFamily="18" charset="0"/>
              </a:rPr>
              <a:t>4.3. Kết quả thực nghiệm</a:t>
            </a:r>
            <a:endParaRPr lang="en-US" sz="3200" dirty="0">
              <a:latin typeface="Times New Roman" panose="02020603050405020304" pitchFamily="18" charset="0"/>
            </a:endParaRPr>
          </a:p>
        </p:txBody>
      </p:sp>
      <p:sp>
        <p:nvSpPr>
          <p:cNvPr id="4" name="Freeform 11">
            <a:extLst>
              <a:ext uri="{FF2B5EF4-FFF2-40B4-BE49-F238E27FC236}">
                <a16:creationId xmlns:a16="http://schemas.microsoft.com/office/drawing/2014/main" id="{231FE884-1096-4B15-371B-23BCBC343787}"/>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itle 1">
            <a:extLst>
              <a:ext uri="{FF2B5EF4-FFF2-40B4-BE49-F238E27FC236}">
                <a16:creationId xmlns:a16="http://schemas.microsoft.com/office/drawing/2014/main" id="{7BC67132-6F11-72A7-2629-6CF99FEB18A6}"/>
              </a:ext>
            </a:extLst>
          </p:cNvPr>
          <p:cNvSpPr txBox="1">
            <a:spLocks/>
          </p:cNvSpPr>
          <p:nvPr/>
        </p:nvSpPr>
        <p:spPr>
          <a:xfrm>
            <a:off x="389412" y="1723324"/>
            <a:ext cx="5916137" cy="580024"/>
          </a:xfrm>
          <a:prstGeom prst="rect">
            <a:avLst/>
          </a:prstGeom>
        </p:spPr>
        <p:txBody>
          <a:bodyPr/>
          <a:lstStyle>
            <a:lvl1pPr algn="l" defTabSz="914380" rtl="0" eaLnBrk="1" latinLnBrk="0" hangingPunct="1">
              <a:lnSpc>
                <a:spcPct val="90000"/>
              </a:lnSpc>
              <a:spcBef>
                <a:spcPct val="0"/>
              </a:spcBef>
              <a:buNone/>
              <a:defRPr sz="4401" kern="1200">
                <a:solidFill>
                  <a:schemeClr val="tx1"/>
                </a:solidFill>
                <a:latin typeface="+mj-lt"/>
                <a:ea typeface="+mj-ea"/>
                <a:cs typeface="+mj-cs"/>
              </a:defRPr>
            </a:lvl1pPr>
          </a:lstStyle>
          <a:p>
            <a:r>
              <a:rPr lang="en-US" sz="2400">
                <a:latin typeface="Times New Roman" panose="02020603050405020304" pitchFamily="18" charset="0"/>
              </a:rPr>
              <a:t>4.3.3. Phân tích hiệu quả dự đoán</a:t>
            </a:r>
            <a:endParaRPr lang="en-US" sz="2400" dirty="0">
              <a:latin typeface="Times New Roman" panose="02020603050405020304" pitchFamily="18" charset="0"/>
            </a:endParaRPr>
          </a:p>
        </p:txBody>
      </p:sp>
      <p:pic>
        <p:nvPicPr>
          <p:cNvPr id="8" name="Picture 7">
            <a:extLst>
              <a:ext uri="{FF2B5EF4-FFF2-40B4-BE49-F238E27FC236}">
                <a16:creationId xmlns:a16="http://schemas.microsoft.com/office/drawing/2014/main" id="{CCE0A90B-2B4D-E0B0-2C1D-5A7DDD6CBD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09136" y="2307017"/>
            <a:ext cx="4380373" cy="3226636"/>
          </a:xfrm>
          <a:prstGeom prst="rect">
            <a:avLst/>
          </a:prstGeom>
        </p:spPr>
      </p:pic>
      <p:pic>
        <p:nvPicPr>
          <p:cNvPr id="10" name="Picture 9">
            <a:extLst>
              <a:ext uri="{FF2B5EF4-FFF2-40B4-BE49-F238E27FC236}">
                <a16:creationId xmlns:a16="http://schemas.microsoft.com/office/drawing/2014/main" id="{D6BA3E3D-554B-0AFA-8888-7334D56F245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67419" y="2320070"/>
            <a:ext cx="5239924" cy="3230305"/>
          </a:xfrm>
          <a:prstGeom prst="rect">
            <a:avLst/>
          </a:prstGeom>
        </p:spPr>
      </p:pic>
    </p:spTree>
    <p:extLst>
      <p:ext uri="{BB962C8B-B14F-4D97-AF65-F5344CB8AC3E}">
        <p14:creationId xmlns:p14="http://schemas.microsoft.com/office/powerpoint/2010/main" val="39748738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D44561C-BEEF-4590-9D24-5D9CF43A7094}"/>
              </a:ext>
            </a:extLst>
          </p:cNvPr>
          <p:cNvSpPr/>
          <p:nvPr/>
        </p:nvSpPr>
        <p:spPr>
          <a:xfrm>
            <a:off x="-600" y="1973943"/>
            <a:ext cx="12193201" cy="3414420"/>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85">
              <a:cs typeface="+mn-ea"/>
              <a:sym typeface="+mn-lt"/>
            </a:endParaRPr>
          </a:p>
        </p:txBody>
      </p:sp>
      <p:sp>
        <p:nvSpPr>
          <p:cNvPr id="7" name="椭圆 6">
            <a:extLst>
              <a:ext uri="{FF2B5EF4-FFF2-40B4-BE49-F238E27FC236}">
                <a16:creationId xmlns:a16="http://schemas.microsoft.com/office/drawing/2014/main" id="{11B8B4CC-665C-4A9E-9E7B-6727C81D9480}"/>
              </a:ext>
            </a:extLst>
          </p:cNvPr>
          <p:cNvSpPr/>
          <p:nvPr/>
        </p:nvSpPr>
        <p:spPr>
          <a:xfrm>
            <a:off x="5112204" y="828740"/>
            <a:ext cx="1967594" cy="1967594"/>
          </a:xfrm>
          <a:prstGeom prst="ellipse">
            <a:avLst/>
          </a:prstGeom>
          <a:solidFill>
            <a:srgbClr val="F5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8000">
                <a:solidFill>
                  <a:schemeClr val="bg1"/>
                </a:solidFill>
                <a:cs typeface="+mn-ea"/>
                <a:sym typeface="+mn-lt"/>
              </a:rPr>
              <a:t>05</a:t>
            </a:r>
            <a:endParaRPr lang="zh-CN" altLang="en-US" sz="8000">
              <a:solidFill>
                <a:schemeClr val="bg1"/>
              </a:solidFill>
              <a:cs typeface="+mn-ea"/>
              <a:sym typeface="+mn-lt"/>
            </a:endParaRPr>
          </a:p>
        </p:txBody>
      </p:sp>
      <p:sp>
        <p:nvSpPr>
          <p:cNvPr id="8" name="文本框 7">
            <a:extLst>
              <a:ext uri="{FF2B5EF4-FFF2-40B4-BE49-F238E27FC236}">
                <a16:creationId xmlns:a16="http://schemas.microsoft.com/office/drawing/2014/main" id="{8A3D7E42-3E79-47B4-9598-D9EDCC4A16F2}"/>
              </a:ext>
            </a:extLst>
          </p:cNvPr>
          <p:cNvSpPr txBox="1"/>
          <p:nvPr/>
        </p:nvSpPr>
        <p:spPr>
          <a:xfrm>
            <a:off x="2477876" y="3107571"/>
            <a:ext cx="7236276" cy="1754326"/>
          </a:xfrm>
          <a:prstGeom prst="rect">
            <a:avLst/>
          </a:prstGeom>
          <a:noFill/>
        </p:spPr>
        <p:txBody>
          <a:bodyPr wrap="none" rtlCol="0">
            <a:spAutoFit/>
          </a:bodyPr>
          <a:lstStyle/>
          <a:p>
            <a:pPr algn="ctr"/>
            <a:r>
              <a:rPr lang="en-US" altLang="zh-CN" sz="5400" b="1">
                <a:solidFill>
                  <a:schemeClr val="bg1"/>
                </a:solidFill>
                <a:cs typeface="+mn-ea"/>
                <a:sym typeface="+mn-lt"/>
              </a:rPr>
              <a:t>KẾT LUẬN VÀ </a:t>
            </a:r>
          </a:p>
          <a:p>
            <a:pPr algn="ctr"/>
            <a:r>
              <a:rPr lang="en-US" altLang="zh-CN" sz="5400" b="1">
                <a:solidFill>
                  <a:schemeClr val="bg1"/>
                </a:solidFill>
                <a:cs typeface="+mn-ea"/>
                <a:sym typeface="+mn-lt"/>
              </a:rPr>
              <a:t>HƯỚNG PHÁT TRIỂN</a:t>
            </a:r>
            <a:endParaRPr lang="zh-CN" altLang="en-US" sz="5400" b="1">
              <a:solidFill>
                <a:schemeClr val="bg1"/>
              </a:solidFill>
              <a:cs typeface="+mn-ea"/>
              <a:sym typeface="+mn-lt"/>
            </a:endParaRPr>
          </a:p>
        </p:txBody>
      </p:sp>
      <p:sp>
        <p:nvSpPr>
          <p:cNvPr id="3" name="TextBox 2">
            <a:extLst>
              <a:ext uri="{FF2B5EF4-FFF2-40B4-BE49-F238E27FC236}">
                <a16:creationId xmlns:a16="http://schemas.microsoft.com/office/drawing/2014/main" id="{F9C63FDA-0AC0-6AF3-16F2-8CC58A369731}"/>
              </a:ext>
            </a:extLst>
          </p:cNvPr>
          <p:cNvSpPr txBox="1"/>
          <p:nvPr/>
        </p:nvSpPr>
        <p:spPr>
          <a:xfrm>
            <a:off x="11801170" y="6533145"/>
            <a:ext cx="341760" cy="261610"/>
          </a:xfrm>
          <a:prstGeom prst="rect">
            <a:avLst/>
          </a:prstGeom>
          <a:noFill/>
        </p:spPr>
        <p:txBody>
          <a:bodyPr wrap="none" rtlCol="0">
            <a:spAutoFit/>
          </a:bodyPr>
          <a:lstStyle/>
          <a:p>
            <a:pPr algn="ctr"/>
            <a:r>
              <a:rPr lang="en-US" sz="1100"/>
              <a:t>22</a:t>
            </a:r>
          </a:p>
        </p:txBody>
      </p:sp>
    </p:spTree>
    <p:extLst>
      <p:ext uri="{BB962C8B-B14F-4D97-AF65-F5344CB8AC3E}">
        <p14:creationId xmlns:p14="http://schemas.microsoft.com/office/powerpoint/2010/main" val="1152564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6AFD-3BB1-D0E2-B13F-7F04F58772CE}"/>
            </a:ext>
          </a:extLst>
        </p:cNvPr>
        <p:cNvGrpSpPr/>
        <p:nvPr/>
      </p:nvGrpSpPr>
      <p:grpSpPr>
        <a:xfrm>
          <a:off x="0" y="0"/>
          <a:ext cx="0" cy="0"/>
          <a:chOff x="0" y="0"/>
          <a:chExt cx="0" cy="0"/>
        </a:xfrm>
      </p:grpSpPr>
      <p:sp>
        <p:nvSpPr>
          <p:cNvPr id="19" name="Freeform 2">
            <a:extLst>
              <a:ext uri="{FF2B5EF4-FFF2-40B4-BE49-F238E27FC236}">
                <a16:creationId xmlns:a16="http://schemas.microsoft.com/office/drawing/2014/main" id="{3F86D07A-EDED-18CC-941F-869BEE00A88C}"/>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20" name="Rectangle 19">
            <a:extLst>
              <a:ext uri="{FF2B5EF4-FFF2-40B4-BE49-F238E27FC236}">
                <a16:creationId xmlns:a16="http://schemas.microsoft.com/office/drawing/2014/main" id="{9AA966D2-0C0D-E2A4-861B-796FD3F72BD0}"/>
              </a:ext>
            </a:extLst>
          </p:cNvPr>
          <p:cNvSpPr>
            <a:spLocks noGrp="1" noRot="1" noMove="1" noResize="1" noEditPoints="1" noAdjustHandles="1" noChangeArrowheads="1" noChangeShapeType="1"/>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0D892DD-C65F-8377-62DC-E83474BCEAC8}"/>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23387" y="146756"/>
            <a:ext cx="869156" cy="869156"/>
          </a:xfrm>
          <a:prstGeom prst="rect">
            <a:avLst/>
          </a:prstGeom>
        </p:spPr>
      </p:pic>
      <p:sp>
        <p:nvSpPr>
          <p:cNvPr id="29" name="TextBox 28">
            <a:extLst>
              <a:ext uri="{FF2B5EF4-FFF2-40B4-BE49-F238E27FC236}">
                <a16:creationId xmlns:a16="http://schemas.microsoft.com/office/drawing/2014/main" id="{67CC6A8D-E336-229F-F5E0-37CC2B04BDEE}"/>
              </a:ext>
            </a:extLst>
          </p:cNvPr>
          <p:cNvSpPr txBox="1"/>
          <p:nvPr/>
        </p:nvSpPr>
        <p:spPr>
          <a:xfrm>
            <a:off x="1635694" y="291713"/>
            <a:ext cx="8920613" cy="584775"/>
          </a:xfrm>
          <a:prstGeom prst="rect">
            <a:avLst/>
          </a:prstGeom>
          <a:noFill/>
        </p:spPr>
        <p:txBody>
          <a:bodyPr wrap="square">
            <a:spAutoFit/>
          </a:bodyPr>
          <a:lstStyle/>
          <a:p>
            <a:pPr algn="ctr"/>
            <a:r>
              <a:rPr lang="en-US" altLang="zh-CN" sz="3200" b="1">
                <a:solidFill>
                  <a:schemeClr val="bg1"/>
                </a:solidFill>
                <a:cs typeface="+mn-ea"/>
                <a:sym typeface="+mn-lt"/>
              </a:rPr>
              <a:t>5. KẾT LUẬN VÀ HƯỚNG PHÁT TRIỂN</a:t>
            </a:r>
            <a:endParaRPr lang="zh-CN" altLang="en-US" sz="3200" b="1">
              <a:solidFill>
                <a:schemeClr val="bg1"/>
              </a:solidFill>
              <a:cs typeface="+mn-ea"/>
              <a:sym typeface="+mn-lt"/>
            </a:endParaRPr>
          </a:p>
        </p:txBody>
      </p:sp>
      <p:sp>
        <p:nvSpPr>
          <p:cNvPr id="2" name="TextBox 1">
            <a:extLst>
              <a:ext uri="{FF2B5EF4-FFF2-40B4-BE49-F238E27FC236}">
                <a16:creationId xmlns:a16="http://schemas.microsoft.com/office/drawing/2014/main" id="{994B8D1E-1CBE-EA13-621A-3349F79D303B}"/>
              </a:ext>
            </a:extLst>
          </p:cNvPr>
          <p:cNvSpPr txBox="1"/>
          <p:nvPr/>
        </p:nvSpPr>
        <p:spPr>
          <a:xfrm>
            <a:off x="11801170" y="6533145"/>
            <a:ext cx="341760" cy="261610"/>
          </a:xfrm>
          <a:prstGeom prst="rect">
            <a:avLst/>
          </a:prstGeom>
          <a:noFill/>
        </p:spPr>
        <p:txBody>
          <a:bodyPr wrap="none" rtlCol="0">
            <a:spAutoFit/>
          </a:bodyPr>
          <a:lstStyle/>
          <a:p>
            <a:pPr algn="ctr"/>
            <a:r>
              <a:rPr lang="en-US" sz="1100"/>
              <a:t>23</a:t>
            </a:r>
          </a:p>
        </p:txBody>
      </p:sp>
      <p:sp>
        <p:nvSpPr>
          <p:cNvPr id="4" name="Freeform 11">
            <a:extLst>
              <a:ext uri="{FF2B5EF4-FFF2-40B4-BE49-F238E27FC236}">
                <a16:creationId xmlns:a16="http://schemas.microsoft.com/office/drawing/2014/main" id="{8C1DA084-2FE0-F48D-8AA7-199EE176BAF8}"/>
              </a:ext>
            </a:extLst>
          </p:cNvPr>
          <p:cNvSpPr/>
          <p:nvPr/>
        </p:nvSpPr>
        <p:spPr>
          <a:xfrm>
            <a:off x="-1622" y="5321393"/>
            <a:ext cx="1437368" cy="1536607"/>
          </a:xfrm>
          <a:custGeom>
            <a:avLst/>
            <a:gdLst/>
            <a:ahLst/>
            <a:cxnLst/>
            <a:rect l="l" t="t" r="r" b="b"/>
            <a:pathLst>
              <a:path w="3849053" h="4114800">
                <a:moveTo>
                  <a:pt x="0" y="0"/>
                </a:moveTo>
                <a:lnTo>
                  <a:pt x="3849052" y="0"/>
                </a:lnTo>
                <a:lnTo>
                  <a:pt x="384905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CB014E5E-A65F-EA69-0E58-064E9F1CC34A}"/>
              </a:ext>
            </a:extLst>
          </p:cNvPr>
          <p:cNvSpPr txBox="1"/>
          <p:nvPr/>
        </p:nvSpPr>
        <p:spPr>
          <a:xfrm>
            <a:off x="390830" y="1849872"/>
            <a:ext cx="6096000" cy="3693319"/>
          </a:xfrm>
          <a:prstGeom prst="rect">
            <a:avLst/>
          </a:prstGeom>
          <a:noFill/>
        </p:spPr>
        <p:txBody>
          <a:bodyPr wrap="square">
            <a:spAutoFit/>
          </a:bodyPr>
          <a:lstStyle/>
          <a:p>
            <a:r>
              <a:rPr lang="en-US" sz="1800" b="1" kern="1200">
                <a:solidFill>
                  <a:schemeClr val="tx1"/>
                </a:solidFill>
                <a:effectLst/>
                <a:latin typeface="Times New Roman" panose="02020603050405020304" pitchFamily="18" charset="0"/>
                <a:cs typeface="Times New Roman" panose="02020603050405020304" pitchFamily="18" charset="0"/>
              </a:rPr>
              <a:t>Kết luận:</a:t>
            </a:r>
          </a:p>
          <a:p>
            <a:pPr marL="285750" indent="-285750">
              <a:buFont typeface="Arial" panose="020B0604020202020204" pitchFamily="34" charset="0"/>
              <a:buChar char="•"/>
            </a:pPr>
            <a:r>
              <a:rPr lang="vi-VN" sz="1800" kern="1200">
                <a:solidFill>
                  <a:schemeClr val="tx1"/>
                </a:solidFill>
                <a:effectLst/>
                <a:latin typeface="Times New Roman" panose="02020603050405020304" pitchFamily="18" charset="0"/>
                <a:cs typeface="Times New Roman" panose="02020603050405020304" pitchFamily="18" charset="0"/>
              </a:rPr>
              <a:t>Đề xuất mô hình GATHDA-DVCL thành công: Giải quyết hiệu quả bài toán dự đoán quan hệ thảo dược - bệnh trên bộ dữ liệu TCM quy mô lớn bằng cách tích hợp hệ thống 4 thành phần cốt lõi. </a:t>
            </a:r>
          </a:p>
          <a:p>
            <a:pPr marL="285750" indent="-285750">
              <a:buFont typeface="Arial" panose="020B0604020202020204" pitchFamily="34" charset="0"/>
              <a:buChar char="•"/>
            </a:pPr>
            <a:r>
              <a:rPr lang="vi-VN" sz="1800" kern="1200">
                <a:solidFill>
                  <a:schemeClr val="tx1"/>
                </a:solidFill>
                <a:effectLst/>
                <a:latin typeface="Times New Roman" panose="02020603050405020304" pitchFamily="18" charset="0"/>
                <a:cs typeface="Times New Roman" panose="02020603050405020304" pitchFamily="18" charset="0"/>
              </a:rPr>
              <a:t>Hiệu năng vượt trội:</a:t>
            </a:r>
          </a:p>
          <a:p>
            <a:pPr marL="742950" lvl="1" indent="-285750">
              <a:buFont typeface="Wingdings" panose="05000000000000000000" pitchFamily="2" charset="2"/>
              <a:buChar char="ü"/>
            </a:pPr>
            <a:r>
              <a:rPr lang="vi-VN" kern="1200">
                <a:solidFill>
                  <a:schemeClr val="tx1"/>
                </a:solidFill>
                <a:effectLst/>
                <a:latin typeface="Times New Roman" panose="02020603050405020304" pitchFamily="18" charset="0"/>
                <a:cs typeface="Times New Roman" panose="02020603050405020304" pitchFamily="18" charset="0"/>
              </a:rPr>
              <a:t>Đạt chỉ số $AUPR = 0,9739$ và $AUC = 0,9741$, vượt trội hơn tất cả các phương pháp đối sánh hiện có trên cùng bộ dữ liệu. </a:t>
            </a:r>
          </a:p>
          <a:p>
            <a:pPr marL="742950" lvl="1" indent="-285750">
              <a:buFont typeface="Wingdings" panose="05000000000000000000" pitchFamily="2" charset="2"/>
              <a:buChar char="ü"/>
            </a:pPr>
            <a:r>
              <a:rPr lang="vi-VN" kern="1200">
                <a:solidFill>
                  <a:schemeClr val="tx1"/>
                </a:solidFill>
                <a:effectLst/>
                <a:latin typeface="Times New Roman" panose="02020603050405020304" pitchFamily="18" charset="0"/>
                <a:cs typeface="Times New Roman" panose="02020603050405020304" pitchFamily="18" charset="0"/>
              </a:rPr>
              <a:t>Cải thiện +3,27% AUPR và +3,03% AUC so với phương pháp mạnh nhất trước đó là iCAM-Net. </a:t>
            </a:r>
          </a:p>
          <a:p>
            <a:pPr marL="285750" indent="-285750">
              <a:buFont typeface="Arial" panose="020B0604020202020204" pitchFamily="34" charset="0"/>
              <a:buChar char="•"/>
            </a:pPr>
            <a:r>
              <a:rPr lang="vi-VN" sz="1800" kern="1200">
                <a:solidFill>
                  <a:schemeClr val="tx1"/>
                </a:solidFill>
                <a:effectLst/>
                <a:latin typeface="Times New Roman" panose="02020603050405020304" pitchFamily="18" charset="0"/>
                <a:cs typeface="Times New Roman" panose="02020603050405020304" pitchFamily="18" charset="0"/>
              </a:rPr>
              <a:t>Đóng góp lớn từ Học đối chiếu: Thực nghiệm </a:t>
            </a:r>
            <a:r>
              <a:rPr lang="vi-VN" sz="1800" i="1" kern="1200">
                <a:solidFill>
                  <a:schemeClr val="tx1"/>
                </a:solidFill>
                <a:effectLst/>
                <a:latin typeface="Times New Roman" panose="02020603050405020304" pitchFamily="18" charset="0"/>
                <a:cs typeface="Times New Roman" panose="02020603050405020304" pitchFamily="18" charset="0"/>
              </a:rPr>
              <a:t>Ablation study</a:t>
            </a:r>
            <a:r>
              <a:rPr lang="vi-VN" sz="1800" kern="1200">
                <a:solidFill>
                  <a:schemeClr val="tx1"/>
                </a:solidFill>
                <a:effectLst/>
                <a:latin typeface="Times New Roman" panose="02020603050405020304" pitchFamily="18" charset="0"/>
                <a:cs typeface="Times New Roman" panose="02020603050405020304" pitchFamily="18" charset="0"/>
              </a:rPr>
              <a:t> xác nhận tính bổ trợ của các thành phần</a:t>
            </a:r>
            <a:endParaRPr lang="en-US" sz="1800" kern="1200">
              <a:solidFill>
                <a:schemeClr val="tx1"/>
              </a:solidFill>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77DCE09-217B-74EA-236E-D3691DB5F981}"/>
              </a:ext>
            </a:extLst>
          </p:cNvPr>
          <p:cNvSpPr txBox="1"/>
          <p:nvPr/>
        </p:nvSpPr>
        <p:spPr>
          <a:xfrm>
            <a:off x="6659292" y="1849872"/>
            <a:ext cx="5141878" cy="2031325"/>
          </a:xfrm>
          <a:prstGeom prst="rect">
            <a:avLst/>
          </a:prstGeom>
          <a:noFill/>
        </p:spPr>
        <p:txBody>
          <a:bodyPr wrap="square">
            <a:spAutoFit/>
          </a:bodyPr>
          <a:lstStyle/>
          <a:p>
            <a:r>
              <a:rPr lang="vi-VN" sz="1800" b="1" kern="1200">
                <a:solidFill>
                  <a:schemeClr val="tx1"/>
                </a:solidFill>
                <a:effectLst/>
                <a:latin typeface="Times New Roman" panose="02020603050405020304" pitchFamily="18" charset="0"/>
                <a:cs typeface="Times New Roman" panose="02020603050405020304" pitchFamily="18" charset="0"/>
              </a:rPr>
              <a:t>Hướng phát triển</a:t>
            </a:r>
            <a:endParaRPr lang="en-US" sz="1800" b="1" kern="1200">
              <a:solidFill>
                <a:schemeClr val="tx1"/>
              </a:solidFill>
              <a:effectLst/>
              <a:latin typeface="Times New Roman" panose="02020603050405020304" pitchFamily="18" charset="0"/>
              <a:cs typeface="Times New Roman" panose="02020603050405020304" pitchFamily="18" charset="0"/>
            </a:endParaRPr>
          </a:p>
          <a:p>
            <a:r>
              <a:rPr lang="vi-VN" sz="1800" kern="1200">
                <a:solidFill>
                  <a:schemeClr val="tx1"/>
                </a:solidFill>
                <a:effectLst/>
                <a:latin typeface="Times New Roman" panose="02020603050405020304" pitchFamily="18" charset="0"/>
                <a:cs typeface="Times New Roman" panose="02020603050405020304" pitchFamily="18" charset="0"/>
              </a:rPr>
              <a:t>Mở rộng kiểm chứng: Đánh giá tính tổng quát của mô hình bằng cách thử nghiệm trên các bộ dữ liệu khác</a:t>
            </a:r>
            <a:r>
              <a:rPr lang="en-US" sz="1800" kern="1200">
                <a:solidFill>
                  <a:schemeClr val="tx1"/>
                </a:solidFill>
                <a:effectLst/>
                <a:latin typeface="Times New Roman" panose="02020603050405020304" pitchFamily="18" charset="0"/>
                <a:cs typeface="Times New Roman" panose="02020603050405020304" pitchFamily="18" charset="0"/>
              </a:rPr>
              <a:t>.</a:t>
            </a:r>
          </a:p>
          <a:p>
            <a:r>
              <a:rPr lang="vi-VN" sz="1800" kern="1200">
                <a:solidFill>
                  <a:schemeClr val="tx1"/>
                </a:solidFill>
                <a:effectLst/>
                <a:latin typeface="Times New Roman" panose="02020603050405020304" pitchFamily="18" charset="0"/>
                <a:cs typeface="Times New Roman" panose="02020603050405020304" pitchFamily="18" charset="0"/>
              </a:rPr>
              <a:t>Tích hợp thêm dữ liệu sinh học: Bổ sung thông tin cấu trúc phân tử chuyên sâu của hợp chất vào quá trình xây dựng đồ thị </a:t>
            </a:r>
            <a:endParaRPr lang="en-US" sz="1800" kern="120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26888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5F83B-B076-4DBE-C338-B855A6A0B771}"/>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809DA94C-74F1-6984-32D0-6FA488DB03DD}"/>
              </a:ext>
            </a:extLst>
          </p:cNvPr>
          <p:cNvSpPr>
            <a:spLocks noGrp="1" noRot="1" noMove="1" noResize="1" noEditPoints="1" noAdjustHandles="1" noChangeArrowheads="1" noChangeShapeType="1"/>
          </p:cNvSpPr>
          <p:nvPr/>
        </p:nvSpPr>
        <p:spPr>
          <a:xfrm>
            <a:off x="-1622" y="0"/>
            <a:ext cx="12193622" cy="685800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stretch>
              <a:fillRect/>
            </a:stretch>
          </a:blipFill>
        </p:spPr>
        <p:txBody>
          <a:bodyPr/>
          <a:lstStyle/>
          <a:p>
            <a:endParaRPr lang="en-US"/>
          </a:p>
        </p:txBody>
      </p:sp>
      <p:sp>
        <p:nvSpPr>
          <p:cNvPr id="7" name="Freeform 6">
            <a:extLst>
              <a:ext uri="{FF2B5EF4-FFF2-40B4-BE49-F238E27FC236}">
                <a16:creationId xmlns:a16="http://schemas.microsoft.com/office/drawing/2014/main" id="{A60CB9EF-F3CE-D568-C37B-279F785723A1}"/>
              </a:ext>
            </a:extLst>
          </p:cNvPr>
          <p:cNvSpPr>
            <a:spLocks/>
          </p:cNvSpPr>
          <p:nvPr/>
        </p:nvSpPr>
        <p:spPr>
          <a:xfrm>
            <a:off x="-1624" y="5825090"/>
            <a:ext cx="6002374" cy="1032909"/>
          </a:xfrm>
          <a:custGeom>
            <a:avLst/>
            <a:gdLst/>
            <a:ahLst/>
            <a:cxnLst/>
            <a:rect l="l" t="t" r="r" b="b"/>
            <a:pathLst>
              <a:path w="7315200" h="1258824">
                <a:moveTo>
                  <a:pt x="0" y="0"/>
                </a:moveTo>
                <a:lnTo>
                  <a:pt x="7315200" y="0"/>
                </a:lnTo>
                <a:lnTo>
                  <a:pt x="7315200" y="1258824"/>
                </a:lnTo>
                <a:lnTo>
                  <a:pt x="0" y="1258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Rectangle 12">
            <a:extLst>
              <a:ext uri="{FF2B5EF4-FFF2-40B4-BE49-F238E27FC236}">
                <a16:creationId xmlns:a16="http://schemas.microsoft.com/office/drawing/2014/main" id="{0087E600-C3A4-1045-E5B7-A054A9A96C6E}"/>
              </a:ext>
            </a:extLst>
          </p:cNvPr>
          <p:cNvSpPr/>
          <p:nvPr/>
        </p:nvSpPr>
        <p:spPr>
          <a:xfrm>
            <a:off x="-1622" y="0"/>
            <a:ext cx="12193622" cy="116266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FA3F7C4-08BD-D804-B128-9D01D4F14B15}"/>
              </a:ext>
            </a:extLst>
          </p:cNvPr>
          <p:cNvGrpSpPr>
            <a:grpSpLocks noGrp="1" noUngrp="1" noRot="1" noMove="1" noResize="1"/>
          </p:cNvGrpSpPr>
          <p:nvPr/>
        </p:nvGrpSpPr>
        <p:grpSpPr>
          <a:xfrm>
            <a:off x="3528562" y="140857"/>
            <a:ext cx="4913663" cy="869156"/>
            <a:chOff x="3565641" y="140857"/>
            <a:chExt cx="4913663" cy="869156"/>
          </a:xfrm>
        </p:grpSpPr>
        <p:pic>
          <p:nvPicPr>
            <p:cNvPr id="10" name="Picture 9">
              <a:extLst>
                <a:ext uri="{FF2B5EF4-FFF2-40B4-BE49-F238E27FC236}">
                  <a16:creationId xmlns:a16="http://schemas.microsoft.com/office/drawing/2014/main" id="{CEB89170-B2DE-F68D-9B9A-10CAECC6DCD0}"/>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a:off x="3565641" y="140857"/>
              <a:ext cx="869156" cy="869156"/>
            </a:xfrm>
            <a:prstGeom prst="rect">
              <a:avLst/>
            </a:prstGeom>
          </p:spPr>
        </p:pic>
        <p:sp>
          <p:nvSpPr>
            <p:cNvPr id="14" name="TextBox 13">
              <a:extLst>
                <a:ext uri="{FF2B5EF4-FFF2-40B4-BE49-F238E27FC236}">
                  <a16:creationId xmlns:a16="http://schemas.microsoft.com/office/drawing/2014/main" id="{35049E44-E558-D35F-4C97-2A35FA3221E9}"/>
                </a:ext>
              </a:extLst>
            </p:cNvPr>
            <p:cNvSpPr txBox="1">
              <a:spLocks noGrp="1" noRot="1" noMove="1" noResize="1" noEditPoints="1" noAdjustHandles="1" noChangeArrowheads="1" noChangeShapeType="1"/>
            </p:cNvSpPr>
            <p:nvPr/>
          </p:nvSpPr>
          <p:spPr>
            <a:xfrm>
              <a:off x="4524375" y="252270"/>
              <a:ext cx="3954929" cy="646331"/>
            </a:xfrm>
            <a:prstGeom prst="rect">
              <a:avLst/>
            </a:prstGeom>
            <a:noFill/>
          </p:spPr>
          <p:txBody>
            <a:bodyPr wrap="none" rtlCol="0">
              <a:spAutoFit/>
            </a:bodyPr>
            <a:lstStyle/>
            <a:p>
              <a:r>
                <a:rPr lang="en-US" b="1" spc="100">
                  <a:ln w="6350">
                    <a:solidFill>
                      <a:schemeClr val="bg1"/>
                    </a:solidFill>
                  </a:ln>
                  <a:solidFill>
                    <a:srgbClr val="193769"/>
                  </a:solidFill>
                  <a:latin typeface="#9Slide03 SVNNeutraface 2" panose="02000600040000020004" pitchFamily="2" charset="0"/>
                  <a:cs typeface="Times New Roman" panose="02020603050405020304" pitchFamily="18" charset="0"/>
                </a:rPr>
                <a:t>ĐẠI HỌC CÔNG NGHIỆP HÀ NỘI</a:t>
              </a:r>
            </a:p>
            <a:p>
              <a:r>
                <a:rPr lang="en-US" b="1">
                  <a:ln w="6350">
                    <a:solidFill>
                      <a:schemeClr val="bg1"/>
                    </a:solidFill>
                  </a:ln>
                  <a:solidFill>
                    <a:srgbClr val="FF0000"/>
                  </a:solidFill>
                  <a:latin typeface="#9Slide03 SVNNeutraface 2" panose="02000600040000020004" pitchFamily="2" charset="0"/>
                  <a:cs typeface="Times New Roman" panose="02020603050405020304" pitchFamily="18" charset="0"/>
                </a:rPr>
                <a:t>HANOI UNIVERSITY OF INDUSTRY</a:t>
              </a:r>
            </a:p>
          </p:txBody>
        </p:sp>
      </p:grpSp>
      <p:sp>
        <p:nvSpPr>
          <p:cNvPr id="4" name="TextBox 3">
            <a:extLst>
              <a:ext uri="{FF2B5EF4-FFF2-40B4-BE49-F238E27FC236}">
                <a16:creationId xmlns:a16="http://schemas.microsoft.com/office/drawing/2014/main" id="{91A39CF9-9539-2F77-62A6-88DA664255CB}"/>
              </a:ext>
            </a:extLst>
          </p:cNvPr>
          <p:cNvSpPr txBox="1"/>
          <p:nvPr/>
        </p:nvSpPr>
        <p:spPr>
          <a:xfrm>
            <a:off x="11801170" y="6533145"/>
            <a:ext cx="341760" cy="261610"/>
          </a:xfrm>
          <a:prstGeom prst="rect">
            <a:avLst/>
          </a:prstGeom>
          <a:noFill/>
        </p:spPr>
        <p:txBody>
          <a:bodyPr wrap="none" rtlCol="0">
            <a:spAutoFit/>
          </a:bodyPr>
          <a:lstStyle/>
          <a:p>
            <a:pPr algn="ctr"/>
            <a:r>
              <a:rPr lang="en-US" sz="1100"/>
              <a:t>24</a:t>
            </a:r>
          </a:p>
        </p:txBody>
      </p:sp>
      <p:sp>
        <p:nvSpPr>
          <p:cNvPr id="5" name="TextBox 6">
            <a:extLst>
              <a:ext uri="{FF2B5EF4-FFF2-40B4-BE49-F238E27FC236}">
                <a16:creationId xmlns:a16="http://schemas.microsoft.com/office/drawing/2014/main" id="{7E6E5FAE-2EA0-8C5A-A651-BEBFA326133E}"/>
              </a:ext>
            </a:extLst>
          </p:cNvPr>
          <p:cNvSpPr txBox="1"/>
          <p:nvPr/>
        </p:nvSpPr>
        <p:spPr>
          <a:xfrm>
            <a:off x="650445" y="2049797"/>
            <a:ext cx="10889488" cy="2888163"/>
          </a:xfrm>
          <a:prstGeom prst="rect">
            <a:avLst/>
          </a:prstGeom>
        </p:spPr>
        <p:txBody>
          <a:bodyPr lIns="0" tIns="0" rIns="0" bIns="0" rtlCol="0" anchor="t">
            <a:spAutoFit/>
          </a:bodyPr>
          <a:lstStyle/>
          <a:p>
            <a:pPr algn="ctr">
              <a:lnSpc>
                <a:spcPct val="150000"/>
              </a:lnSpc>
            </a:pPr>
            <a:r>
              <a:rPr lang="en-US" sz="6600">
                <a:solidFill>
                  <a:srgbClr val="0C3877"/>
                </a:solidFill>
                <a:latin typeface="Anton"/>
                <a:ea typeface="Anton"/>
                <a:cs typeface="Anton"/>
                <a:sym typeface="Anton"/>
              </a:rPr>
              <a:t>CHÂN THÀNH CẢM ƠN THẦY CÔ</a:t>
            </a:r>
          </a:p>
          <a:p>
            <a:pPr algn="ctr">
              <a:lnSpc>
                <a:spcPct val="150000"/>
              </a:lnSpc>
            </a:pPr>
            <a:r>
              <a:rPr lang="en-US" sz="6600">
                <a:solidFill>
                  <a:srgbClr val="0C3877"/>
                </a:solidFill>
                <a:latin typeface="Anton"/>
                <a:ea typeface="Anton"/>
                <a:cs typeface="Anton"/>
                <a:sym typeface="Anton"/>
              </a:rPr>
              <a:t>VÀ CÁC BẠN ĐÃ LẮNG NGHE</a:t>
            </a:r>
          </a:p>
        </p:txBody>
      </p:sp>
    </p:spTree>
    <p:extLst>
      <p:ext uri="{BB962C8B-B14F-4D97-AF65-F5344CB8AC3E}">
        <p14:creationId xmlns:p14="http://schemas.microsoft.com/office/powerpoint/2010/main" val="2537010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Theme">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1qdbl4ma">
      <a:majorFont>
        <a:latin typeface="Helvetica"/>
        <a:ea typeface="Helvetica"/>
        <a:cs typeface=""/>
      </a:majorFont>
      <a:minorFont>
        <a:latin typeface="Helvetica"/>
        <a:ea typeface="Helvetica"/>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1985</TotalTime>
  <Words>4036</Words>
  <Application>Microsoft Office PowerPoint</Application>
  <PresentationFormat>Widescreen</PresentationFormat>
  <Paragraphs>356</Paragraphs>
  <Slides>24</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Codec Pro</vt:lpstr>
      <vt:lpstr>Times New Roman</vt:lpstr>
      <vt:lpstr>Anton</vt:lpstr>
      <vt:lpstr>等线</vt:lpstr>
      <vt:lpstr>#9Slide03 SVNNeutraface 2</vt:lpstr>
      <vt:lpstr>Symbol</vt:lpstr>
      <vt:lpstr>微软雅黑</vt:lpstr>
      <vt:lpstr>Wingdings</vt:lpstr>
      <vt:lpstr>方正综艺简体</vt:lpstr>
      <vt:lpstr>Arial</vt:lpstr>
      <vt:lpstr>Codec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WIN7</dc:creator>
  <cp:lastModifiedBy>Trịnh Sỹ Tới</cp:lastModifiedBy>
  <cp:revision>124</cp:revision>
  <dcterms:created xsi:type="dcterms:W3CDTF">2017-08-18T03:02:00Z</dcterms:created>
  <dcterms:modified xsi:type="dcterms:W3CDTF">2026-06-01T05:52:03Z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